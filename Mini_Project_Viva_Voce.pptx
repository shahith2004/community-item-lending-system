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601200" y="-1371600"/>
            <a:ext cx="4114800" cy="4114800"/>
          </a:xfrm>
          <a:prstGeom prst="ellipse">
            <a:avLst/>
          </a:prstGeom>
          <a:solidFill>
            <a:srgbClr val="DCF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4572000"/>
            <a:ext cx="3657600" cy="3657600"/>
          </a:xfrm>
          <a:prstGeom prst="ellipse">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2926080"/>
            <a:ext cx="365760" cy="365760"/>
          </a:xfrm>
          <a:prstGeom prst="ellipse">
            <a:avLst/>
          </a:prstGeom>
          <a:solidFill>
            <a:srgbClr val="5EE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4114800"/>
            <a:ext cx="228600" cy="2286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931920" y="548640"/>
            <a:ext cx="4327855" cy="1097280"/>
          </a:xfrm>
          <a:prstGeom prst="roundRect">
            <a:avLst/>
          </a:prstGeom>
          <a:solidFill>
            <a:srgbClr val="FFFFFF"/>
          </a:solidFill>
          <a:ln w="1905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D9488"/>
                </a:solidFill>
                <a:latin typeface="Segoe UI"/>
              </a:defRPr>
            </a:pPr>
            <a:r>
              <a:t>[ PASTE SRM LOGO HERE ]</a:t>
            </a:r>
          </a:p>
        </p:txBody>
      </p:sp>
      <p:sp>
        <p:nvSpPr>
          <p:cNvPr id="7" name="TextBox 6"/>
          <p:cNvSpPr txBox="1"/>
          <p:nvPr/>
        </p:nvSpPr>
        <p:spPr>
          <a:xfrm>
            <a:off x="1371600" y="1920240"/>
            <a:ext cx="9448495" cy="4389120"/>
          </a:xfrm>
          <a:prstGeom prst="rect">
            <a:avLst/>
          </a:prstGeom>
          <a:noFill/>
        </p:spPr>
        <p:txBody>
          <a:bodyPr wrap="square">
            <a:spAutoFit/>
          </a:bodyPr>
          <a:lstStyle/>
          <a:p>
            <a:pPr algn="ctr">
              <a:defRPr sz="1700" b="1">
                <a:solidFill>
                  <a:srgbClr val="0D5C75"/>
                </a:solidFill>
                <a:latin typeface="Segoe UI"/>
              </a:defRPr>
            </a:pPr>
            <a:r>
              <a:t>DIRECTORATE OF ONLINE EDUCATION</a:t>
            </a:r>
          </a:p>
          <a:p>
            <a:pPr algn="ctr">
              <a:spcBef>
                <a:spcPts val="600"/>
              </a:spcBef>
              <a:defRPr sz="2200" b="1">
                <a:solidFill>
                  <a:srgbClr val="0F766E"/>
                </a:solidFill>
                <a:latin typeface="Segoe UI"/>
              </a:defRPr>
            </a:pPr>
            <a:r>
              <a:t>SRM INSTITUTE OF SCIENCE AND TECHNOLOGY</a:t>
            </a:r>
          </a:p>
          <a:p>
            <a:pPr algn="ctr">
              <a:spcBef>
                <a:spcPts val="400"/>
              </a:spcBef>
              <a:defRPr sz="1400">
                <a:solidFill>
                  <a:srgbClr val="475569"/>
                </a:solidFill>
                <a:latin typeface="Segoe UI"/>
              </a:defRPr>
            </a:pPr>
            <a:r>
              <a:t>KATTANKULATHUR- 603 203</a:t>
            </a:r>
          </a:p>
          <a:p>
            <a:pPr algn="ctr">
              <a:spcBef>
                <a:spcPts val="2800"/>
              </a:spcBef>
              <a:defRPr sz="1600" b="1">
                <a:solidFill>
                  <a:srgbClr val="D97706"/>
                </a:solidFill>
                <a:latin typeface="Segoe UI"/>
              </a:defRPr>
            </a:pPr>
            <a:r>
              <a:t>MCA III SEM</a:t>
            </a:r>
          </a:p>
          <a:p>
            <a:pPr algn="ctr">
              <a:spcBef>
                <a:spcPts val="600"/>
              </a:spcBef>
              <a:defRPr sz="1800" b="1">
                <a:solidFill>
                  <a:srgbClr val="0D5C75"/>
                </a:solidFill>
                <a:latin typeface="Segoe UI"/>
              </a:defRPr>
            </a:pPr>
            <a:r>
              <a:t>MINI PROJECT/INTERNSHIP VIVA VOCE</a:t>
            </a:r>
          </a:p>
          <a:p>
            <a:pPr algn="ctr">
              <a:spcBef>
                <a:spcPts val="400"/>
              </a:spcBef>
              <a:defRPr sz="1400">
                <a:solidFill>
                  <a:srgbClr val="475569"/>
                </a:solidFill>
                <a:latin typeface="Segoe UI"/>
              </a:defRPr>
            </a:pPr>
            <a:r>
              <a:t>Nov 2026</a:t>
            </a:r>
          </a:p>
          <a:p>
            <a:pPr algn="ctr">
              <a:spcBef>
                <a:spcPts val="2400"/>
              </a:spcBef>
              <a:defRPr sz="1500" b="1">
                <a:solidFill>
                  <a:srgbClr val="0F172A"/>
                </a:solidFill>
                <a:latin typeface="Segoe UI"/>
              </a:defRPr>
            </a:pPr>
            <a:r>
              <a:t>ENROLMENT NUMBER : EA2532251010500</a:t>
            </a:r>
          </a:p>
          <a:p>
            <a:pPr algn="ctr">
              <a:spcBef>
                <a:spcPts val="600"/>
              </a:spcBef>
              <a:defRPr sz="1700" b="1">
                <a:solidFill>
                  <a:srgbClr val="0F766E"/>
                </a:solidFill>
                <a:latin typeface="Segoe UI"/>
              </a:defRPr>
            </a:pPr>
            <a:r>
              <a:t>NAME OF STUDENT:  MOHAMED SHAHITH AKEEL S 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601200" y="-1371600"/>
            <a:ext cx="4114800" cy="4114800"/>
          </a:xfrm>
          <a:prstGeom prst="ellipse">
            <a:avLst/>
          </a:prstGeom>
          <a:solidFill>
            <a:srgbClr val="DCF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4572000"/>
            <a:ext cx="3657600" cy="3657600"/>
          </a:xfrm>
          <a:prstGeom prst="ellipse">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2926080"/>
            <a:ext cx="365760" cy="365760"/>
          </a:xfrm>
          <a:prstGeom prst="ellipse">
            <a:avLst/>
          </a:prstGeom>
          <a:solidFill>
            <a:srgbClr val="5EE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4114800"/>
            <a:ext cx="228600" cy="2286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0" y="6400800"/>
            <a:ext cx="2103120" cy="365760"/>
          </a:xfrm>
          <a:prstGeom prst="rect">
            <a:avLst/>
          </a:prstGeom>
          <a:noFill/>
        </p:spPr>
        <p:txBody>
          <a:bodyPr wrap="none" lIns="0" rIns="0" tIns="0" bIns="0">
            <a:spAutoFit/>
          </a:bodyPr>
          <a:lstStyle/>
          <a:p>
            <a:pPr algn="r">
              <a:defRPr sz="1100" b="1">
                <a:solidFill>
                  <a:srgbClr val="0D5C75"/>
                </a:solidFill>
                <a:latin typeface="Segoe UI"/>
              </a:defRPr>
            </a:pPr>
            <a:r>
              <a:t>Slide - 2</a:t>
            </a:r>
          </a:p>
        </p:txBody>
      </p:sp>
      <p:sp>
        <p:nvSpPr>
          <p:cNvPr id="7" name="TextBox 6"/>
          <p:cNvSpPr txBox="1"/>
          <p:nvPr/>
        </p:nvSpPr>
        <p:spPr>
          <a:xfrm>
            <a:off x="914400" y="2011680"/>
            <a:ext cx="10362895" cy="2926080"/>
          </a:xfrm>
          <a:prstGeom prst="rect">
            <a:avLst/>
          </a:prstGeom>
          <a:noFill/>
        </p:spPr>
        <p:txBody>
          <a:bodyPr wrap="square">
            <a:spAutoFit/>
          </a:bodyPr>
          <a:lstStyle/>
          <a:p>
            <a:pPr algn="ctr">
              <a:defRPr sz="1600" b="1">
                <a:solidFill>
                  <a:srgbClr val="D97706"/>
                </a:solidFill>
                <a:latin typeface="Segoe UI"/>
              </a:defRPr>
            </a:pPr>
            <a:r>
              <a:t>TITLE OF MINI PROJECT/INTERNSHIP</a:t>
            </a:r>
          </a:p>
          <a:p>
            <a:pPr algn="ctr">
              <a:spcBef>
                <a:spcPts val="1400"/>
              </a:spcBef>
              <a:defRPr sz="3200" b="1">
                <a:solidFill>
                  <a:srgbClr val="0D5C75"/>
                </a:solidFill>
                <a:latin typeface="Segoe UI"/>
              </a:defRPr>
            </a:pPr>
            <a:r>
              <a:t>COMMUNITY ITEM LENDING SYSTEM</a:t>
            </a:r>
          </a:p>
          <a:p>
            <a:pPr algn="ctr">
              <a:spcBef>
                <a:spcPts val="1000"/>
              </a:spcBef>
              <a:defRPr sz="1500">
                <a:solidFill>
                  <a:srgbClr val="475569"/>
                </a:solidFill>
                <a:latin typeface="Segoe UI"/>
              </a:defRPr>
            </a:pPr>
            <a:r>
              <a:t>A Web-Based Platform for Sharing Household Items Among Neighbors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601200" y="-1371600"/>
            <a:ext cx="4114800" cy="4114800"/>
          </a:xfrm>
          <a:prstGeom prst="ellipse">
            <a:avLst/>
          </a:prstGeom>
          <a:solidFill>
            <a:srgbClr val="DCF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4572000"/>
            <a:ext cx="3657600" cy="3657600"/>
          </a:xfrm>
          <a:prstGeom prst="ellipse">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2926080"/>
            <a:ext cx="365760" cy="365760"/>
          </a:xfrm>
          <a:prstGeom prst="ellipse">
            <a:avLst/>
          </a:prstGeom>
          <a:solidFill>
            <a:srgbClr val="5EE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4114800"/>
            <a:ext cx="228600" cy="2286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0" y="6400800"/>
            <a:ext cx="2103120" cy="365760"/>
          </a:xfrm>
          <a:prstGeom prst="rect">
            <a:avLst/>
          </a:prstGeom>
          <a:noFill/>
        </p:spPr>
        <p:txBody>
          <a:bodyPr wrap="none" lIns="0" rIns="0" tIns="0" bIns="0">
            <a:spAutoFit/>
          </a:bodyPr>
          <a:lstStyle/>
          <a:p>
            <a:pPr algn="r">
              <a:defRPr sz="1100" b="1">
                <a:solidFill>
                  <a:srgbClr val="0D5C75"/>
                </a:solidFill>
                <a:latin typeface="Segoe UI"/>
              </a:defRPr>
            </a:pPr>
            <a:r>
              <a:t>Slide - 3</a:t>
            </a:r>
          </a:p>
        </p:txBody>
      </p:sp>
      <p:sp>
        <p:nvSpPr>
          <p:cNvPr id="7" name="TextBox 6"/>
          <p:cNvSpPr txBox="1"/>
          <p:nvPr/>
        </p:nvSpPr>
        <p:spPr>
          <a:xfrm>
            <a:off x="822960" y="457200"/>
            <a:ext cx="10515600" cy="640080"/>
          </a:xfrm>
          <a:prstGeom prst="rect">
            <a:avLst/>
          </a:prstGeom>
          <a:noFill/>
        </p:spPr>
        <p:txBody>
          <a:bodyPr wrap="square" lIns="0" rIns="0" tIns="0" bIns="0">
            <a:spAutoFit/>
          </a:bodyPr>
          <a:lstStyle/>
          <a:p>
            <a:pPr>
              <a:defRPr sz="2600" b="1">
                <a:solidFill>
                  <a:srgbClr val="0D5C75"/>
                </a:solidFill>
                <a:latin typeface="Segoe UI"/>
              </a:defRPr>
            </a:pPr>
            <a:r>
              <a:t>ABSTRACT</a:t>
            </a:r>
          </a:p>
        </p:txBody>
      </p:sp>
      <p:sp>
        <p:nvSpPr>
          <p:cNvPr id="8" name="TextBox 7"/>
          <p:cNvSpPr txBox="1"/>
          <p:nvPr/>
        </p:nvSpPr>
        <p:spPr>
          <a:xfrm>
            <a:off x="822960" y="1188720"/>
            <a:ext cx="10515600" cy="5120640"/>
          </a:xfrm>
          <a:prstGeom prst="rect">
            <a:avLst/>
          </a:prstGeom>
          <a:noFill/>
        </p:spPr>
        <p:txBody>
          <a:bodyPr wrap="square" lIns="0" rIns="0" tIns="0" bIns="0">
            <a:spAutoFit/>
          </a:bodyPr>
          <a:lstStyle/>
          <a:p>
            <a:pPr>
              <a:lnSpc>
                <a:spcPct val="135000"/>
              </a:lnSpc>
              <a:spcAft>
                <a:spcPts val="800"/>
              </a:spcAft>
              <a:defRPr sz="1250">
                <a:solidFill>
                  <a:srgbClr val="1E293B"/>
                </a:solidFill>
                <a:latin typeface="Segoe UI"/>
              </a:defRPr>
            </a:pPr>
            <a:r>
              <a:t>In urban neighborhoods and apartment complexes, families frequently buy household equipment and tools that they use only once or twice a year. Most of the time, these items remain idle in storage cupboards. Common examples of such items include:</a:t>
            </a:r>
          </a:p>
          <a:p>
            <a:pPr>
              <a:lnSpc>
                <a:spcPct val="125000"/>
              </a:lnSpc>
              <a:spcAft>
                <a:spcPts val="300"/>
              </a:spcAft>
              <a:defRPr sz="1200">
                <a:solidFill>
                  <a:srgbClr val="0F172A"/>
                </a:solidFill>
                <a:latin typeface="Segoe UI"/>
              </a:defRPr>
            </a:pPr>
            <a:r>
              <a:t>    1. Power Tools (Electric drill, screwdrivers, saws)</a:t>
            </a:r>
          </a:p>
          <a:p>
            <a:pPr>
              <a:lnSpc>
                <a:spcPct val="125000"/>
              </a:lnSpc>
              <a:spcAft>
                <a:spcPts val="300"/>
              </a:spcAft>
              <a:defRPr sz="1200">
                <a:solidFill>
                  <a:srgbClr val="0F172A"/>
                </a:solidFill>
                <a:latin typeface="Segoe UI"/>
              </a:defRPr>
            </a:pPr>
            <a:r>
              <a:t>    2. Gardening Tools (Lawn mowers, hedge trimmers, garden hoses)</a:t>
            </a:r>
          </a:p>
          <a:p>
            <a:pPr>
              <a:lnSpc>
                <a:spcPct val="125000"/>
              </a:lnSpc>
              <a:spcAft>
                <a:spcPts val="300"/>
              </a:spcAft>
              <a:defRPr sz="1200">
                <a:solidFill>
                  <a:srgbClr val="0F172A"/>
                </a:solidFill>
                <a:latin typeface="Segoe UI"/>
              </a:defRPr>
            </a:pPr>
            <a:r>
              <a:t>    3. Domestic Appliances (Ladders, pressure washers, vacuum cleaners)</a:t>
            </a:r>
          </a:p>
          <a:p>
            <a:pPr>
              <a:lnSpc>
                <a:spcPct val="125000"/>
              </a:lnSpc>
              <a:spcAft>
                <a:spcPts val="300"/>
              </a:spcAft>
              <a:defRPr sz="1200">
                <a:solidFill>
                  <a:srgbClr val="0F172A"/>
                </a:solidFill>
                <a:latin typeface="Segoe UI"/>
              </a:defRPr>
            </a:pPr>
            <a:r>
              <a:t>    4. Outdoor &amp; Camping Gear (Tents, portable grills, folding chairs)</a:t>
            </a:r>
          </a:p>
          <a:p>
            <a:pPr>
              <a:lnSpc>
                <a:spcPct val="125000"/>
              </a:lnSpc>
              <a:spcAft>
                <a:spcPts val="300"/>
              </a:spcAft>
              <a:defRPr sz="1200">
                <a:solidFill>
                  <a:srgbClr val="0F172A"/>
                </a:solidFill>
                <a:latin typeface="Segoe UI"/>
              </a:defRPr>
            </a:pPr>
            <a:r>
              <a:t>    5. Educational Books, Textbooks, and Sporting Goods</a:t>
            </a:r>
          </a:p>
          <a:p>
            <a:pPr>
              <a:lnSpc>
                <a:spcPct val="135000"/>
              </a:lnSpc>
              <a:spcBef>
                <a:spcPts val="800"/>
              </a:spcBef>
              <a:spcAft>
                <a:spcPts val="800"/>
              </a:spcAft>
              <a:defRPr sz="1250">
                <a:solidFill>
                  <a:srgbClr val="1E293B"/>
                </a:solidFill>
                <a:latin typeface="Segoe UI"/>
              </a:defRPr>
            </a:pPr>
            <a:r>
              <a:t>Buying new items for every small household repair is expensive and creates unnecessary clutter. Commercial rental shops charge high daily fees and require cash deposits, while asking in WhatsApp groups is unorganized and messages get lost.</a:t>
            </a:r>
          </a:p>
          <a:p>
            <a:pPr>
              <a:lnSpc>
                <a:spcPct val="135000"/>
              </a:lnSpc>
              <a:spcAft>
                <a:spcPts val="800"/>
              </a:spcAft>
              <a:defRPr sz="1250">
                <a:solidFill>
                  <a:srgbClr val="1E293B"/>
                </a:solidFill>
                <a:latin typeface="Segoe UI"/>
              </a:defRPr>
            </a:pPr>
            <a:r>
              <a:t>This project solves this problem by developing a secure, easy-to-use web application called the 'Community Item Lending System'. It allows verified neighbors to list extra household items and borrow needed tools freely without rental fees.</a:t>
            </a:r>
          </a:p>
          <a:p>
            <a:pPr>
              <a:lnSpc>
                <a:spcPct val="135000"/>
              </a:lnSpc>
              <a:defRPr sz="1250" b="1">
                <a:solidFill>
                  <a:srgbClr val="0F766E"/>
                </a:solidFill>
                <a:latin typeface="Segoe UI"/>
              </a:defRPr>
            </a:pPr>
            <a:r>
              <a:t>This project adds value to communities by saving money for families, reducing domestic clutter, cutting manufacturing waste, and building friendly relationships among neighbors.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601200" y="-1371600"/>
            <a:ext cx="4114800" cy="4114800"/>
          </a:xfrm>
          <a:prstGeom prst="ellipse">
            <a:avLst/>
          </a:prstGeom>
          <a:solidFill>
            <a:srgbClr val="DCF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4572000"/>
            <a:ext cx="3657600" cy="3657600"/>
          </a:xfrm>
          <a:prstGeom prst="ellipse">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2926080"/>
            <a:ext cx="365760" cy="365760"/>
          </a:xfrm>
          <a:prstGeom prst="ellipse">
            <a:avLst/>
          </a:prstGeom>
          <a:solidFill>
            <a:srgbClr val="5EE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4114800"/>
            <a:ext cx="228600" cy="2286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0" y="6400800"/>
            <a:ext cx="2103120" cy="365760"/>
          </a:xfrm>
          <a:prstGeom prst="rect">
            <a:avLst/>
          </a:prstGeom>
          <a:noFill/>
        </p:spPr>
        <p:txBody>
          <a:bodyPr wrap="none" lIns="0" rIns="0" tIns="0" bIns="0">
            <a:spAutoFit/>
          </a:bodyPr>
          <a:lstStyle/>
          <a:p>
            <a:pPr algn="r">
              <a:defRPr sz="1100" b="1">
                <a:solidFill>
                  <a:srgbClr val="0D5C75"/>
                </a:solidFill>
                <a:latin typeface="Segoe UI"/>
              </a:defRPr>
            </a:pPr>
            <a:r>
              <a:t>Slide - 4</a:t>
            </a:r>
          </a:p>
        </p:txBody>
      </p:sp>
      <p:sp>
        <p:nvSpPr>
          <p:cNvPr id="7" name="TextBox 6"/>
          <p:cNvSpPr txBox="1"/>
          <p:nvPr/>
        </p:nvSpPr>
        <p:spPr>
          <a:xfrm>
            <a:off x="822960" y="457200"/>
            <a:ext cx="10515600" cy="640080"/>
          </a:xfrm>
          <a:prstGeom prst="rect">
            <a:avLst/>
          </a:prstGeom>
          <a:noFill/>
        </p:spPr>
        <p:txBody>
          <a:bodyPr wrap="square" lIns="0" rIns="0" tIns="0" bIns="0">
            <a:spAutoFit/>
          </a:bodyPr>
          <a:lstStyle/>
          <a:p>
            <a:pPr>
              <a:defRPr sz="2600" b="1">
                <a:solidFill>
                  <a:srgbClr val="0D5C75"/>
                </a:solidFill>
                <a:latin typeface="Segoe UI"/>
              </a:defRPr>
            </a:pPr>
            <a:r>
              <a:t>FEATURES</a:t>
            </a:r>
          </a:p>
        </p:txBody>
      </p:sp>
      <p:sp>
        <p:nvSpPr>
          <p:cNvPr id="8" name="Oval 7"/>
          <p:cNvSpPr/>
          <p:nvPr/>
        </p:nvSpPr>
        <p:spPr>
          <a:xfrm>
            <a:off x="822960" y="1280160"/>
            <a:ext cx="594360" cy="59436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Segoe UI"/>
              </a:defRPr>
            </a:pPr>
            <a:r>
              <a:t>✔</a:t>
            </a:r>
          </a:p>
        </p:txBody>
      </p:sp>
      <p:sp>
        <p:nvSpPr>
          <p:cNvPr id="9" name="TextBox 8"/>
          <p:cNvSpPr txBox="1"/>
          <p:nvPr/>
        </p:nvSpPr>
        <p:spPr>
          <a:xfrm>
            <a:off x="1600200" y="1188720"/>
            <a:ext cx="9692640" cy="1463040"/>
          </a:xfrm>
          <a:prstGeom prst="rect">
            <a:avLst/>
          </a:prstGeom>
          <a:noFill/>
        </p:spPr>
        <p:txBody>
          <a:bodyPr wrap="square" lIns="0" rIns="0" tIns="0" bIns="0">
            <a:spAutoFit/>
          </a:bodyPr>
          <a:lstStyle/>
          <a:p>
            <a:pPr>
              <a:spcAft>
                <a:spcPts val="400"/>
              </a:spcAft>
              <a:defRPr sz="1600" b="1">
                <a:solidFill>
                  <a:srgbClr val="0F766E"/>
                </a:solidFill>
                <a:latin typeface="Segoe UI"/>
              </a:defRPr>
            </a:pPr>
            <a:r>
              <a:t>Easy Item Listing with Photos</a:t>
            </a:r>
          </a:p>
          <a:p>
            <a:pPr>
              <a:lnSpc>
                <a:spcPct val="130000"/>
              </a:lnSpc>
              <a:spcAft>
                <a:spcPts val="200"/>
              </a:spcAft>
              <a:defRPr sz="1200">
                <a:solidFill>
                  <a:srgbClr val="1E293B"/>
                </a:solidFill>
                <a:latin typeface="Segoe UI"/>
              </a:defRPr>
            </a:pPr>
            <a:r>
              <a:t>Community members can easily list their spare household items with a title, description, category, and photo. Image files are securely renamed with unique IDs to keep uploads safe and organized.</a:t>
            </a:r>
          </a:p>
          <a:p>
            <a:pPr>
              <a:lnSpc>
                <a:spcPct val="130000"/>
              </a:lnSpc>
              <a:defRPr sz="1150">
                <a:solidFill>
                  <a:srgbClr val="475569"/>
                </a:solidFill>
                <a:latin typeface="Segoe UI"/>
              </a:defRPr>
            </a:pPr>
            <a:r>
              <a:t>Users can manage their items anytime from their dashboard.</a:t>
            </a:r>
          </a:p>
        </p:txBody>
      </p:sp>
      <p:sp>
        <p:nvSpPr>
          <p:cNvPr id="10" name="Oval 9"/>
          <p:cNvSpPr/>
          <p:nvPr/>
        </p:nvSpPr>
        <p:spPr>
          <a:xfrm>
            <a:off x="822960" y="2926080"/>
            <a:ext cx="594360" cy="59436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Segoe UI"/>
              </a:defRPr>
            </a:pPr>
            <a:r>
              <a:t>✔</a:t>
            </a:r>
          </a:p>
        </p:txBody>
      </p:sp>
      <p:sp>
        <p:nvSpPr>
          <p:cNvPr id="11" name="TextBox 10"/>
          <p:cNvSpPr txBox="1"/>
          <p:nvPr/>
        </p:nvSpPr>
        <p:spPr>
          <a:xfrm>
            <a:off x="1600200" y="2834640"/>
            <a:ext cx="9692640" cy="1463040"/>
          </a:xfrm>
          <a:prstGeom prst="rect">
            <a:avLst/>
          </a:prstGeom>
          <a:noFill/>
        </p:spPr>
        <p:txBody>
          <a:bodyPr wrap="square" lIns="0" rIns="0" tIns="0" bIns="0">
            <a:spAutoFit/>
          </a:bodyPr>
          <a:lstStyle/>
          <a:p>
            <a:pPr>
              <a:spcAft>
                <a:spcPts val="400"/>
              </a:spcAft>
              <a:defRPr sz="1600" b="1">
                <a:solidFill>
                  <a:srgbClr val="0F766E"/>
                </a:solidFill>
                <a:latin typeface="Segoe UI"/>
              </a:defRPr>
            </a:pPr>
            <a:r>
              <a:t>Smart Search and Category Filters</a:t>
            </a:r>
          </a:p>
          <a:p>
            <a:pPr>
              <a:lnSpc>
                <a:spcPct val="130000"/>
              </a:lnSpc>
              <a:spcAft>
                <a:spcPts val="200"/>
              </a:spcAft>
              <a:defRPr sz="1200">
                <a:solidFill>
                  <a:srgbClr val="1E293B"/>
                </a:solidFill>
                <a:latin typeface="Segoe UI"/>
              </a:defRPr>
            </a:pPr>
            <a:r>
              <a:t>Neighbors can search for items by name or filter by category (Tools, Gardening, Books, Electronics, Kitchen, Sports). Available items appear immediately on the screen.</a:t>
            </a:r>
          </a:p>
          <a:p>
            <a:pPr>
              <a:lnSpc>
                <a:spcPct val="130000"/>
              </a:lnSpc>
              <a:defRPr sz="1150">
                <a:solidFill>
                  <a:srgbClr val="475569"/>
                </a:solidFill>
                <a:latin typeface="Segoe UI"/>
              </a:defRPr>
            </a:pPr>
            <a:r>
              <a:t>Live status badges clearly show if an item is Available, Pending, or Lent.</a:t>
            </a:r>
          </a:p>
        </p:txBody>
      </p:sp>
      <p:sp>
        <p:nvSpPr>
          <p:cNvPr id="12" name="Oval 11"/>
          <p:cNvSpPr/>
          <p:nvPr/>
        </p:nvSpPr>
        <p:spPr>
          <a:xfrm>
            <a:off x="822960" y="4572000"/>
            <a:ext cx="594360" cy="59436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Segoe UI"/>
              </a:defRPr>
            </a:pPr>
            <a:r>
              <a:t>✔</a:t>
            </a:r>
          </a:p>
        </p:txBody>
      </p:sp>
      <p:sp>
        <p:nvSpPr>
          <p:cNvPr id="13" name="TextBox 12"/>
          <p:cNvSpPr txBox="1"/>
          <p:nvPr/>
        </p:nvSpPr>
        <p:spPr>
          <a:xfrm>
            <a:off x="1600200" y="4480560"/>
            <a:ext cx="9692640" cy="1463040"/>
          </a:xfrm>
          <a:prstGeom prst="rect">
            <a:avLst/>
          </a:prstGeom>
          <a:noFill/>
        </p:spPr>
        <p:txBody>
          <a:bodyPr wrap="square" lIns="0" rIns="0" tIns="0" bIns="0">
            <a:spAutoFit/>
          </a:bodyPr>
          <a:lstStyle/>
          <a:p>
            <a:pPr>
              <a:spcAft>
                <a:spcPts val="400"/>
              </a:spcAft>
              <a:defRPr sz="1600" b="1">
                <a:solidFill>
                  <a:srgbClr val="0F766E"/>
                </a:solidFill>
                <a:latin typeface="Segoe UI"/>
              </a:defRPr>
            </a:pPr>
            <a:r>
              <a:t>Automated Borrowing and Tracking</a:t>
            </a:r>
          </a:p>
          <a:p>
            <a:pPr>
              <a:lnSpc>
                <a:spcPct val="130000"/>
              </a:lnSpc>
              <a:spcAft>
                <a:spcPts val="200"/>
              </a:spcAft>
              <a:defRPr sz="1200">
                <a:solidFill>
                  <a:srgbClr val="1E293B"/>
                </a:solidFill>
                <a:latin typeface="Segoe UI"/>
              </a:defRPr>
            </a:pPr>
            <a:r>
              <a:t>Borrowers submit digital requests specifying when they need the item. The owner can approve or reject the request with one click. The item locks automatically to prevent double-booking.</a:t>
            </a:r>
          </a:p>
          <a:p>
            <a:pPr>
              <a:lnSpc>
                <a:spcPct val="130000"/>
              </a:lnSpc>
              <a:defRPr sz="1150">
                <a:solidFill>
                  <a:srgbClr val="475569"/>
                </a:solidFill>
                <a:latin typeface="Segoe UI"/>
              </a:defRPr>
            </a:pPr>
            <a:r>
              <a:t>When the item is returned, the owner marks it as returned, making it available again.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601200" y="-1371600"/>
            <a:ext cx="4114800" cy="4114800"/>
          </a:xfrm>
          <a:prstGeom prst="ellipse">
            <a:avLst/>
          </a:prstGeom>
          <a:solidFill>
            <a:srgbClr val="DCF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4572000"/>
            <a:ext cx="3657600" cy="3657600"/>
          </a:xfrm>
          <a:prstGeom prst="ellipse">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2926080"/>
            <a:ext cx="365760" cy="365760"/>
          </a:xfrm>
          <a:prstGeom prst="ellipse">
            <a:avLst/>
          </a:prstGeom>
          <a:solidFill>
            <a:srgbClr val="5EE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4114800"/>
            <a:ext cx="228600" cy="2286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0" y="6400800"/>
            <a:ext cx="2103120" cy="365760"/>
          </a:xfrm>
          <a:prstGeom prst="rect">
            <a:avLst/>
          </a:prstGeom>
          <a:noFill/>
        </p:spPr>
        <p:txBody>
          <a:bodyPr wrap="none" lIns="0" rIns="0" tIns="0" bIns="0">
            <a:spAutoFit/>
          </a:bodyPr>
          <a:lstStyle/>
          <a:p>
            <a:pPr algn="r">
              <a:defRPr sz="1100" b="1">
                <a:solidFill>
                  <a:srgbClr val="0D5C75"/>
                </a:solidFill>
                <a:latin typeface="Segoe UI"/>
              </a:defRPr>
            </a:pPr>
            <a:r>
              <a:t>Slide - 5</a:t>
            </a:r>
          </a:p>
        </p:txBody>
      </p:sp>
      <p:sp>
        <p:nvSpPr>
          <p:cNvPr id="7" name="TextBox 6"/>
          <p:cNvSpPr txBox="1"/>
          <p:nvPr/>
        </p:nvSpPr>
        <p:spPr>
          <a:xfrm>
            <a:off x="822960" y="457200"/>
            <a:ext cx="10515600" cy="640080"/>
          </a:xfrm>
          <a:prstGeom prst="rect">
            <a:avLst/>
          </a:prstGeom>
          <a:noFill/>
        </p:spPr>
        <p:txBody>
          <a:bodyPr wrap="square" lIns="0" rIns="0" tIns="0" bIns="0">
            <a:spAutoFit/>
          </a:bodyPr>
          <a:lstStyle/>
          <a:p>
            <a:pPr>
              <a:defRPr sz="2600" b="1">
                <a:solidFill>
                  <a:srgbClr val="0D5C75"/>
                </a:solidFill>
                <a:latin typeface="Segoe UI"/>
              </a:defRPr>
            </a:pPr>
            <a:r>
              <a:t>INTRODUCTION</a:t>
            </a:r>
          </a:p>
        </p:txBody>
      </p:sp>
      <p:sp>
        <p:nvSpPr>
          <p:cNvPr id="8" name="TextBox 7"/>
          <p:cNvSpPr txBox="1"/>
          <p:nvPr/>
        </p:nvSpPr>
        <p:spPr>
          <a:xfrm>
            <a:off x="822960" y="1188720"/>
            <a:ext cx="10515600" cy="822960"/>
          </a:xfrm>
          <a:prstGeom prst="rect">
            <a:avLst/>
          </a:prstGeom>
          <a:noFill/>
        </p:spPr>
        <p:txBody>
          <a:bodyPr wrap="square" lIns="0" rIns="0" tIns="0" bIns="0">
            <a:spAutoFit/>
          </a:bodyPr>
          <a:lstStyle/>
          <a:p>
            <a:pPr>
              <a:lnSpc>
                <a:spcPct val="135000"/>
              </a:lnSpc>
              <a:defRPr sz="1300">
                <a:solidFill>
                  <a:srgbClr val="1E293B"/>
                </a:solidFill>
                <a:latin typeface="Segoe UI"/>
              </a:defRPr>
            </a:pPr>
            <a:r>
              <a:t>In residential apartment buildings and housing colonies, neighbors live right next to each other, but collaborative sharing of everyday household tools is very rare due to lack of an organized system.</a:t>
            </a:r>
          </a:p>
        </p:txBody>
      </p:sp>
      <p:sp>
        <p:nvSpPr>
          <p:cNvPr id="9" name="TextBox 8"/>
          <p:cNvSpPr txBox="1"/>
          <p:nvPr/>
        </p:nvSpPr>
        <p:spPr>
          <a:xfrm>
            <a:off x="822960" y="2148840"/>
            <a:ext cx="5120640" cy="4114800"/>
          </a:xfrm>
          <a:prstGeom prst="rect">
            <a:avLst/>
          </a:prstGeom>
          <a:noFill/>
        </p:spPr>
        <p:txBody>
          <a:bodyPr wrap="square" lIns="0" rIns="0" tIns="0" bIns="0">
            <a:spAutoFit/>
          </a:bodyPr>
          <a:lstStyle/>
          <a:p>
            <a:pPr>
              <a:spcAft>
                <a:spcPts val="1000"/>
              </a:spcAft>
              <a:defRPr sz="1400" b="1">
                <a:solidFill>
                  <a:srgbClr val="0F766E"/>
                </a:solidFill>
                <a:latin typeface="Segoe UI"/>
              </a:defRPr>
            </a:pPr>
            <a:r>
              <a:t>Common Everyday Household Problems:</a:t>
            </a:r>
          </a:p>
          <a:p>
            <a:pPr>
              <a:lnSpc>
                <a:spcPct val="135000"/>
              </a:lnSpc>
              <a:spcAft>
                <a:spcPts val="800"/>
              </a:spcAft>
            </a:pPr>
            <a:r>
              <a:rPr sz="1150" b="1">
                <a:solidFill>
                  <a:srgbClr val="0D9488"/>
                </a:solidFill>
                <a:latin typeface="Segoe UI"/>
              </a:rPr>
              <a:t>▶  </a:t>
            </a:r>
            <a:r>
              <a:rPr sz="1150">
                <a:solidFill>
                  <a:srgbClr val="1E293B"/>
                </a:solidFill>
                <a:latin typeface="Segoe UI"/>
              </a:rPr>
              <a:t>A typical power drill is used for only 12 to 15 minutes during its entire working lifespan.</a:t>
            </a:r>
          </a:p>
          <a:p>
            <a:pPr>
              <a:lnSpc>
                <a:spcPct val="135000"/>
              </a:lnSpc>
              <a:spcAft>
                <a:spcPts val="800"/>
              </a:spcAft>
            </a:pPr>
            <a:r>
              <a:rPr sz="1150" b="1">
                <a:solidFill>
                  <a:srgbClr val="0D9488"/>
                </a:solidFill>
                <a:latin typeface="Segoe UI"/>
              </a:rPr>
              <a:t>▶  </a:t>
            </a:r>
            <a:r>
              <a:rPr sz="1150">
                <a:solidFill>
                  <a:srgbClr val="1E293B"/>
                </a:solidFill>
                <a:latin typeface="Segoe UI"/>
              </a:rPr>
              <a:t>Multiple families in the same apartment buy the exact same costly tools independently.</a:t>
            </a:r>
          </a:p>
          <a:p>
            <a:pPr>
              <a:lnSpc>
                <a:spcPct val="135000"/>
              </a:lnSpc>
              <a:spcAft>
                <a:spcPts val="800"/>
              </a:spcAft>
            </a:pPr>
            <a:r>
              <a:rPr sz="1150" b="1">
                <a:solidFill>
                  <a:srgbClr val="0D9488"/>
                </a:solidFill>
                <a:latin typeface="Segoe UI"/>
              </a:rPr>
              <a:t>▶  </a:t>
            </a:r>
            <a:r>
              <a:rPr sz="1150">
                <a:solidFill>
                  <a:srgbClr val="1E293B"/>
                </a:solidFill>
                <a:latin typeface="Segoe UI"/>
              </a:rPr>
              <a:t>Unused tools gather dust in cupboards and create domestic clutter at home.</a:t>
            </a:r>
          </a:p>
          <a:p>
            <a:pPr>
              <a:lnSpc>
                <a:spcPct val="135000"/>
              </a:lnSpc>
              <a:spcAft>
                <a:spcPts val="800"/>
              </a:spcAft>
            </a:pPr>
            <a:r>
              <a:rPr sz="1150" b="1">
                <a:solidFill>
                  <a:srgbClr val="0D9488"/>
                </a:solidFill>
                <a:latin typeface="Segoe UI"/>
              </a:rPr>
              <a:t>▶  </a:t>
            </a:r>
            <a:r>
              <a:rPr sz="1150">
                <a:solidFill>
                  <a:srgbClr val="1E293B"/>
                </a:solidFill>
                <a:latin typeface="Segoe UI"/>
              </a:rPr>
              <a:t>Commercial rental shops charge expensive daily fees, travel costs, and security deposits.</a:t>
            </a:r>
          </a:p>
          <a:p>
            <a:pPr>
              <a:lnSpc>
                <a:spcPct val="135000"/>
              </a:lnSpc>
              <a:spcAft>
                <a:spcPts val="800"/>
              </a:spcAft>
            </a:pPr>
            <a:r>
              <a:rPr sz="1150" b="1">
                <a:solidFill>
                  <a:srgbClr val="0D9488"/>
                </a:solidFill>
                <a:latin typeface="Segoe UI"/>
              </a:rPr>
              <a:t>▶  </a:t>
            </a:r>
            <a:r>
              <a:rPr sz="1150">
                <a:solidFill>
                  <a:srgbClr val="1E293B"/>
                </a:solidFill>
                <a:latin typeface="Segoe UI"/>
              </a:rPr>
              <a:t>Buying new products for single-use tasks wastes family savings and increases plastic waste.</a:t>
            </a:r>
          </a:p>
        </p:txBody>
      </p:sp>
      <p:sp>
        <p:nvSpPr>
          <p:cNvPr id="10" name="Rounded Rectangle 9"/>
          <p:cNvSpPr/>
          <p:nvPr/>
        </p:nvSpPr>
        <p:spPr>
          <a:xfrm>
            <a:off x="6217920" y="2103120"/>
            <a:ext cx="5120640" cy="4114800"/>
          </a:xfrm>
          <a:prstGeom prst="roundRect">
            <a:avLst/>
          </a:prstGeom>
          <a:solidFill>
            <a:srgbClr val="FFFFFF"/>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286000"/>
            <a:ext cx="4572000" cy="3749039"/>
          </a:xfrm>
          <a:prstGeom prst="rect">
            <a:avLst/>
          </a:prstGeom>
          <a:noFill/>
        </p:spPr>
        <p:txBody>
          <a:bodyPr wrap="square" lIns="0" rIns="0" tIns="0" bIns="0">
            <a:spAutoFit/>
          </a:bodyPr>
          <a:lstStyle/>
          <a:p>
            <a:pPr>
              <a:spcAft>
                <a:spcPts val="1000"/>
              </a:spcAft>
              <a:defRPr sz="1400" b="1">
                <a:solidFill>
                  <a:srgbClr val="D97706"/>
                </a:solidFill>
                <a:latin typeface="Segoe UI"/>
              </a:defRPr>
            </a:pPr>
            <a:r>
              <a:t>Why Traditional Methods Fail:</a:t>
            </a:r>
          </a:p>
          <a:p>
            <a:pPr>
              <a:lnSpc>
                <a:spcPct val="130000"/>
              </a:lnSpc>
              <a:spcAft>
                <a:spcPts val="1000"/>
              </a:spcAft>
              <a:defRPr sz="1150">
                <a:solidFill>
                  <a:srgbClr val="1E293B"/>
                </a:solidFill>
                <a:latin typeface="Segoe UI"/>
              </a:defRPr>
            </a:pPr>
            <a:r>
              <a:t>❑  WhatsApp messages quickly get buried in busy group chats.</a:t>
            </a:r>
          </a:p>
          <a:p>
            <a:pPr>
              <a:lnSpc>
                <a:spcPct val="130000"/>
              </a:lnSpc>
              <a:spcAft>
                <a:spcPts val="1000"/>
              </a:spcAft>
              <a:defRPr sz="1150">
                <a:solidFill>
                  <a:srgbClr val="1E293B"/>
                </a:solidFill>
                <a:latin typeface="Segoe UI"/>
              </a:defRPr>
            </a:pPr>
            <a:r>
              <a:t>❑  There is no organized catalog of who owns what item in the colony.</a:t>
            </a:r>
          </a:p>
          <a:p>
            <a:pPr>
              <a:lnSpc>
                <a:spcPct val="130000"/>
              </a:lnSpc>
              <a:spcAft>
                <a:spcPts val="1000"/>
              </a:spcAft>
              <a:defRPr sz="1150">
                <a:solidFill>
                  <a:srgbClr val="1E293B"/>
                </a:solidFill>
                <a:latin typeface="Segoe UI"/>
              </a:defRPr>
            </a:pPr>
            <a:r>
              <a:t>❑  Borrowers and owners forget return dates without automated reminders.</a:t>
            </a:r>
          </a:p>
          <a:p>
            <a:pPr>
              <a:lnSpc>
                <a:spcPct val="130000"/>
              </a:lnSpc>
              <a:spcAft>
                <a:spcPts val="1000"/>
              </a:spcAft>
              <a:defRPr sz="1150">
                <a:solidFill>
                  <a:srgbClr val="1E293B"/>
                </a:solidFill>
                <a:latin typeface="Segoe UI"/>
              </a:defRPr>
            </a:pPr>
            <a:r>
              <a:t>❑  Verbal borrowing often leads to misplaced items and misunderstandings.</a:t>
            </a:r>
          </a:p>
          <a:p>
            <a:pPr>
              <a:lnSpc>
                <a:spcPct val="130000"/>
              </a:lnSpc>
              <a:spcAft>
                <a:spcPts val="1000"/>
              </a:spcAft>
              <a:defRPr sz="1150">
                <a:solidFill>
                  <a:srgbClr val="1E293B"/>
                </a:solidFill>
                <a:latin typeface="Segoe UI"/>
              </a:defRPr>
            </a:pPr>
            <a:r>
              <a:t>❑  Neighbors feel hesitant to ask door-to-door without a structured platform.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601200" y="-1371600"/>
            <a:ext cx="4114800" cy="4114800"/>
          </a:xfrm>
          <a:prstGeom prst="ellipse">
            <a:avLst/>
          </a:prstGeom>
          <a:solidFill>
            <a:srgbClr val="DCF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4572000"/>
            <a:ext cx="3657600" cy="3657600"/>
          </a:xfrm>
          <a:prstGeom prst="ellipse">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2926080"/>
            <a:ext cx="365760" cy="365760"/>
          </a:xfrm>
          <a:prstGeom prst="ellipse">
            <a:avLst/>
          </a:prstGeom>
          <a:solidFill>
            <a:srgbClr val="5EE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4114800"/>
            <a:ext cx="228600" cy="2286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0" y="6400800"/>
            <a:ext cx="2103120" cy="365760"/>
          </a:xfrm>
          <a:prstGeom prst="rect">
            <a:avLst/>
          </a:prstGeom>
          <a:noFill/>
        </p:spPr>
        <p:txBody>
          <a:bodyPr wrap="none" lIns="0" rIns="0" tIns="0" bIns="0">
            <a:spAutoFit/>
          </a:bodyPr>
          <a:lstStyle/>
          <a:p>
            <a:pPr algn="r">
              <a:defRPr sz="1100" b="1">
                <a:solidFill>
                  <a:srgbClr val="0D5C75"/>
                </a:solidFill>
                <a:latin typeface="Segoe UI"/>
              </a:defRPr>
            </a:pPr>
            <a:r>
              <a:t>Slide - 6</a:t>
            </a:r>
          </a:p>
        </p:txBody>
      </p:sp>
      <p:sp>
        <p:nvSpPr>
          <p:cNvPr id="7" name="TextBox 6"/>
          <p:cNvSpPr txBox="1"/>
          <p:nvPr/>
        </p:nvSpPr>
        <p:spPr>
          <a:xfrm>
            <a:off x="822960" y="457200"/>
            <a:ext cx="10515600" cy="640080"/>
          </a:xfrm>
          <a:prstGeom prst="rect">
            <a:avLst/>
          </a:prstGeom>
          <a:noFill/>
        </p:spPr>
        <p:txBody>
          <a:bodyPr wrap="square" lIns="0" rIns="0" tIns="0" bIns="0">
            <a:spAutoFit/>
          </a:bodyPr>
          <a:lstStyle/>
          <a:p>
            <a:pPr>
              <a:defRPr sz="2600" b="1">
                <a:solidFill>
                  <a:srgbClr val="0D5C75"/>
                </a:solidFill>
                <a:latin typeface="Segoe UI"/>
              </a:defRPr>
            </a:pPr>
            <a:r>
              <a:t>SYSTEM REQUIREMENTS</a:t>
            </a:r>
          </a:p>
        </p:txBody>
      </p:sp>
      <p:sp>
        <p:nvSpPr>
          <p:cNvPr id="8" name="TextBox 7"/>
          <p:cNvSpPr txBox="1"/>
          <p:nvPr/>
        </p:nvSpPr>
        <p:spPr>
          <a:xfrm>
            <a:off x="822960" y="1188720"/>
            <a:ext cx="5029200" cy="365760"/>
          </a:xfrm>
          <a:prstGeom prst="rect">
            <a:avLst/>
          </a:prstGeom>
          <a:noFill/>
        </p:spPr>
        <p:txBody>
          <a:bodyPr wrap="none">
            <a:spAutoFit/>
          </a:bodyPr>
          <a:lstStyle/>
          <a:p>
            <a:pPr>
              <a:defRPr sz="1400" b="1">
                <a:solidFill>
                  <a:srgbClr val="0F766E"/>
                </a:solidFill>
                <a:latin typeface="Segoe UI"/>
              </a:defRPr>
            </a:pPr>
            <a:r>
              <a:t>Hardware Requirements</a:t>
            </a:r>
          </a:p>
        </p:txBody>
      </p:sp>
      <p:graphicFrame>
        <p:nvGraphicFramePr>
          <p:cNvPr id="9" name="Table 8"/>
          <p:cNvGraphicFramePr>
            <a:graphicFrameLocks noGrp="1"/>
          </p:cNvGraphicFramePr>
          <p:nvPr/>
        </p:nvGraphicFramePr>
        <p:xfrm>
          <a:off x="822960" y="1645920"/>
          <a:ext cx="5120640" cy="4389120"/>
        </p:xfrm>
        <a:graphic>
          <a:graphicData uri="http://schemas.openxmlformats.org/drawingml/2006/table">
            <a:tbl>
              <a:tblPr firstRow="1" bandRow="1">
                <a:tableStyleId>{5C22544A-7EE6-4342-B048-85BDC9FD1C3A}</a:tableStyleId>
              </a:tblPr>
              <a:tblGrid>
                <a:gridCol w="1463040"/>
                <a:gridCol w="3657600"/>
              </a:tblGrid>
              <a:tr h="548640">
                <a:tc>
                  <a:txBody>
                    <a:bodyPr/>
                    <a:lstStyle/>
                    <a:p>
                      <a:pPr>
                        <a:defRPr sz="1100" b="1">
                          <a:solidFill>
                            <a:srgbClr val="0D5C75"/>
                          </a:solidFill>
                          <a:latin typeface="Segoe UI"/>
                        </a:defRPr>
                      </a:pPr>
                      <a:r>
                        <a:t>Component</a:t>
                      </a:r>
                    </a:p>
                  </a:txBody>
                  <a:tcPr>
                    <a:solidFill>
                      <a:srgbClr val="CCFBF1"/>
                    </a:solidFill>
                  </a:tcPr>
                </a:tc>
                <a:tc>
                  <a:txBody>
                    <a:bodyPr/>
                    <a:lstStyle/>
                    <a:p>
                      <a:pPr>
                        <a:defRPr sz="1100" b="1">
                          <a:solidFill>
                            <a:srgbClr val="0D5C75"/>
                          </a:solidFill>
                          <a:latin typeface="Segoe UI"/>
                        </a:defRPr>
                      </a:pPr>
                      <a:r>
                        <a:t>Requirement</a:t>
                      </a:r>
                    </a:p>
                  </a:txBody>
                  <a:tcPr>
                    <a:solidFill>
                      <a:srgbClr val="CCFBF1"/>
                    </a:solidFill>
                  </a:tcPr>
                </a:tc>
              </a:tr>
              <a:tr h="548640">
                <a:tc>
                  <a:txBody>
                    <a:bodyPr/>
                    <a:lstStyle/>
                    <a:p>
                      <a:pPr>
                        <a:defRPr sz="1050" b="1">
                          <a:solidFill>
                            <a:srgbClr val="0F172A"/>
                          </a:solidFill>
                          <a:latin typeface="Segoe UI"/>
                        </a:defRPr>
                      </a:pPr>
                      <a:r>
                        <a:t>Processor</a:t>
                      </a:r>
                    </a:p>
                  </a:txBody>
                  <a:tcPr>
                    <a:solidFill>
                      <a:srgbClr val="FFFFFF"/>
                    </a:solidFill>
                  </a:tcPr>
                </a:tc>
                <a:tc>
                  <a:txBody>
                    <a:bodyPr/>
                    <a:lstStyle/>
                    <a:p>
                      <a:pPr>
                        <a:defRPr sz="1050">
                          <a:solidFill>
                            <a:srgbClr val="1E293B"/>
                          </a:solidFill>
                          <a:latin typeface="Segoe UI"/>
                        </a:defRPr>
                      </a:pPr>
                      <a:r>
                        <a:t>Intel Core i3 / i5 or better</a:t>
                      </a:r>
                    </a:p>
                  </a:txBody>
                  <a:tcPr>
                    <a:solidFill>
                      <a:srgbClr val="FFFFFF"/>
                    </a:solidFill>
                  </a:tcPr>
                </a:tc>
              </a:tr>
              <a:tr h="548640">
                <a:tc>
                  <a:txBody>
                    <a:bodyPr/>
                    <a:lstStyle/>
                    <a:p>
                      <a:pPr>
                        <a:defRPr sz="1050" b="1">
                          <a:solidFill>
                            <a:srgbClr val="0F172A"/>
                          </a:solidFill>
                          <a:latin typeface="Segoe UI"/>
                        </a:defRPr>
                      </a:pPr>
                      <a:r>
                        <a:t>RAM</a:t>
                      </a:r>
                    </a:p>
                  </a:txBody>
                  <a:tcPr>
                    <a:solidFill>
                      <a:srgbClr val="FFFFFF"/>
                    </a:solidFill>
                  </a:tcPr>
                </a:tc>
                <a:tc>
                  <a:txBody>
                    <a:bodyPr/>
                    <a:lstStyle/>
                    <a:p>
                      <a:pPr>
                        <a:defRPr sz="1050">
                          <a:solidFill>
                            <a:srgbClr val="1E293B"/>
                          </a:solidFill>
                          <a:latin typeface="Segoe UI"/>
                        </a:defRPr>
                      </a:pPr>
                      <a:r>
                        <a:t>4 GB or more (8 GB recommended)</a:t>
                      </a:r>
                    </a:p>
                  </a:txBody>
                  <a:tcPr>
                    <a:solidFill>
                      <a:srgbClr val="FFFFFF"/>
                    </a:solidFill>
                  </a:tcPr>
                </a:tc>
              </a:tr>
              <a:tr h="548640">
                <a:tc>
                  <a:txBody>
                    <a:bodyPr/>
                    <a:lstStyle/>
                    <a:p>
                      <a:pPr>
                        <a:defRPr sz="1050" b="1">
                          <a:solidFill>
                            <a:srgbClr val="0F172A"/>
                          </a:solidFill>
                          <a:latin typeface="Segoe UI"/>
                        </a:defRPr>
                      </a:pPr>
                      <a:r>
                        <a:t>Hard Disk</a:t>
                      </a:r>
                    </a:p>
                  </a:txBody>
                  <a:tcPr>
                    <a:solidFill>
                      <a:srgbClr val="FFFFFF"/>
                    </a:solidFill>
                  </a:tcPr>
                </a:tc>
                <a:tc>
                  <a:txBody>
                    <a:bodyPr/>
                    <a:lstStyle/>
                    <a:p>
                      <a:pPr>
                        <a:defRPr sz="1050">
                          <a:solidFill>
                            <a:srgbClr val="1E293B"/>
                          </a:solidFill>
                          <a:latin typeface="Segoe UI"/>
                        </a:defRPr>
                      </a:pPr>
                      <a:r>
                        <a:t>10 GB or more free disk space</a:t>
                      </a:r>
                    </a:p>
                  </a:txBody>
                  <a:tcPr>
                    <a:solidFill>
                      <a:srgbClr val="FFFFFF"/>
                    </a:solidFill>
                  </a:tcPr>
                </a:tc>
              </a:tr>
              <a:tr h="548640">
                <a:tc>
                  <a:txBody>
                    <a:bodyPr/>
                    <a:lstStyle/>
                    <a:p>
                      <a:pPr>
                        <a:defRPr sz="1050" b="1">
                          <a:solidFill>
                            <a:srgbClr val="0F172A"/>
                          </a:solidFill>
                          <a:latin typeface="Segoe UI"/>
                        </a:defRPr>
                      </a:pPr>
                      <a:r>
                        <a:t>Monitor</a:t>
                      </a:r>
                    </a:p>
                  </a:txBody>
                  <a:tcPr>
                    <a:solidFill>
                      <a:srgbClr val="FFFFFF"/>
                    </a:solidFill>
                  </a:tcPr>
                </a:tc>
                <a:tc>
                  <a:txBody>
                    <a:bodyPr/>
                    <a:lstStyle/>
                    <a:p>
                      <a:pPr>
                        <a:defRPr sz="1050">
                          <a:solidFill>
                            <a:srgbClr val="1E293B"/>
                          </a:solidFill>
                          <a:latin typeface="Segoe UI"/>
                        </a:defRPr>
                      </a:pPr>
                      <a:r>
                        <a:t>15" colour monitor or better (1366x768 / 1080p)</a:t>
                      </a:r>
                    </a:p>
                  </a:txBody>
                  <a:tcPr>
                    <a:solidFill>
                      <a:srgbClr val="FFFFFF"/>
                    </a:solidFill>
                  </a:tcPr>
                </a:tc>
              </a:tr>
              <a:tr h="548640">
                <a:tc>
                  <a:txBody>
                    <a:bodyPr/>
                    <a:lstStyle/>
                    <a:p>
                      <a:pPr>
                        <a:defRPr sz="1050" b="1">
                          <a:solidFill>
                            <a:srgbClr val="0F172A"/>
                          </a:solidFill>
                          <a:latin typeface="Segoe UI"/>
                        </a:defRPr>
                      </a:pPr>
                      <a:r>
                        <a:t>Keyboard</a:t>
                      </a:r>
                    </a:p>
                  </a:txBody>
                  <a:tcPr>
                    <a:solidFill>
                      <a:srgbClr val="FFFFFF"/>
                    </a:solidFill>
                  </a:tcPr>
                </a:tc>
                <a:tc>
                  <a:txBody>
                    <a:bodyPr/>
                    <a:lstStyle/>
                    <a:p>
                      <a:pPr>
                        <a:defRPr sz="1050">
                          <a:solidFill>
                            <a:srgbClr val="1E293B"/>
                          </a:solidFill>
                          <a:latin typeface="Segoe UI"/>
                        </a:defRPr>
                      </a:pPr>
                      <a:r>
                        <a:t>Any standard keyboard</a:t>
                      </a:r>
                    </a:p>
                  </a:txBody>
                  <a:tcPr>
                    <a:solidFill>
                      <a:srgbClr val="FFFFFF"/>
                    </a:solidFill>
                  </a:tcPr>
                </a:tc>
              </a:tr>
              <a:tr h="548640">
                <a:tc>
                  <a:txBody>
                    <a:bodyPr/>
                    <a:lstStyle/>
                    <a:p>
                      <a:pPr>
                        <a:defRPr sz="1050" b="1">
                          <a:solidFill>
                            <a:srgbClr val="0F172A"/>
                          </a:solidFill>
                          <a:latin typeface="Segoe UI"/>
                        </a:defRPr>
                      </a:pPr>
                      <a:r>
                        <a:t>Mouse</a:t>
                      </a:r>
                    </a:p>
                  </a:txBody>
                  <a:tcPr>
                    <a:solidFill>
                      <a:srgbClr val="FFFFFF"/>
                    </a:solidFill>
                  </a:tcPr>
                </a:tc>
                <a:tc>
                  <a:txBody>
                    <a:bodyPr/>
                    <a:lstStyle/>
                    <a:p>
                      <a:pPr>
                        <a:defRPr sz="1050">
                          <a:solidFill>
                            <a:srgbClr val="1E293B"/>
                          </a:solidFill>
                          <a:latin typeface="Segoe UI"/>
                        </a:defRPr>
                      </a:pPr>
                      <a:r>
                        <a:t>Any standard mouse / trackpad</a:t>
                      </a:r>
                    </a:p>
                  </a:txBody>
                  <a:tcPr>
                    <a:solidFill>
                      <a:srgbClr val="FFFFFF"/>
                    </a:solidFill>
                  </a:tcPr>
                </a:tc>
              </a:tr>
              <a:tr h="548640">
                <a:tc>
                  <a:txBody>
                    <a:bodyPr/>
                    <a:lstStyle/>
                    <a:p>
                      <a:pPr>
                        <a:defRPr sz="1050" b="1">
                          <a:solidFill>
                            <a:srgbClr val="0F172A"/>
                          </a:solidFill>
                          <a:latin typeface="Segoe UI"/>
                        </a:defRPr>
                      </a:pPr>
                      <a:r>
                        <a:t>Network</a:t>
                      </a:r>
                    </a:p>
                  </a:txBody>
                  <a:tcPr>
                    <a:solidFill>
                      <a:srgbClr val="FFFFFF"/>
                    </a:solidFill>
                  </a:tcPr>
                </a:tc>
                <a:tc>
                  <a:txBody>
                    <a:bodyPr/>
                    <a:lstStyle/>
                    <a:p>
                      <a:pPr>
                        <a:defRPr sz="1050">
                          <a:solidFill>
                            <a:srgbClr val="1E293B"/>
                          </a:solidFill>
                          <a:latin typeface="Segoe UI"/>
                        </a:defRPr>
                      </a:pPr>
                      <a:r>
                        <a:t>Connected to internet for cloud database access</a:t>
                      </a:r>
                    </a:p>
                  </a:txBody>
                  <a:tcPr>
                    <a:solidFill>
                      <a:srgbClr val="FFFFFF"/>
                    </a:solidFill>
                  </a:tcPr>
                </a:tc>
              </a:tr>
            </a:tbl>
          </a:graphicData>
        </a:graphic>
      </p:graphicFrame>
      <p:sp>
        <p:nvSpPr>
          <p:cNvPr id="10" name="TextBox 9"/>
          <p:cNvSpPr txBox="1"/>
          <p:nvPr/>
        </p:nvSpPr>
        <p:spPr>
          <a:xfrm>
            <a:off x="6217920" y="1188720"/>
            <a:ext cx="5029200" cy="365760"/>
          </a:xfrm>
          <a:prstGeom prst="rect">
            <a:avLst/>
          </a:prstGeom>
          <a:noFill/>
        </p:spPr>
        <p:txBody>
          <a:bodyPr wrap="none">
            <a:spAutoFit/>
          </a:bodyPr>
          <a:lstStyle/>
          <a:p>
            <a:pPr>
              <a:defRPr sz="1400" b="1">
                <a:solidFill>
                  <a:srgbClr val="0F766E"/>
                </a:solidFill>
                <a:latin typeface="Segoe UI"/>
              </a:defRPr>
            </a:pPr>
            <a:r>
              <a:t>Software Requirements</a:t>
            </a:r>
          </a:p>
        </p:txBody>
      </p:sp>
      <p:graphicFrame>
        <p:nvGraphicFramePr>
          <p:cNvPr id="11" name="Table 10"/>
          <p:cNvGraphicFramePr>
            <a:graphicFrameLocks noGrp="1"/>
          </p:cNvGraphicFramePr>
          <p:nvPr/>
        </p:nvGraphicFramePr>
        <p:xfrm>
          <a:off x="6217920" y="1645920"/>
          <a:ext cx="5120640" cy="4389120"/>
        </p:xfrm>
        <a:graphic>
          <a:graphicData uri="http://schemas.openxmlformats.org/drawingml/2006/table">
            <a:tbl>
              <a:tblPr firstRow="1" bandRow="1">
                <a:tableStyleId>{5C22544A-7EE6-4342-B048-85BDC9FD1C3A}</a:tableStyleId>
              </a:tblPr>
              <a:tblGrid>
                <a:gridCol w="1554480"/>
                <a:gridCol w="3566160"/>
              </a:tblGrid>
              <a:tr h="548640">
                <a:tc>
                  <a:txBody>
                    <a:bodyPr/>
                    <a:lstStyle/>
                    <a:p>
                      <a:pPr>
                        <a:defRPr sz="1100" b="1">
                          <a:solidFill>
                            <a:srgbClr val="0D5C75"/>
                          </a:solidFill>
                          <a:latin typeface="Segoe UI"/>
                        </a:defRPr>
                      </a:pPr>
                      <a:r>
                        <a:t>Component</a:t>
                      </a:r>
                    </a:p>
                  </a:txBody>
                  <a:tcPr>
                    <a:solidFill>
                      <a:srgbClr val="CCFBF1"/>
                    </a:solidFill>
                  </a:tcPr>
                </a:tc>
                <a:tc>
                  <a:txBody>
                    <a:bodyPr/>
                    <a:lstStyle/>
                    <a:p>
                      <a:pPr>
                        <a:defRPr sz="1100" b="1">
                          <a:solidFill>
                            <a:srgbClr val="0D5C75"/>
                          </a:solidFill>
                          <a:latin typeface="Segoe UI"/>
                        </a:defRPr>
                      </a:pPr>
                      <a:r>
                        <a:t>Selection</a:t>
                      </a:r>
                    </a:p>
                  </a:txBody>
                  <a:tcPr>
                    <a:solidFill>
                      <a:srgbClr val="CCFBF1"/>
                    </a:solidFill>
                  </a:tcPr>
                </a:tc>
              </a:tr>
              <a:tr h="548640">
                <a:tc>
                  <a:txBody>
                    <a:bodyPr/>
                    <a:lstStyle/>
                    <a:p>
                      <a:pPr>
                        <a:defRPr sz="1050" b="1">
                          <a:solidFill>
                            <a:srgbClr val="0F172A"/>
                          </a:solidFill>
                          <a:latin typeface="Segoe UI"/>
                        </a:defRPr>
                      </a:pPr>
                      <a:r>
                        <a:t>Operating System</a:t>
                      </a:r>
                    </a:p>
                  </a:txBody>
                  <a:tcPr>
                    <a:solidFill>
                      <a:srgbClr val="FFFFFF"/>
                    </a:solidFill>
                  </a:tcPr>
                </a:tc>
                <a:tc>
                  <a:txBody>
                    <a:bodyPr/>
                    <a:lstStyle/>
                    <a:p>
                      <a:pPr>
                        <a:defRPr sz="950">
                          <a:solidFill>
                            <a:srgbClr val="1E293B"/>
                          </a:solidFill>
                          <a:latin typeface="Segoe UI"/>
                        </a:defRPr>
                      </a:pPr>
                      <a:r>
                        <a:t>Windows 10 or higher (also supports Linux/macOS)</a:t>
                      </a:r>
                    </a:p>
                  </a:txBody>
                  <a:tcPr>
                    <a:solidFill>
                      <a:srgbClr val="FFFFFF"/>
                    </a:solidFill>
                  </a:tcPr>
                </a:tc>
              </a:tr>
              <a:tr h="548640">
                <a:tc>
                  <a:txBody>
                    <a:bodyPr/>
                    <a:lstStyle/>
                    <a:p>
                      <a:pPr>
                        <a:defRPr sz="1050" b="1">
                          <a:solidFill>
                            <a:srgbClr val="0F172A"/>
                          </a:solidFill>
                          <a:latin typeface="Segoe UI"/>
                        </a:defRPr>
                      </a:pPr>
                      <a:r>
                        <a:t>Language</a:t>
                      </a:r>
                    </a:p>
                  </a:txBody>
                  <a:tcPr>
                    <a:solidFill>
                      <a:srgbClr val="FFFFFF"/>
                    </a:solidFill>
                  </a:tcPr>
                </a:tc>
                <a:tc>
                  <a:txBody>
                    <a:bodyPr/>
                    <a:lstStyle/>
                    <a:p>
                      <a:pPr>
                        <a:defRPr sz="950">
                          <a:solidFill>
                            <a:srgbClr val="1E293B"/>
                          </a:solidFill>
                          <a:latin typeface="Segoe UI"/>
                        </a:defRPr>
                      </a:pPr>
                      <a:r>
                        <a:t>Python version 3.10 or higher</a:t>
                      </a:r>
                    </a:p>
                  </a:txBody>
                  <a:tcPr>
                    <a:solidFill>
                      <a:srgbClr val="FFFFFF"/>
                    </a:solidFill>
                  </a:tcPr>
                </a:tc>
              </a:tr>
              <a:tr h="548640">
                <a:tc>
                  <a:txBody>
                    <a:bodyPr/>
                    <a:lstStyle/>
                    <a:p>
                      <a:pPr>
                        <a:defRPr sz="1050" b="1">
                          <a:solidFill>
                            <a:srgbClr val="0F172A"/>
                          </a:solidFill>
                          <a:latin typeface="Segoe UI"/>
                        </a:defRPr>
                      </a:pPr>
                      <a:r>
                        <a:t>Database</a:t>
                      </a:r>
                    </a:p>
                  </a:txBody>
                  <a:tcPr>
                    <a:solidFill>
                      <a:srgbClr val="FFFFFF"/>
                    </a:solidFill>
                  </a:tcPr>
                </a:tc>
                <a:tc>
                  <a:txBody>
                    <a:bodyPr/>
                    <a:lstStyle/>
                    <a:p>
                      <a:pPr>
                        <a:defRPr sz="950">
                          <a:solidFill>
                            <a:srgbClr val="1E293B"/>
                          </a:solidFill>
                          <a:latin typeface="Segoe UI"/>
                        </a:defRPr>
                      </a:pPr>
                      <a:r>
                        <a:t>TiDB Cloud Serverless (MySQL 8.0 Protocol)</a:t>
                      </a:r>
                    </a:p>
                  </a:txBody>
                  <a:tcPr>
                    <a:solidFill>
                      <a:srgbClr val="FFFFFF"/>
                    </a:solidFill>
                  </a:tcPr>
                </a:tc>
              </a:tr>
              <a:tr h="548640">
                <a:tc>
                  <a:txBody>
                    <a:bodyPr/>
                    <a:lstStyle/>
                    <a:p>
                      <a:pPr>
                        <a:defRPr sz="1050" b="1">
                          <a:solidFill>
                            <a:srgbClr val="0F172A"/>
                          </a:solidFill>
                          <a:latin typeface="Segoe UI"/>
                        </a:defRPr>
                      </a:pPr>
                      <a:r>
                        <a:t>Browser</a:t>
                      </a:r>
                    </a:p>
                  </a:txBody>
                  <a:tcPr>
                    <a:solidFill>
                      <a:srgbClr val="FFFFFF"/>
                    </a:solidFill>
                  </a:tcPr>
                </a:tc>
                <a:tc>
                  <a:txBody>
                    <a:bodyPr/>
                    <a:lstStyle/>
                    <a:p>
                      <a:pPr>
                        <a:defRPr sz="950">
                          <a:solidFill>
                            <a:srgbClr val="1E293B"/>
                          </a:solidFill>
                          <a:latin typeface="Segoe UI"/>
                        </a:defRPr>
                      </a:pPr>
                      <a:r>
                        <a:t>Google Chrome, Edge, Firefox, or Safari</a:t>
                      </a:r>
                    </a:p>
                  </a:txBody>
                  <a:tcPr>
                    <a:solidFill>
                      <a:srgbClr val="FFFFFF"/>
                    </a:solidFill>
                  </a:tcPr>
                </a:tc>
              </a:tr>
              <a:tr h="548640">
                <a:tc>
                  <a:txBody>
                    <a:bodyPr/>
                    <a:lstStyle/>
                    <a:p>
                      <a:pPr>
                        <a:defRPr sz="1050" b="1">
                          <a:solidFill>
                            <a:srgbClr val="0F172A"/>
                          </a:solidFill>
                          <a:latin typeface="Segoe UI"/>
                        </a:defRPr>
                      </a:pPr>
                      <a:r>
                        <a:t>Framework</a:t>
                      </a:r>
                    </a:p>
                  </a:txBody>
                  <a:tcPr>
                    <a:solidFill>
                      <a:srgbClr val="FFFFFF"/>
                    </a:solidFill>
                  </a:tcPr>
                </a:tc>
                <a:tc>
                  <a:txBody>
                    <a:bodyPr/>
                    <a:lstStyle/>
                    <a:p>
                      <a:pPr>
                        <a:defRPr sz="950">
                          <a:solidFill>
                            <a:srgbClr val="1E293B"/>
                          </a:solidFill>
                          <a:latin typeface="Segoe UI"/>
                        </a:defRPr>
                      </a:pPr>
                      <a:r>
                        <a:t>• Flask 3.0 (Web Framework)</a:t>
                      </a:r>
                    </a:p>
                    <a:p>
                      <a:pPr>
                        <a:defRPr sz="950">
                          <a:solidFill>
                            <a:srgbClr val="1E293B"/>
                          </a:solidFill>
                          <a:latin typeface="Segoe UI"/>
                        </a:defRPr>
                      </a:pPr>
                      <a:r>
                        <a:t>• Werkzeug (Security &amp; Password Hashing)</a:t>
                      </a:r>
                    </a:p>
                    <a:p>
                      <a:pPr>
                        <a:defRPr sz="950">
                          <a:solidFill>
                            <a:srgbClr val="1E293B"/>
                          </a:solidFill>
                          <a:latin typeface="Segoe UI"/>
                        </a:defRPr>
                      </a:pPr>
                      <a:r>
                        <a:t>• PyMySQL (Database Driver)</a:t>
                      </a:r>
                    </a:p>
                    <a:p>
                      <a:pPr>
                        <a:defRPr sz="950">
                          <a:solidFill>
                            <a:srgbClr val="1E293B"/>
                          </a:solidFill>
                          <a:latin typeface="Segoe UI"/>
                        </a:defRPr>
                      </a:pPr>
                      <a:r>
                        <a:t>• Pytest (Automated Testing)</a:t>
                      </a:r>
                    </a:p>
                  </a:txBody>
                  <a:tcPr>
                    <a:solidFill>
                      <a:srgbClr val="FFFFFF"/>
                    </a:solidFill>
                  </a:tcPr>
                </a:tc>
              </a:tr>
              <a:tr h="548640">
                <a:tc>
                  <a:txBody>
                    <a:bodyPr/>
                    <a:lstStyle/>
                    <a:p>
                      <a:pPr>
                        <a:defRPr sz="1050" b="1">
                          <a:solidFill>
                            <a:srgbClr val="0F172A"/>
                          </a:solidFill>
                          <a:latin typeface="Segoe UI"/>
                        </a:defRPr>
                      </a:pPr>
                      <a:r>
                        <a:t>Frontend</a:t>
                      </a:r>
                    </a:p>
                  </a:txBody>
                  <a:tcPr>
                    <a:solidFill>
                      <a:srgbClr val="FFFFFF"/>
                    </a:solidFill>
                  </a:tcPr>
                </a:tc>
                <a:tc>
                  <a:txBody>
                    <a:bodyPr/>
                    <a:lstStyle/>
                    <a:p>
                      <a:pPr>
                        <a:defRPr sz="950">
                          <a:solidFill>
                            <a:srgbClr val="1E293B"/>
                          </a:solidFill>
                          <a:latin typeface="Segoe UI"/>
                        </a:defRPr>
                      </a:pPr>
                      <a:r>
                        <a:t>HTML5, CSS3, JavaScript, Bootstrap 5.3</a:t>
                      </a:r>
                    </a:p>
                  </a:txBody>
                  <a:tcPr>
                    <a:solidFill>
                      <a:srgbClr val="FFFFFF"/>
                    </a:solidFill>
                  </a:tcPr>
                </a:tc>
              </a:tr>
              <a:tr h="548640">
                <a:tc>
                  <a:txBody>
                    <a:bodyPr/>
                    <a:lstStyle/>
                    <a:p>
                      <a:pPr>
                        <a:defRPr sz="1050" b="1">
                          <a:solidFill>
                            <a:srgbClr val="0F172A"/>
                          </a:solidFill>
                          <a:latin typeface="Segoe UI"/>
                        </a:defRPr>
                      </a:pPr>
                      <a:r>
                        <a:t>Development</a:t>
                      </a:r>
                    </a:p>
                  </a:txBody>
                  <a:tcPr>
                    <a:solidFill>
                      <a:srgbClr val="FFFFFF"/>
                    </a:solidFill>
                  </a:tcPr>
                </a:tc>
                <a:tc>
                  <a:txBody>
                    <a:bodyPr/>
                    <a:lstStyle/>
                    <a:p>
                      <a:pPr>
                        <a:defRPr sz="950">
                          <a:solidFill>
                            <a:srgbClr val="1E293B"/>
                          </a:solidFill>
                          <a:latin typeface="Segoe UI"/>
                        </a:defRPr>
                      </a:pPr>
                      <a:r>
                        <a:t>Visual Studio Code (VS Code) &amp; Git</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601200" y="-1371600"/>
            <a:ext cx="4114800" cy="4114800"/>
          </a:xfrm>
          <a:prstGeom prst="ellipse">
            <a:avLst/>
          </a:prstGeom>
          <a:solidFill>
            <a:srgbClr val="DCF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4572000"/>
            <a:ext cx="3657600" cy="3657600"/>
          </a:xfrm>
          <a:prstGeom prst="ellipse">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2926080"/>
            <a:ext cx="365760" cy="365760"/>
          </a:xfrm>
          <a:prstGeom prst="ellipse">
            <a:avLst/>
          </a:prstGeom>
          <a:solidFill>
            <a:srgbClr val="5EE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4114800"/>
            <a:ext cx="228600" cy="2286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0" y="6400800"/>
            <a:ext cx="2103120" cy="365760"/>
          </a:xfrm>
          <a:prstGeom prst="rect">
            <a:avLst/>
          </a:prstGeom>
          <a:noFill/>
        </p:spPr>
        <p:txBody>
          <a:bodyPr wrap="none" lIns="0" rIns="0" tIns="0" bIns="0">
            <a:spAutoFit/>
          </a:bodyPr>
          <a:lstStyle/>
          <a:p>
            <a:pPr algn="r">
              <a:defRPr sz="1100" b="1">
                <a:solidFill>
                  <a:srgbClr val="0D5C75"/>
                </a:solidFill>
                <a:latin typeface="Segoe UI"/>
              </a:defRPr>
            </a:pPr>
            <a:r>
              <a:t>Slide - 7</a:t>
            </a:r>
          </a:p>
        </p:txBody>
      </p:sp>
      <p:sp>
        <p:nvSpPr>
          <p:cNvPr id="7" name="TextBox 6"/>
          <p:cNvSpPr txBox="1"/>
          <p:nvPr/>
        </p:nvSpPr>
        <p:spPr>
          <a:xfrm>
            <a:off x="822960" y="457200"/>
            <a:ext cx="10515600" cy="640080"/>
          </a:xfrm>
          <a:prstGeom prst="rect">
            <a:avLst/>
          </a:prstGeom>
          <a:noFill/>
        </p:spPr>
        <p:txBody>
          <a:bodyPr wrap="square" lIns="0" rIns="0" tIns="0" bIns="0">
            <a:spAutoFit/>
          </a:bodyPr>
          <a:lstStyle/>
          <a:p>
            <a:pPr>
              <a:defRPr sz="2600" b="1">
                <a:solidFill>
                  <a:srgbClr val="0D5C75"/>
                </a:solidFill>
                <a:latin typeface="Segoe UI"/>
              </a:defRPr>
            </a:pPr>
            <a:r>
              <a:t>EXISTING SYSTEM &amp; PROPOSED SYSTEM</a:t>
            </a:r>
          </a:p>
        </p:txBody>
      </p:sp>
      <p:sp>
        <p:nvSpPr>
          <p:cNvPr id="8" name="Rounded Rectangle 7"/>
          <p:cNvSpPr/>
          <p:nvPr/>
        </p:nvSpPr>
        <p:spPr>
          <a:xfrm>
            <a:off x="822960" y="1188720"/>
            <a:ext cx="1051560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325880"/>
            <a:ext cx="10058400" cy="2103120"/>
          </a:xfrm>
          <a:prstGeom prst="rect">
            <a:avLst/>
          </a:prstGeom>
          <a:noFill/>
        </p:spPr>
        <p:txBody>
          <a:bodyPr wrap="square">
            <a:spAutoFit/>
          </a:bodyPr>
          <a:lstStyle/>
          <a:p>
            <a:pPr>
              <a:spcAft>
                <a:spcPts val="600"/>
              </a:spcAft>
              <a:defRPr sz="1300" b="1">
                <a:solidFill>
                  <a:srgbClr val="D97706"/>
                </a:solidFill>
                <a:latin typeface="Segoe UI"/>
              </a:defRPr>
            </a:pPr>
            <a:r>
              <a:t>EXISTING SYSTEM:</a:t>
            </a:r>
          </a:p>
          <a:p>
            <a:pPr>
              <a:lnSpc>
                <a:spcPct val="135000"/>
              </a:lnSpc>
              <a:spcAft>
                <a:spcPts val="600"/>
              </a:spcAft>
            </a:pPr>
            <a:r>
              <a:rPr sz="1100" b="1">
                <a:solidFill>
                  <a:srgbClr val="0D9488"/>
                </a:solidFill>
                <a:latin typeface="Segoe UI"/>
              </a:rPr>
              <a:t>▶  </a:t>
            </a:r>
            <a:r>
              <a:rPr sz="1100">
                <a:solidFill>
                  <a:srgbClr val="1E293B"/>
                </a:solidFill>
                <a:latin typeface="Segoe UI"/>
              </a:rPr>
              <a:t>The existing system for borrowing items in residential communities relies heavily on manual talk, phone calls, and informal WhatsApp messaging. These traditional methods are unorganized, time-consuming, and error-prone.</a:t>
            </a:r>
          </a:p>
          <a:p>
            <a:pPr>
              <a:lnSpc>
                <a:spcPct val="135000"/>
              </a:lnSpc>
              <a:spcAft>
                <a:spcPts val="0"/>
              </a:spcAft>
            </a:pPr>
            <a:r>
              <a:rPr sz="1100" b="1">
                <a:solidFill>
                  <a:srgbClr val="0D9488"/>
                </a:solidFill>
                <a:latin typeface="Segoe UI"/>
              </a:rPr>
              <a:t>▶  </a:t>
            </a:r>
            <a:r>
              <a:rPr sz="1100">
                <a:solidFill>
                  <a:srgbClr val="1E293B"/>
                </a:solidFill>
                <a:latin typeface="Segoe UI"/>
              </a:rPr>
              <a:t>When a resident needs a tool, they post in crowded group chats where messages get lost quickly. There is no central catalog of who owns what item, and people often forget return dates, leading to lost items or misunderstandings.</a:t>
            </a:r>
          </a:p>
        </p:txBody>
      </p:sp>
      <p:sp>
        <p:nvSpPr>
          <p:cNvPr id="10" name="Rounded Rectangle 9"/>
          <p:cNvSpPr/>
          <p:nvPr/>
        </p:nvSpPr>
        <p:spPr>
          <a:xfrm>
            <a:off x="822960" y="3794760"/>
            <a:ext cx="10515600" cy="2468880"/>
          </a:xfrm>
          <a:prstGeom prst="roundRect">
            <a:avLst/>
          </a:prstGeom>
          <a:solidFill>
            <a:srgbClr val="FFFFFF"/>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931920"/>
            <a:ext cx="10058400" cy="2194560"/>
          </a:xfrm>
          <a:prstGeom prst="rect">
            <a:avLst/>
          </a:prstGeom>
          <a:noFill/>
        </p:spPr>
        <p:txBody>
          <a:bodyPr wrap="square">
            <a:spAutoFit/>
          </a:bodyPr>
          <a:lstStyle/>
          <a:p>
            <a:pPr>
              <a:spcAft>
                <a:spcPts val="600"/>
              </a:spcAft>
              <a:defRPr sz="1300" b="1">
                <a:solidFill>
                  <a:srgbClr val="0F766E"/>
                </a:solidFill>
                <a:latin typeface="Segoe UI"/>
              </a:defRPr>
            </a:pPr>
            <a:r>
              <a:t>PROPOSED SYSTEM:</a:t>
            </a:r>
          </a:p>
          <a:p>
            <a:pPr>
              <a:lnSpc>
                <a:spcPct val="135000"/>
              </a:lnSpc>
              <a:spcAft>
                <a:spcPts val="600"/>
              </a:spcAft>
            </a:pPr>
            <a:r>
              <a:rPr sz="1100" b="1">
                <a:solidFill>
                  <a:srgbClr val="0D9488"/>
                </a:solidFill>
                <a:latin typeface="Segoe UI"/>
              </a:rPr>
              <a:t>▶  </a:t>
            </a:r>
            <a:r>
              <a:rPr sz="1100">
                <a:solidFill>
                  <a:srgbClr val="1E293B"/>
                </a:solidFill>
                <a:latin typeface="Segoe UI"/>
              </a:rPr>
              <a:t>The proposed 'Community Item Lending System' is designed to overcome the limitations of the existing manual system by introducing a modern, efficient, and secure web application. Developed using Python Flask and TiDB MySQL, it allows verified residents to share resources freely.</a:t>
            </a:r>
          </a:p>
          <a:p>
            <a:pPr>
              <a:lnSpc>
                <a:spcPct val="135000"/>
              </a:lnSpc>
              <a:spcAft>
                <a:spcPts val="0"/>
              </a:spcAft>
            </a:pPr>
            <a:r>
              <a:rPr sz="1100" b="1">
                <a:solidFill>
                  <a:srgbClr val="0D9488"/>
                </a:solidFill>
                <a:latin typeface="Segoe UI"/>
              </a:rPr>
              <a:t>▶  </a:t>
            </a:r>
            <a:r>
              <a:rPr sz="1100">
                <a:solidFill>
                  <a:srgbClr val="1E293B"/>
                </a:solidFill>
                <a:latin typeface="Segoe UI"/>
              </a:rPr>
              <a:t>Automated Lending Workflow: Features a 4-stage lifecycle (Available -&gt; Pending -&gt; Lent -&gt; Returned) that automatically locks items upon approval, preventing double-booking and keeping a permanent record of all borrowing transactions.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601200" y="-1371600"/>
            <a:ext cx="4114800" cy="4114800"/>
          </a:xfrm>
          <a:prstGeom prst="ellipse">
            <a:avLst/>
          </a:prstGeom>
          <a:solidFill>
            <a:srgbClr val="DCF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4572000"/>
            <a:ext cx="3657600" cy="3657600"/>
          </a:xfrm>
          <a:prstGeom prst="ellipse">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2926080"/>
            <a:ext cx="365760" cy="365760"/>
          </a:xfrm>
          <a:prstGeom prst="ellipse">
            <a:avLst/>
          </a:prstGeom>
          <a:solidFill>
            <a:srgbClr val="5EE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4114800"/>
            <a:ext cx="228600" cy="2286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0" y="6400800"/>
            <a:ext cx="2103120" cy="365760"/>
          </a:xfrm>
          <a:prstGeom prst="rect">
            <a:avLst/>
          </a:prstGeom>
          <a:noFill/>
        </p:spPr>
        <p:txBody>
          <a:bodyPr wrap="none" lIns="0" rIns="0" tIns="0" bIns="0">
            <a:spAutoFit/>
          </a:bodyPr>
          <a:lstStyle/>
          <a:p>
            <a:pPr algn="r">
              <a:defRPr sz="1100" b="1">
                <a:solidFill>
                  <a:srgbClr val="0D5C75"/>
                </a:solidFill>
                <a:latin typeface="Segoe UI"/>
              </a:defRPr>
            </a:pPr>
            <a:r>
              <a:t>Slide - 8</a:t>
            </a:r>
          </a:p>
        </p:txBody>
      </p:sp>
      <p:sp>
        <p:nvSpPr>
          <p:cNvPr id="7" name="TextBox 6"/>
          <p:cNvSpPr txBox="1"/>
          <p:nvPr/>
        </p:nvSpPr>
        <p:spPr>
          <a:xfrm>
            <a:off x="822960" y="457200"/>
            <a:ext cx="10515600" cy="640080"/>
          </a:xfrm>
          <a:prstGeom prst="rect">
            <a:avLst/>
          </a:prstGeom>
          <a:noFill/>
        </p:spPr>
        <p:txBody>
          <a:bodyPr wrap="square" lIns="0" rIns="0" tIns="0" bIns="0">
            <a:spAutoFit/>
          </a:bodyPr>
          <a:lstStyle/>
          <a:p>
            <a:pPr>
              <a:defRPr sz="2600" b="1">
                <a:solidFill>
                  <a:srgbClr val="0D5C75"/>
                </a:solidFill>
                <a:latin typeface="Segoe UI"/>
              </a:defRPr>
            </a:pPr>
            <a:r>
              <a:t>SYSTEM DESIGN - DATA FLOW DIAGRAM (DFD)</a:t>
            </a:r>
          </a:p>
        </p:txBody>
      </p:sp>
      <p:sp>
        <p:nvSpPr>
          <p:cNvPr id="8" name="TextBox 7"/>
          <p:cNvSpPr txBox="1"/>
          <p:nvPr/>
        </p:nvSpPr>
        <p:spPr>
          <a:xfrm>
            <a:off x="822960" y="1051560"/>
            <a:ext cx="10515600" cy="365760"/>
          </a:xfrm>
          <a:prstGeom prst="rect">
            <a:avLst/>
          </a:prstGeom>
          <a:noFill/>
        </p:spPr>
        <p:txBody>
          <a:bodyPr wrap="none">
            <a:spAutoFit/>
          </a:bodyPr>
          <a:lstStyle/>
          <a:p>
            <a:pPr>
              <a:defRPr sz="1300" b="1">
                <a:solidFill>
                  <a:srgbClr val="D97706"/>
                </a:solidFill>
                <a:latin typeface="Segoe UI"/>
              </a:defRPr>
            </a:pPr>
            <a:r>
              <a:t>SYSTEM ARCHITECTURE &amp; DATA FLOW:</a:t>
            </a:r>
          </a:p>
        </p:txBody>
      </p:sp>
      <p:sp>
        <p:nvSpPr>
          <p:cNvPr id="9" name="Rounded Rectangle 8"/>
          <p:cNvSpPr/>
          <p:nvPr/>
        </p:nvSpPr>
        <p:spPr>
          <a:xfrm>
            <a:off x="822960" y="1463040"/>
            <a:ext cx="5669280" cy="4663440"/>
          </a:xfrm>
          <a:prstGeom prst="roundRect">
            <a:avLst/>
          </a:prstGeom>
          <a:solidFill>
            <a:srgbClr val="FFFFFF"/>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1_dfd_level0.png"/>
          <p:cNvPicPr>
            <a:picLocks noChangeAspect="1"/>
          </p:cNvPicPr>
          <p:nvPr/>
        </p:nvPicPr>
        <p:blipFill>
          <a:blip r:embed="rId2"/>
          <a:stretch>
            <a:fillRect/>
          </a:stretch>
        </p:blipFill>
        <p:spPr>
          <a:xfrm>
            <a:off x="914400" y="1600200"/>
            <a:ext cx="5486400" cy="4297680"/>
          </a:xfrm>
          <a:prstGeom prst="rect">
            <a:avLst/>
          </a:prstGeom>
        </p:spPr>
      </p:pic>
      <p:sp>
        <p:nvSpPr>
          <p:cNvPr id="11" name="TextBox 10"/>
          <p:cNvSpPr txBox="1"/>
          <p:nvPr/>
        </p:nvSpPr>
        <p:spPr>
          <a:xfrm>
            <a:off x="6720840" y="1463040"/>
            <a:ext cx="4663440" cy="4663440"/>
          </a:xfrm>
          <a:prstGeom prst="rect">
            <a:avLst/>
          </a:prstGeom>
          <a:noFill/>
        </p:spPr>
        <p:txBody>
          <a:bodyPr wrap="square">
            <a:spAutoFit/>
          </a:bodyPr>
          <a:lstStyle/>
          <a:p>
            <a:pPr>
              <a:spcAft>
                <a:spcPts val="1000"/>
              </a:spcAft>
              <a:defRPr sz="1400" b="1">
                <a:solidFill>
                  <a:srgbClr val="0F766E"/>
                </a:solidFill>
                <a:latin typeface="Segoe UI"/>
              </a:defRPr>
            </a:pPr>
            <a:r>
              <a:t>How Information Moves in the System:</a:t>
            </a:r>
          </a:p>
          <a:p>
            <a:pPr>
              <a:lnSpc>
                <a:spcPct val="135000"/>
              </a:lnSpc>
              <a:spcAft>
                <a:spcPts val="1200"/>
              </a:spcAft>
            </a:pPr>
            <a:r>
              <a:rPr sz="1100" b="1">
                <a:solidFill>
                  <a:srgbClr val="0D9488"/>
                </a:solidFill>
                <a:latin typeface="Segoe UI"/>
              </a:rPr>
              <a:t>▶  </a:t>
            </a:r>
            <a:r>
              <a:rPr sz="1100" b="1">
                <a:solidFill>
                  <a:srgbClr val="0F172A"/>
                </a:solidFill>
                <a:latin typeface="Segoe UI"/>
              </a:rPr>
              <a:t>1. User Registration: </a:t>
            </a:r>
            <a:r>
              <a:rPr sz="1100">
                <a:solidFill>
                  <a:srgbClr val="1E293B"/>
                </a:solidFill>
                <a:latin typeface="Segoe UI"/>
              </a:rPr>
              <a:t>New residents enter their name, email, and flat number. Passwords are encrypted before saving in the database.</a:t>
            </a:r>
          </a:p>
          <a:p>
            <a:pPr>
              <a:lnSpc>
                <a:spcPct val="135000"/>
              </a:lnSpc>
              <a:spcAft>
                <a:spcPts val="1200"/>
              </a:spcAft>
            </a:pPr>
            <a:r>
              <a:rPr sz="1100" b="1">
                <a:solidFill>
                  <a:srgbClr val="0D9488"/>
                </a:solidFill>
                <a:latin typeface="Segoe UI"/>
              </a:rPr>
              <a:t>▶  </a:t>
            </a:r>
            <a:r>
              <a:rPr sz="1100" b="1">
                <a:solidFill>
                  <a:srgbClr val="0F172A"/>
                </a:solidFill>
                <a:latin typeface="Segoe UI"/>
              </a:rPr>
              <a:t>2. Item Listing: </a:t>
            </a:r>
            <a:r>
              <a:rPr sz="1100">
                <a:solidFill>
                  <a:srgbClr val="1E293B"/>
                </a:solidFill>
                <a:latin typeface="Segoe UI"/>
              </a:rPr>
              <a:t>Item owners upload title, description, category, and photo. Details are saved in the TiDB cloud database.</a:t>
            </a:r>
          </a:p>
          <a:p>
            <a:pPr>
              <a:lnSpc>
                <a:spcPct val="135000"/>
              </a:lnSpc>
              <a:spcAft>
                <a:spcPts val="1200"/>
              </a:spcAft>
            </a:pPr>
            <a:r>
              <a:rPr sz="1100" b="1">
                <a:solidFill>
                  <a:srgbClr val="0D9488"/>
                </a:solidFill>
                <a:latin typeface="Segoe UI"/>
              </a:rPr>
              <a:t>▶  </a:t>
            </a:r>
            <a:r>
              <a:rPr sz="1100" b="1">
                <a:solidFill>
                  <a:srgbClr val="0F172A"/>
                </a:solidFill>
                <a:latin typeface="Segoe UI"/>
              </a:rPr>
              <a:t>3. Borrow Request: </a:t>
            </a:r>
            <a:r>
              <a:rPr sz="1100">
                <a:solidFill>
                  <a:srgbClr val="1E293B"/>
                </a:solidFill>
                <a:latin typeface="Segoe UI"/>
              </a:rPr>
              <a:t>Borrowers find an item and send a borrow request with return dates. The item status changes to Pending.</a:t>
            </a:r>
          </a:p>
          <a:p>
            <a:pPr>
              <a:lnSpc>
                <a:spcPct val="135000"/>
              </a:lnSpc>
              <a:spcAft>
                <a:spcPts val="1000"/>
              </a:spcAft>
            </a:pPr>
            <a:r>
              <a:rPr sz="1100" b="1">
                <a:solidFill>
                  <a:srgbClr val="0D9488"/>
                </a:solidFill>
                <a:latin typeface="Segoe UI"/>
              </a:rPr>
              <a:t>▶  </a:t>
            </a:r>
            <a:r>
              <a:rPr sz="1100" b="1">
                <a:solidFill>
                  <a:srgbClr val="0F172A"/>
                </a:solidFill>
                <a:latin typeface="Segoe UI"/>
              </a:rPr>
              <a:t>4. Approval &amp; Return: </a:t>
            </a:r>
            <a:r>
              <a:rPr sz="1100">
                <a:solidFill>
                  <a:srgbClr val="1E293B"/>
                </a:solidFill>
                <a:latin typeface="Segoe UI"/>
              </a:rPr>
              <a:t>The owner approves the request (status becomes Lent). When returned, the owner marks it as returned (status resets to Available).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601200" y="-1371600"/>
            <a:ext cx="4114800" cy="4114800"/>
          </a:xfrm>
          <a:prstGeom prst="ellipse">
            <a:avLst/>
          </a:prstGeom>
          <a:solidFill>
            <a:srgbClr val="DCF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4572000"/>
            <a:ext cx="3657600" cy="3657600"/>
          </a:xfrm>
          <a:prstGeom prst="ellipse">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2926080"/>
            <a:ext cx="365760" cy="365760"/>
          </a:xfrm>
          <a:prstGeom prst="ellipse">
            <a:avLst/>
          </a:prstGeom>
          <a:solidFill>
            <a:srgbClr val="5EE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4114800"/>
            <a:ext cx="228600" cy="2286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0" y="6400800"/>
            <a:ext cx="2103120" cy="365760"/>
          </a:xfrm>
          <a:prstGeom prst="rect">
            <a:avLst/>
          </a:prstGeom>
          <a:noFill/>
        </p:spPr>
        <p:txBody>
          <a:bodyPr wrap="none" lIns="0" rIns="0" tIns="0" bIns="0">
            <a:spAutoFit/>
          </a:bodyPr>
          <a:lstStyle/>
          <a:p>
            <a:pPr algn="r">
              <a:defRPr sz="1100" b="1">
                <a:solidFill>
                  <a:srgbClr val="0D5C75"/>
                </a:solidFill>
                <a:latin typeface="Segoe UI"/>
              </a:defRPr>
            </a:pPr>
            <a:r>
              <a:t>Slide - 9</a:t>
            </a:r>
          </a:p>
        </p:txBody>
      </p:sp>
      <p:sp>
        <p:nvSpPr>
          <p:cNvPr id="7" name="TextBox 6"/>
          <p:cNvSpPr txBox="1"/>
          <p:nvPr/>
        </p:nvSpPr>
        <p:spPr>
          <a:xfrm>
            <a:off x="822960" y="457200"/>
            <a:ext cx="10515600" cy="640080"/>
          </a:xfrm>
          <a:prstGeom prst="rect">
            <a:avLst/>
          </a:prstGeom>
          <a:noFill/>
        </p:spPr>
        <p:txBody>
          <a:bodyPr wrap="square" lIns="0" rIns="0" tIns="0" bIns="0">
            <a:spAutoFit/>
          </a:bodyPr>
          <a:lstStyle/>
          <a:p>
            <a:pPr>
              <a:defRPr sz="2600" b="1">
                <a:solidFill>
                  <a:srgbClr val="0D5C75"/>
                </a:solidFill>
                <a:latin typeface="Segoe UI"/>
              </a:defRPr>
            </a:pPr>
            <a:r>
              <a:t>USE CASE DIAGRAM</a:t>
            </a:r>
          </a:p>
        </p:txBody>
      </p:sp>
      <p:sp>
        <p:nvSpPr>
          <p:cNvPr id="8" name="TextBox 7"/>
          <p:cNvSpPr txBox="1"/>
          <p:nvPr/>
        </p:nvSpPr>
        <p:spPr>
          <a:xfrm>
            <a:off x="822960" y="1051560"/>
            <a:ext cx="10515600" cy="365760"/>
          </a:xfrm>
          <a:prstGeom prst="rect">
            <a:avLst/>
          </a:prstGeom>
          <a:noFill/>
        </p:spPr>
        <p:txBody>
          <a:bodyPr wrap="none">
            <a:spAutoFit/>
          </a:bodyPr>
          <a:lstStyle/>
          <a:p>
            <a:pPr>
              <a:defRPr sz="1300" b="1">
                <a:solidFill>
                  <a:srgbClr val="D97706"/>
                </a:solidFill>
                <a:latin typeface="Segoe UI"/>
              </a:defRPr>
            </a:pPr>
            <a:r>
              <a:t>USER INTERACTIONS &amp; SYSTEM BOUNDARIES:</a:t>
            </a:r>
          </a:p>
        </p:txBody>
      </p:sp>
      <p:sp>
        <p:nvSpPr>
          <p:cNvPr id="9" name="Rounded Rectangle 8"/>
          <p:cNvSpPr/>
          <p:nvPr/>
        </p:nvSpPr>
        <p:spPr>
          <a:xfrm>
            <a:off x="822960" y="1463040"/>
            <a:ext cx="5669280" cy="4663440"/>
          </a:xfrm>
          <a:prstGeom prst="roundRect">
            <a:avLst/>
          </a:prstGeom>
          <a:solidFill>
            <a:srgbClr val="FFFFFF"/>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4_uml_use_case.png"/>
          <p:cNvPicPr>
            <a:picLocks noChangeAspect="1"/>
          </p:cNvPicPr>
          <p:nvPr/>
        </p:nvPicPr>
        <p:blipFill>
          <a:blip r:embed="rId2"/>
          <a:stretch>
            <a:fillRect/>
          </a:stretch>
        </p:blipFill>
        <p:spPr>
          <a:xfrm>
            <a:off x="914400" y="1600200"/>
            <a:ext cx="5486400" cy="4297680"/>
          </a:xfrm>
          <a:prstGeom prst="rect">
            <a:avLst/>
          </a:prstGeom>
        </p:spPr>
      </p:pic>
      <p:sp>
        <p:nvSpPr>
          <p:cNvPr id="11" name="TextBox 10"/>
          <p:cNvSpPr txBox="1"/>
          <p:nvPr/>
        </p:nvSpPr>
        <p:spPr>
          <a:xfrm>
            <a:off x="6720840" y="1463040"/>
            <a:ext cx="4663440" cy="4663440"/>
          </a:xfrm>
          <a:prstGeom prst="rect">
            <a:avLst/>
          </a:prstGeom>
          <a:noFill/>
        </p:spPr>
        <p:txBody>
          <a:bodyPr wrap="square">
            <a:spAutoFit/>
          </a:bodyPr>
          <a:lstStyle/>
          <a:p>
            <a:pPr>
              <a:spcAft>
                <a:spcPts val="800"/>
              </a:spcAft>
              <a:defRPr sz="1400" b="1">
                <a:solidFill>
                  <a:srgbClr val="0F766E"/>
                </a:solidFill>
                <a:latin typeface="Segoe UI"/>
              </a:defRPr>
            </a:pPr>
            <a:r>
              <a:t>Actor Roles and Work Done:</a:t>
            </a:r>
          </a:p>
          <a:p>
            <a:pPr>
              <a:spcBef>
                <a:spcPts val="400"/>
              </a:spcBef>
              <a:spcAft>
                <a:spcPts val="400"/>
              </a:spcAft>
              <a:defRPr sz="1200" b="1">
                <a:solidFill>
                  <a:srgbClr val="0D5C75"/>
                </a:solidFill>
                <a:latin typeface="Segoe UI"/>
              </a:defRPr>
            </a:pPr>
            <a:r>
              <a:t>1. Item Owner (Lender):</a:t>
            </a:r>
          </a:p>
          <a:p>
            <a:pPr>
              <a:lnSpc>
                <a:spcPct val="135000"/>
              </a:lnSpc>
              <a:spcAft>
                <a:spcPts val="400"/>
              </a:spcAft>
            </a:pPr>
            <a:r>
              <a:rPr sz="1100" b="1">
                <a:solidFill>
                  <a:srgbClr val="0D9488"/>
                </a:solidFill>
                <a:latin typeface="Segoe UI"/>
              </a:rPr>
              <a:t>▶  </a:t>
            </a:r>
            <a:r>
              <a:rPr sz="1100">
                <a:solidFill>
                  <a:srgbClr val="1E293B"/>
                </a:solidFill>
                <a:latin typeface="Segoe UI"/>
              </a:rPr>
              <a:t>Register and login to account</a:t>
            </a:r>
          </a:p>
          <a:p>
            <a:pPr>
              <a:lnSpc>
                <a:spcPct val="135000"/>
              </a:lnSpc>
              <a:spcAft>
                <a:spcPts val="400"/>
              </a:spcAft>
            </a:pPr>
            <a:r>
              <a:rPr sz="1100" b="1">
                <a:solidFill>
                  <a:srgbClr val="0D9488"/>
                </a:solidFill>
                <a:latin typeface="Segoe UI"/>
              </a:rPr>
              <a:t>▶  </a:t>
            </a:r>
            <a:r>
              <a:rPr sz="1100">
                <a:solidFill>
                  <a:srgbClr val="1E293B"/>
                </a:solidFill>
                <a:latin typeface="Segoe UI"/>
              </a:rPr>
              <a:t>Add new items with description and photos</a:t>
            </a:r>
          </a:p>
          <a:p>
            <a:pPr>
              <a:lnSpc>
                <a:spcPct val="135000"/>
              </a:lnSpc>
              <a:spcAft>
                <a:spcPts val="400"/>
              </a:spcAft>
            </a:pPr>
            <a:r>
              <a:rPr sz="1100" b="1">
                <a:solidFill>
                  <a:srgbClr val="0D9488"/>
                </a:solidFill>
                <a:latin typeface="Segoe UI"/>
              </a:rPr>
              <a:t>▶  </a:t>
            </a:r>
            <a:r>
              <a:rPr sz="1100">
                <a:solidFill>
                  <a:srgbClr val="1E293B"/>
                </a:solidFill>
                <a:latin typeface="Segoe UI"/>
              </a:rPr>
              <a:t>View received borrow requests from neighbors</a:t>
            </a:r>
          </a:p>
          <a:p>
            <a:pPr>
              <a:lnSpc>
                <a:spcPct val="135000"/>
              </a:lnSpc>
              <a:spcAft>
                <a:spcPts val="400"/>
              </a:spcAft>
            </a:pPr>
            <a:r>
              <a:rPr sz="1100" b="1">
                <a:solidFill>
                  <a:srgbClr val="0D9488"/>
                </a:solidFill>
                <a:latin typeface="Segoe UI"/>
              </a:rPr>
              <a:t>▶  </a:t>
            </a:r>
            <a:r>
              <a:rPr sz="1100">
                <a:solidFill>
                  <a:srgbClr val="1E293B"/>
                </a:solidFill>
                <a:latin typeface="Segoe UI"/>
              </a:rPr>
              <a:t>Approve or decline requests with one click</a:t>
            </a:r>
          </a:p>
          <a:p>
            <a:pPr>
              <a:lnSpc>
                <a:spcPct val="135000"/>
              </a:lnSpc>
              <a:spcAft>
                <a:spcPts val="1000"/>
              </a:spcAft>
            </a:pPr>
            <a:r>
              <a:rPr sz="1100" b="1">
                <a:solidFill>
                  <a:srgbClr val="0D9488"/>
                </a:solidFill>
                <a:latin typeface="Segoe UI"/>
              </a:rPr>
              <a:t>▶  </a:t>
            </a:r>
            <a:r>
              <a:rPr sz="1100">
                <a:solidFill>
                  <a:srgbClr val="1E293B"/>
                </a:solidFill>
                <a:latin typeface="Segoe UI"/>
              </a:rPr>
              <a:t>Confirm item return when handed back</a:t>
            </a:r>
          </a:p>
          <a:p>
            <a:pPr>
              <a:spcBef>
                <a:spcPts val="400"/>
              </a:spcBef>
              <a:spcAft>
                <a:spcPts val="400"/>
              </a:spcAft>
              <a:defRPr sz="1200" b="1">
                <a:solidFill>
                  <a:srgbClr val="D97706"/>
                </a:solidFill>
                <a:latin typeface="Segoe UI"/>
              </a:defRPr>
            </a:pPr>
            <a:r>
              <a:t>2. Community Borrower:</a:t>
            </a:r>
          </a:p>
          <a:p>
            <a:pPr>
              <a:lnSpc>
                <a:spcPct val="135000"/>
              </a:lnSpc>
              <a:spcAft>
                <a:spcPts val="400"/>
              </a:spcAft>
            </a:pPr>
            <a:r>
              <a:rPr sz="1100" b="1">
                <a:solidFill>
                  <a:srgbClr val="0D9488"/>
                </a:solidFill>
                <a:latin typeface="Segoe UI"/>
              </a:rPr>
              <a:t>▶  </a:t>
            </a:r>
            <a:r>
              <a:rPr sz="1100">
                <a:solidFill>
                  <a:srgbClr val="1E293B"/>
                </a:solidFill>
                <a:latin typeface="Segoe UI"/>
              </a:rPr>
              <a:t>Browse and search items by category</a:t>
            </a:r>
          </a:p>
          <a:p>
            <a:pPr>
              <a:lnSpc>
                <a:spcPct val="135000"/>
              </a:lnSpc>
              <a:spcAft>
                <a:spcPts val="400"/>
              </a:spcAft>
            </a:pPr>
            <a:r>
              <a:rPr sz="1100" b="1">
                <a:solidFill>
                  <a:srgbClr val="0D9488"/>
                </a:solidFill>
                <a:latin typeface="Segoe UI"/>
              </a:rPr>
              <a:t>▶  </a:t>
            </a:r>
            <a:r>
              <a:rPr sz="1100">
                <a:solidFill>
                  <a:srgbClr val="1E293B"/>
                </a:solidFill>
                <a:latin typeface="Segoe UI"/>
              </a:rPr>
              <a:t>View item details and live availability</a:t>
            </a:r>
          </a:p>
          <a:p>
            <a:pPr>
              <a:lnSpc>
                <a:spcPct val="135000"/>
              </a:lnSpc>
              <a:spcAft>
                <a:spcPts val="400"/>
              </a:spcAft>
            </a:pPr>
            <a:r>
              <a:rPr sz="1100" b="1">
                <a:solidFill>
                  <a:srgbClr val="0D9488"/>
                </a:solidFill>
                <a:latin typeface="Segoe UI"/>
              </a:rPr>
              <a:t>▶  </a:t>
            </a:r>
            <a:r>
              <a:rPr sz="1100">
                <a:solidFill>
                  <a:srgbClr val="1E293B"/>
                </a:solidFill>
                <a:latin typeface="Segoe UI"/>
              </a:rPr>
              <a:t>Submit borrow request with return date</a:t>
            </a:r>
          </a:p>
          <a:p>
            <a:pPr>
              <a:lnSpc>
                <a:spcPct val="135000"/>
              </a:lnSpc>
              <a:spcAft>
                <a:spcPts val="400"/>
              </a:spcAft>
            </a:pPr>
            <a:r>
              <a:rPr sz="1100" b="1">
                <a:solidFill>
                  <a:srgbClr val="0D9488"/>
                </a:solidFill>
                <a:latin typeface="Segoe UI"/>
              </a:rPr>
              <a:t>▶  </a:t>
            </a:r>
            <a:r>
              <a:rPr sz="1100">
                <a:solidFill>
                  <a:srgbClr val="1E293B"/>
                </a:solidFill>
                <a:latin typeface="Segoe UI"/>
              </a:rPr>
              <a:t>Track status of borrowed items in dashboard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601200" y="-1371600"/>
            <a:ext cx="4114800" cy="4114800"/>
          </a:xfrm>
          <a:prstGeom prst="ellipse">
            <a:avLst/>
          </a:prstGeom>
          <a:solidFill>
            <a:srgbClr val="DCF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4572000"/>
            <a:ext cx="3657600" cy="3657600"/>
          </a:xfrm>
          <a:prstGeom prst="ellipse">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2926080"/>
            <a:ext cx="365760" cy="365760"/>
          </a:xfrm>
          <a:prstGeom prst="ellipse">
            <a:avLst/>
          </a:prstGeom>
          <a:solidFill>
            <a:srgbClr val="5EE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4114800"/>
            <a:ext cx="228600" cy="2286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0" y="6400800"/>
            <a:ext cx="2103120" cy="365760"/>
          </a:xfrm>
          <a:prstGeom prst="rect">
            <a:avLst/>
          </a:prstGeom>
          <a:noFill/>
        </p:spPr>
        <p:txBody>
          <a:bodyPr wrap="none" lIns="0" rIns="0" tIns="0" bIns="0">
            <a:spAutoFit/>
          </a:bodyPr>
          <a:lstStyle/>
          <a:p>
            <a:pPr algn="r">
              <a:defRPr sz="1100" b="1">
                <a:solidFill>
                  <a:srgbClr val="0D5C75"/>
                </a:solidFill>
                <a:latin typeface="Segoe UI"/>
              </a:defRPr>
            </a:pPr>
            <a:r>
              <a:t>Slide - 10</a:t>
            </a:r>
          </a:p>
        </p:txBody>
      </p:sp>
      <p:sp>
        <p:nvSpPr>
          <p:cNvPr id="7" name="TextBox 6"/>
          <p:cNvSpPr txBox="1"/>
          <p:nvPr/>
        </p:nvSpPr>
        <p:spPr>
          <a:xfrm>
            <a:off x="822960" y="457200"/>
            <a:ext cx="10515600" cy="640080"/>
          </a:xfrm>
          <a:prstGeom prst="rect">
            <a:avLst/>
          </a:prstGeom>
          <a:noFill/>
        </p:spPr>
        <p:txBody>
          <a:bodyPr wrap="square" lIns="0" rIns="0" tIns="0" bIns="0">
            <a:spAutoFit/>
          </a:bodyPr>
          <a:lstStyle/>
          <a:p>
            <a:pPr>
              <a:defRPr sz="2600" b="1">
                <a:solidFill>
                  <a:srgbClr val="0D5C75"/>
                </a:solidFill>
                <a:latin typeface="Segoe UI"/>
              </a:defRPr>
            </a:pPr>
            <a:r>
              <a:t>DATABASE DESIGN</a:t>
            </a:r>
          </a:p>
        </p:txBody>
      </p:sp>
      <p:sp>
        <p:nvSpPr>
          <p:cNvPr id="8" name="TextBox 7"/>
          <p:cNvSpPr txBox="1"/>
          <p:nvPr/>
        </p:nvSpPr>
        <p:spPr>
          <a:xfrm>
            <a:off x="822960" y="1051560"/>
            <a:ext cx="10515600" cy="365760"/>
          </a:xfrm>
          <a:prstGeom prst="rect">
            <a:avLst/>
          </a:prstGeom>
          <a:noFill/>
        </p:spPr>
        <p:txBody>
          <a:bodyPr wrap="none">
            <a:spAutoFit/>
          </a:bodyPr>
          <a:lstStyle/>
          <a:p>
            <a:pPr>
              <a:defRPr sz="1300" b="1">
                <a:solidFill>
                  <a:srgbClr val="D97706"/>
                </a:solidFill>
                <a:latin typeface="Segoe UI"/>
              </a:defRPr>
            </a:pPr>
            <a:r>
              <a:t>ENTITY-RELATIONSHIP MODEL &amp; DATABASE TABLES:</a:t>
            </a:r>
          </a:p>
        </p:txBody>
      </p:sp>
      <p:sp>
        <p:nvSpPr>
          <p:cNvPr id="9" name="Rounded Rectangle 8"/>
          <p:cNvSpPr/>
          <p:nvPr/>
        </p:nvSpPr>
        <p:spPr>
          <a:xfrm>
            <a:off x="822960" y="1463040"/>
            <a:ext cx="5669280" cy="4663440"/>
          </a:xfrm>
          <a:prstGeom prst="roundRect">
            <a:avLst/>
          </a:prstGeom>
          <a:solidFill>
            <a:srgbClr val="FFFFFF"/>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6_database_erd.png"/>
          <p:cNvPicPr>
            <a:picLocks noChangeAspect="1"/>
          </p:cNvPicPr>
          <p:nvPr/>
        </p:nvPicPr>
        <p:blipFill>
          <a:blip r:embed="rId2"/>
          <a:stretch>
            <a:fillRect/>
          </a:stretch>
        </p:blipFill>
        <p:spPr>
          <a:xfrm>
            <a:off x="914400" y="1600200"/>
            <a:ext cx="5486400" cy="4297680"/>
          </a:xfrm>
          <a:prstGeom prst="rect">
            <a:avLst/>
          </a:prstGeom>
        </p:spPr>
      </p:pic>
      <p:sp>
        <p:nvSpPr>
          <p:cNvPr id="11" name="TextBox 10"/>
          <p:cNvSpPr txBox="1"/>
          <p:nvPr/>
        </p:nvSpPr>
        <p:spPr>
          <a:xfrm>
            <a:off x="6720840" y="1463040"/>
            <a:ext cx="4663440" cy="4663440"/>
          </a:xfrm>
          <a:prstGeom prst="rect">
            <a:avLst/>
          </a:prstGeom>
          <a:noFill/>
        </p:spPr>
        <p:txBody>
          <a:bodyPr wrap="square">
            <a:spAutoFit/>
          </a:bodyPr>
          <a:lstStyle/>
          <a:p>
            <a:pPr>
              <a:spcAft>
                <a:spcPts val="1000"/>
              </a:spcAft>
              <a:defRPr sz="1400" b="1">
                <a:solidFill>
                  <a:srgbClr val="0F766E"/>
                </a:solidFill>
                <a:latin typeface="Segoe UI"/>
              </a:defRPr>
            </a:pPr>
            <a:r>
              <a:t>Database Structure Explained:</a:t>
            </a:r>
          </a:p>
          <a:p>
            <a:pPr>
              <a:lnSpc>
                <a:spcPct val="135000"/>
              </a:lnSpc>
              <a:spcAft>
                <a:spcPts val="1200"/>
              </a:spcAft>
            </a:pPr>
            <a:r>
              <a:rPr sz="1100" b="1">
                <a:solidFill>
                  <a:srgbClr val="0D9488"/>
                </a:solidFill>
                <a:latin typeface="Segoe UI"/>
              </a:rPr>
              <a:t>▶  </a:t>
            </a:r>
            <a:r>
              <a:rPr sz="1100" b="1">
                <a:solidFill>
                  <a:srgbClr val="0F172A"/>
                </a:solidFill>
                <a:latin typeface="Segoe UI"/>
              </a:rPr>
              <a:t>Users Table: </a:t>
            </a:r>
            <a:r>
              <a:rPr sz="1100">
                <a:solidFill>
                  <a:srgbClr val="1E293B"/>
                </a:solidFill>
                <a:latin typeface="Segoe UI"/>
              </a:rPr>
              <a:t>Stores user ID, username, email address, encrypted password, phone number, and flat/room number.</a:t>
            </a:r>
          </a:p>
          <a:p>
            <a:pPr>
              <a:lnSpc>
                <a:spcPct val="135000"/>
              </a:lnSpc>
              <a:spcAft>
                <a:spcPts val="1200"/>
              </a:spcAft>
            </a:pPr>
            <a:r>
              <a:rPr sz="1100" b="1">
                <a:solidFill>
                  <a:srgbClr val="0D9488"/>
                </a:solidFill>
                <a:latin typeface="Segoe UI"/>
              </a:rPr>
              <a:t>▶  </a:t>
            </a:r>
            <a:r>
              <a:rPr sz="1100" b="1">
                <a:solidFill>
                  <a:srgbClr val="0F172A"/>
                </a:solidFill>
                <a:latin typeface="Segoe UI"/>
              </a:rPr>
              <a:t>Items Table: </a:t>
            </a:r>
            <a:r>
              <a:rPr sz="1100">
                <a:solidFill>
                  <a:srgbClr val="1E293B"/>
                </a:solidFill>
                <a:latin typeface="Segoe UI"/>
              </a:rPr>
              <a:t>Stores item ID, title, description, category, photo URL, owner ID, and status (Available, Pending, Lent).</a:t>
            </a:r>
          </a:p>
          <a:p>
            <a:pPr>
              <a:lnSpc>
                <a:spcPct val="135000"/>
              </a:lnSpc>
              <a:spcAft>
                <a:spcPts val="1200"/>
              </a:spcAft>
            </a:pPr>
            <a:r>
              <a:rPr sz="1100" b="1">
                <a:solidFill>
                  <a:srgbClr val="0D9488"/>
                </a:solidFill>
                <a:latin typeface="Segoe UI"/>
              </a:rPr>
              <a:t>▶  </a:t>
            </a:r>
            <a:r>
              <a:rPr sz="1100" b="1">
                <a:solidFill>
                  <a:srgbClr val="0F172A"/>
                </a:solidFill>
                <a:latin typeface="Segoe UI"/>
              </a:rPr>
              <a:t>Borrow Requests Table: </a:t>
            </a:r>
            <a:r>
              <a:rPr sz="1100">
                <a:solidFill>
                  <a:srgbClr val="1E293B"/>
                </a:solidFill>
                <a:latin typeface="Segoe UI"/>
              </a:rPr>
              <a:t>Stores request ID, item ID, borrower ID, request date, return date, and request status (Pending, Approved, Rejected, Returned).</a:t>
            </a:r>
          </a:p>
          <a:p>
            <a:pPr>
              <a:lnSpc>
                <a:spcPct val="135000"/>
              </a:lnSpc>
              <a:spcAft>
                <a:spcPts val="800"/>
              </a:spcAft>
            </a:pPr>
            <a:r>
              <a:rPr sz="1100" b="1">
                <a:solidFill>
                  <a:srgbClr val="0D9488"/>
                </a:solidFill>
                <a:latin typeface="Segoe UI"/>
              </a:rPr>
              <a:t>▶  </a:t>
            </a:r>
            <a:r>
              <a:rPr sz="1100" b="1">
                <a:solidFill>
                  <a:srgbClr val="0F172A"/>
                </a:solidFill>
                <a:latin typeface="Segoe UI"/>
              </a:rPr>
              <a:t>Relational Connections: </a:t>
            </a:r>
            <a:r>
              <a:rPr sz="1100">
                <a:solidFill>
                  <a:srgbClr val="1E293B"/>
                </a:solidFill>
                <a:latin typeface="Segoe UI"/>
              </a:rPr>
              <a:t>Foreign keys connect items and borrow requests to the users table, keeping all records organized and safe.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601200" y="-1371600"/>
            <a:ext cx="4114800" cy="4114800"/>
          </a:xfrm>
          <a:prstGeom prst="ellipse">
            <a:avLst/>
          </a:prstGeom>
          <a:solidFill>
            <a:srgbClr val="DCF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4572000"/>
            <a:ext cx="3657600" cy="3657600"/>
          </a:xfrm>
          <a:prstGeom prst="ellipse">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2926080"/>
            <a:ext cx="365760" cy="365760"/>
          </a:xfrm>
          <a:prstGeom prst="ellipse">
            <a:avLst/>
          </a:prstGeom>
          <a:solidFill>
            <a:srgbClr val="5EE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4114800"/>
            <a:ext cx="228600" cy="2286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0" y="6400800"/>
            <a:ext cx="2103120" cy="365760"/>
          </a:xfrm>
          <a:prstGeom prst="rect">
            <a:avLst/>
          </a:prstGeom>
          <a:noFill/>
        </p:spPr>
        <p:txBody>
          <a:bodyPr wrap="none" lIns="0" rIns="0" tIns="0" bIns="0">
            <a:spAutoFit/>
          </a:bodyPr>
          <a:lstStyle/>
          <a:p>
            <a:pPr algn="r">
              <a:defRPr sz="1100" b="1">
                <a:solidFill>
                  <a:srgbClr val="0D5C75"/>
                </a:solidFill>
                <a:latin typeface="Segoe UI"/>
              </a:defRPr>
            </a:pPr>
            <a:r>
              <a:t>Slide - 11</a:t>
            </a:r>
          </a:p>
        </p:txBody>
      </p:sp>
      <p:sp>
        <p:nvSpPr>
          <p:cNvPr id="7" name="TextBox 6"/>
          <p:cNvSpPr txBox="1"/>
          <p:nvPr/>
        </p:nvSpPr>
        <p:spPr>
          <a:xfrm>
            <a:off x="822960" y="457200"/>
            <a:ext cx="10515600" cy="640080"/>
          </a:xfrm>
          <a:prstGeom prst="rect">
            <a:avLst/>
          </a:prstGeom>
          <a:noFill/>
        </p:spPr>
        <p:txBody>
          <a:bodyPr wrap="square" lIns="0" rIns="0" tIns="0" bIns="0">
            <a:spAutoFit/>
          </a:bodyPr>
          <a:lstStyle/>
          <a:p>
            <a:pPr>
              <a:defRPr sz="2600" b="1">
                <a:solidFill>
                  <a:srgbClr val="0D5C75"/>
                </a:solidFill>
                <a:latin typeface="Segoe UI"/>
              </a:defRPr>
            </a:pPr>
            <a:r>
              <a:t>MODULE DESCRIPTION</a:t>
            </a:r>
          </a:p>
        </p:txBody>
      </p:sp>
      <p:sp>
        <p:nvSpPr>
          <p:cNvPr id="8" name="TextBox 7"/>
          <p:cNvSpPr txBox="1"/>
          <p:nvPr/>
        </p:nvSpPr>
        <p:spPr>
          <a:xfrm>
            <a:off x="822960" y="1051560"/>
            <a:ext cx="10515600" cy="365760"/>
          </a:xfrm>
          <a:prstGeom prst="rect">
            <a:avLst/>
          </a:prstGeom>
          <a:noFill/>
        </p:spPr>
        <p:txBody>
          <a:bodyPr wrap="none">
            <a:spAutoFit/>
          </a:bodyPr>
          <a:lstStyle/>
          <a:p>
            <a:pPr>
              <a:defRPr sz="1200">
                <a:solidFill>
                  <a:srgbClr val="1E293B"/>
                </a:solidFill>
                <a:latin typeface="Segoe UI"/>
              </a:defRPr>
            </a:pPr>
            <a:r>
              <a:t>Following are the modules and work involved in each module. In this project the modules correspond to the use cases:</a:t>
            </a:r>
          </a:p>
        </p:txBody>
      </p:sp>
      <p:graphicFrame>
        <p:nvGraphicFramePr>
          <p:cNvPr id="9" name="Table 8"/>
          <p:cNvGraphicFramePr>
            <a:graphicFrameLocks noGrp="1"/>
          </p:cNvGraphicFramePr>
          <p:nvPr/>
        </p:nvGraphicFramePr>
        <p:xfrm>
          <a:off x="822960" y="1463040"/>
          <a:ext cx="10515600" cy="2560320"/>
        </p:xfrm>
        <a:graphic>
          <a:graphicData uri="http://schemas.openxmlformats.org/drawingml/2006/table">
            <a:tbl>
              <a:tblPr firstRow="1" bandRow="1">
                <a:tableStyleId>{5C22544A-7EE6-4342-B048-85BDC9FD1C3A}</a:tableStyleId>
              </a:tblPr>
              <a:tblGrid>
                <a:gridCol w="914400"/>
                <a:gridCol w="3291840"/>
                <a:gridCol w="6309360"/>
              </a:tblGrid>
              <a:tr h="365760">
                <a:tc>
                  <a:txBody>
                    <a:bodyPr/>
                    <a:lstStyle/>
                    <a:p>
                      <a:pPr>
                        <a:defRPr sz="1100" b="1">
                          <a:solidFill>
                            <a:srgbClr val="0D5C75"/>
                          </a:solidFill>
                          <a:latin typeface="Segoe UI"/>
                        </a:defRPr>
                      </a:pPr>
                      <a:r>
                        <a:t>S.No</a:t>
                      </a:r>
                    </a:p>
                  </a:txBody>
                  <a:tcPr>
                    <a:solidFill>
                      <a:srgbClr val="CCFBF1"/>
                    </a:solidFill>
                  </a:tcPr>
                </a:tc>
                <a:tc>
                  <a:txBody>
                    <a:bodyPr/>
                    <a:lstStyle/>
                    <a:p>
                      <a:pPr>
                        <a:defRPr sz="1100" b="1">
                          <a:solidFill>
                            <a:srgbClr val="0D5C75"/>
                          </a:solidFill>
                          <a:latin typeface="Segoe UI"/>
                        </a:defRPr>
                      </a:pPr>
                      <a:r>
                        <a:t>Module</a:t>
                      </a:r>
                    </a:p>
                  </a:txBody>
                  <a:tcPr>
                    <a:solidFill>
                      <a:srgbClr val="CCFBF1"/>
                    </a:solidFill>
                  </a:tcPr>
                </a:tc>
                <a:tc>
                  <a:txBody>
                    <a:bodyPr/>
                    <a:lstStyle/>
                    <a:p>
                      <a:pPr>
                        <a:defRPr sz="1100" b="1">
                          <a:solidFill>
                            <a:srgbClr val="0D5C75"/>
                          </a:solidFill>
                          <a:latin typeface="Segoe UI"/>
                        </a:defRPr>
                      </a:pPr>
                      <a:r>
                        <a:t>Work Completed in Module</a:t>
                      </a:r>
                    </a:p>
                  </a:txBody>
                  <a:tcPr>
                    <a:solidFill>
                      <a:srgbClr val="CCFBF1"/>
                    </a:solidFill>
                  </a:tcPr>
                </a:tc>
              </a:tr>
              <a:tr h="365760">
                <a:tc>
                  <a:txBody>
                    <a:bodyPr/>
                    <a:lstStyle/>
                    <a:p>
                      <a:pPr>
                        <a:defRPr sz="1050" b="1">
                          <a:solidFill>
                            <a:srgbClr val="0D5C75"/>
                          </a:solidFill>
                          <a:latin typeface="Segoe UI"/>
                        </a:defRPr>
                      </a:pPr>
                      <a:r>
                        <a:t>1</a:t>
                      </a:r>
                    </a:p>
                  </a:txBody>
                  <a:tcPr>
                    <a:solidFill>
                      <a:srgbClr val="FFFFFF"/>
                    </a:solidFill>
                  </a:tcPr>
                </a:tc>
                <a:tc>
                  <a:txBody>
                    <a:bodyPr/>
                    <a:lstStyle/>
                    <a:p>
                      <a:pPr>
                        <a:defRPr sz="1050" b="1">
                          <a:solidFill>
                            <a:srgbClr val="0F172A"/>
                          </a:solidFill>
                          <a:latin typeface="Segoe UI"/>
                        </a:defRPr>
                      </a:pPr>
                      <a:r>
                        <a:t>User Authentication</a:t>
                      </a:r>
                    </a:p>
                  </a:txBody>
                  <a:tcPr>
                    <a:solidFill>
                      <a:srgbClr val="FFFFFF"/>
                    </a:solidFill>
                  </a:tcPr>
                </a:tc>
                <a:tc>
                  <a:txBody>
                    <a:bodyPr/>
                    <a:lstStyle/>
                    <a:p>
                      <a:pPr>
                        <a:defRPr sz="1000">
                          <a:solidFill>
                            <a:srgbClr val="1E293B"/>
                          </a:solidFill>
                          <a:latin typeface="Segoe UI"/>
                        </a:defRPr>
                      </a:pPr>
                      <a:r>
                        <a:t>User registration, login, and password encryption</a:t>
                      </a:r>
                    </a:p>
                  </a:txBody>
                  <a:tcPr>
                    <a:solidFill>
                      <a:srgbClr val="FFFFFF"/>
                    </a:solidFill>
                  </a:tcPr>
                </a:tc>
              </a:tr>
              <a:tr h="365760">
                <a:tc>
                  <a:txBody>
                    <a:bodyPr/>
                    <a:lstStyle/>
                    <a:p>
                      <a:pPr>
                        <a:defRPr sz="1050" b="1">
                          <a:solidFill>
                            <a:srgbClr val="0D5C75"/>
                          </a:solidFill>
                          <a:latin typeface="Segoe UI"/>
                        </a:defRPr>
                      </a:pPr>
                      <a:r>
                        <a:t>2</a:t>
                      </a:r>
                    </a:p>
                  </a:txBody>
                  <a:tcPr>
                    <a:solidFill>
                      <a:srgbClr val="FFFFFF"/>
                    </a:solidFill>
                  </a:tcPr>
                </a:tc>
                <a:tc>
                  <a:txBody>
                    <a:bodyPr/>
                    <a:lstStyle/>
                    <a:p>
                      <a:pPr>
                        <a:defRPr sz="1050" b="1">
                          <a:solidFill>
                            <a:srgbClr val="0F172A"/>
                          </a:solidFill>
                          <a:latin typeface="Segoe UI"/>
                        </a:defRPr>
                      </a:pPr>
                      <a:r>
                        <a:t>Item Catalog &amp; Upload</a:t>
                      </a:r>
                    </a:p>
                  </a:txBody>
                  <a:tcPr>
                    <a:solidFill>
                      <a:srgbClr val="FFFFFF"/>
                    </a:solidFill>
                  </a:tcPr>
                </a:tc>
                <a:tc>
                  <a:txBody>
                    <a:bodyPr/>
                    <a:lstStyle/>
                    <a:p>
                      <a:pPr>
                        <a:defRPr sz="1000">
                          <a:solidFill>
                            <a:srgbClr val="1E293B"/>
                          </a:solidFill>
                          <a:latin typeface="Segoe UI"/>
                        </a:defRPr>
                      </a:pPr>
                      <a:r>
                        <a:t>Adding items, choosing categories, and photo upload</a:t>
                      </a:r>
                    </a:p>
                  </a:txBody>
                  <a:tcPr>
                    <a:solidFill>
                      <a:srgbClr val="FFFFFF"/>
                    </a:solidFill>
                  </a:tcPr>
                </a:tc>
              </a:tr>
              <a:tr h="365760">
                <a:tc>
                  <a:txBody>
                    <a:bodyPr/>
                    <a:lstStyle/>
                    <a:p>
                      <a:pPr>
                        <a:defRPr sz="1050" b="1">
                          <a:solidFill>
                            <a:srgbClr val="0D5C75"/>
                          </a:solidFill>
                          <a:latin typeface="Segoe UI"/>
                        </a:defRPr>
                      </a:pPr>
                      <a:r>
                        <a:t>3</a:t>
                      </a:r>
                    </a:p>
                  </a:txBody>
                  <a:tcPr>
                    <a:solidFill>
                      <a:srgbClr val="FFFFFF"/>
                    </a:solidFill>
                  </a:tcPr>
                </a:tc>
                <a:tc>
                  <a:txBody>
                    <a:bodyPr/>
                    <a:lstStyle/>
                    <a:p>
                      <a:pPr>
                        <a:defRPr sz="1050" b="1">
                          <a:solidFill>
                            <a:srgbClr val="0F172A"/>
                          </a:solidFill>
                          <a:latin typeface="Segoe UI"/>
                        </a:defRPr>
                      </a:pPr>
                      <a:r>
                        <a:t>Search &amp; Filtering</a:t>
                      </a:r>
                    </a:p>
                  </a:txBody>
                  <a:tcPr>
                    <a:solidFill>
                      <a:srgbClr val="FFFFFF"/>
                    </a:solidFill>
                  </a:tcPr>
                </a:tc>
                <a:tc>
                  <a:txBody>
                    <a:bodyPr/>
                    <a:lstStyle/>
                    <a:p>
                      <a:pPr>
                        <a:defRPr sz="1000">
                          <a:solidFill>
                            <a:srgbClr val="1E293B"/>
                          </a:solidFill>
                          <a:latin typeface="Segoe UI"/>
                        </a:defRPr>
                      </a:pPr>
                      <a:r>
                        <a:t>Keyword search and dynamic category filter buttons</a:t>
                      </a:r>
                    </a:p>
                  </a:txBody>
                  <a:tcPr>
                    <a:solidFill>
                      <a:srgbClr val="FFFFFF"/>
                    </a:solidFill>
                  </a:tcPr>
                </a:tc>
              </a:tr>
              <a:tr h="365760">
                <a:tc>
                  <a:txBody>
                    <a:bodyPr/>
                    <a:lstStyle/>
                    <a:p>
                      <a:pPr>
                        <a:defRPr sz="1050" b="1">
                          <a:solidFill>
                            <a:srgbClr val="0D5C75"/>
                          </a:solidFill>
                          <a:latin typeface="Segoe UI"/>
                        </a:defRPr>
                      </a:pPr>
                      <a:r>
                        <a:t>4</a:t>
                      </a:r>
                    </a:p>
                  </a:txBody>
                  <a:tcPr>
                    <a:solidFill>
                      <a:srgbClr val="FFFFFF"/>
                    </a:solidFill>
                  </a:tcPr>
                </a:tc>
                <a:tc>
                  <a:txBody>
                    <a:bodyPr/>
                    <a:lstStyle/>
                    <a:p>
                      <a:pPr>
                        <a:defRPr sz="1050" b="1">
                          <a:solidFill>
                            <a:srgbClr val="0F172A"/>
                          </a:solidFill>
                          <a:latin typeface="Segoe UI"/>
                        </a:defRPr>
                      </a:pPr>
                      <a:r>
                        <a:t>Borrowing Workflow</a:t>
                      </a:r>
                    </a:p>
                  </a:txBody>
                  <a:tcPr>
                    <a:solidFill>
                      <a:srgbClr val="FFFFFF"/>
                    </a:solidFill>
                  </a:tcPr>
                </a:tc>
                <a:tc>
                  <a:txBody>
                    <a:bodyPr/>
                    <a:lstStyle/>
                    <a:p>
                      <a:pPr>
                        <a:defRPr sz="1000">
                          <a:solidFill>
                            <a:srgbClr val="1E293B"/>
                          </a:solidFill>
                          <a:latin typeface="Segoe UI"/>
                        </a:defRPr>
                      </a:pPr>
                      <a:r>
                        <a:t>Submitting borrow requests and owner approval/rejection</a:t>
                      </a:r>
                    </a:p>
                  </a:txBody>
                  <a:tcPr>
                    <a:solidFill>
                      <a:srgbClr val="FFFFFF"/>
                    </a:solidFill>
                  </a:tcPr>
                </a:tc>
              </a:tr>
              <a:tr h="365760">
                <a:tc>
                  <a:txBody>
                    <a:bodyPr/>
                    <a:lstStyle/>
                    <a:p>
                      <a:pPr>
                        <a:defRPr sz="1050" b="1">
                          <a:solidFill>
                            <a:srgbClr val="0D5C75"/>
                          </a:solidFill>
                          <a:latin typeface="Segoe UI"/>
                        </a:defRPr>
                      </a:pPr>
                      <a:r>
                        <a:t>5</a:t>
                      </a:r>
                    </a:p>
                  </a:txBody>
                  <a:tcPr>
                    <a:solidFill>
                      <a:srgbClr val="FFFFFF"/>
                    </a:solidFill>
                  </a:tcPr>
                </a:tc>
                <a:tc>
                  <a:txBody>
                    <a:bodyPr/>
                    <a:lstStyle/>
                    <a:p>
                      <a:pPr>
                        <a:defRPr sz="1050" b="1">
                          <a:solidFill>
                            <a:srgbClr val="0F172A"/>
                          </a:solidFill>
                          <a:latin typeface="Segoe UI"/>
                        </a:defRPr>
                      </a:pPr>
                      <a:r>
                        <a:t>Return &amp; Audit Tracking</a:t>
                      </a:r>
                    </a:p>
                  </a:txBody>
                  <a:tcPr>
                    <a:solidFill>
                      <a:srgbClr val="FFFFFF"/>
                    </a:solidFill>
                  </a:tcPr>
                </a:tc>
                <a:tc>
                  <a:txBody>
                    <a:bodyPr/>
                    <a:lstStyle/>
                    <a:p>
                      <a:pPr>
                        <a:defRPr sz="1000">
                          <a:solidFill>
                            <a:srgbClr val="1E293B"/>
                          </a:solidFill>
                          <a:latin typeface="Segoe UI"/>
                        </a:defRPr>
                      </a:pPr>
                      <a:r>
                        <a:t>Confirming item return and permanent transaction logs</a:t>
                      </a:r>
                    </a:p>
                  </a:txBody>
                  <a:tcPr>
                    <a:solidFill>
                      <a:srgbClr val="FFFFFF"/>
                    </a:solidFill>
                  </a:tcPr>
                </a:tc>
              </a:tr>
              <a:tr h="365760">
                <a:tc>
                  <a:txBody>
                    <a:bodyPr/>
                    <a:lstStyle/>
                    <a:p>
                      <a:pPr>
                        <a:defRPr sz="1050" b="1">
                          <a:solidFill>
                            <a:srgbClr val="0D5C75"/>
                          </a:solidFill>
                          <a:latin typeface="Segoe UI"/>
                        </a:defRPr>
                      </a:pPr>
                      <a:r>
                        <a:t>6</a:t>
                      </a:r>
                    </a:p>
                  </a:txBody>
                  <a:tcPr>
                    <a:solidFill>
                      <a:srgbClr val="FFFFFF"/>
                    </a:solidFill>
                  </a:tcPr>
                </a:tc>
                <a:tc>
                  <a:txBody>
                    <a:bodyPr/>
                    <a:lstStyle/>
                    <a:p>
                      <a:pPr>
                        <a:defRPr sz="1050" b="1">
                          <a:solidFill>
                            <a:srgbClr val="0F172A"/>
                          </a:solidFill>
                          <a:latin typeface="Segoe UI"/>
                        </a:defRPr>
                      </a:pPr>
                      <a:r>
                        <a:t>User Dashboard</a:t>
                      </a:r>
                    </a:p>
                  </a:txBody>
                  <a:tcPr>
                    <a:solidFill>
                      <a:srgbClr val="FFFFFF"/>
                    </a:solidFill>
                  </a:tcPr>
                </a:tc>
                <a:tc>
                  <a:txBody>
                    <a:bodyPr/>
                    <a:lstStyle/>
                    <a:p>
                      <a:pPr>
                        <a:defRPr sz="1000">
                          <a:solidFill>
                            <a:srgbClr val="1E293B"/>
                          </a:solidFill>
                          <a:latin typeface="Segoe UI"/>
                        </a:defRPr>
                      </a:pPr>
                      <a:r>
                        <a:t>Unified view of listed items, requests, and active loans</a:t>
                      </a:r>
                    </a:p>
                  </a:txBody>
                  <a:tcPr>
                    <a:solidFill>
                      <a:srgbClr val="FFFFFF"/>
                    </a:solidFill>
                  </a:tcPr>
                </a:tc>
              </a:tr>
            </a:tbl>
          </a:graphicData>
        </a:graphic>
      </p:graphicFrame>
      <p:sp>
        <p:nvSpPr>
          <p:cNvPr id="10" name="TextBox 9"/>
          <p:cNvSpPr txBox="1"/>
          <p:nvPr/>
        </p:nvSpPr>
        <p:spPr>
          <a:xfrm>
            <a:off x="822960" y="4206240"/>
            <a:ext cx="10515600" cy="2011680"/>
          </a:xfrm>
          <a:prstGeom prst="rect">
            <a:avLst/>
          </a:prstGeom>
          <a:noFill/>
        </p:spPr>
        <p:txBody>
          <a:bodyPr wrap="square">
            <a:spAutoFit/>
          </a:bodyPr>
          <a:lstStyle/>
          <a:p>
            <a:pPr>
              <a:spcAft>
                <a:spcPts val="600"/>
              </a:spcAft>
              <a:defRPr sz="1300" b="1">
                <a:solidFill>
                  <a:srgbClr val="0F766E"/>
                </a:solidFill>
                <a:latin typeface="Segoe UI"/>
              </a:defRPr>
            </a:pPr>
            <a:r>
              <a:t>How the Modules Connect Together:</a:t>
            </a:r>
          </a:p>
          <a:p>
            <a:pPr>
              <a:lnSpc>
                <a:spcPct val="135000"/>
              </a:lnSpc>
              <a:spcAft>
                <a:spcPts val="600"/>
              </a:spcAft>
            </a:pPr>
            <a:r>
              <a:rPr sz="1100" b="1">
                <a:solidFill>
                  <a:srgbClr val="0D9488"/>
                </a:solidFill>
                <a:latin typeface="Segoe UI"/>
              </a:rPr>
              <a:t>▶  </a:t>
            </a:r>
            <a:r>
              <a:rPr sz="1100" b="1">
                <a:solidFill>
                  <a:srgbClr val="0F172A"/>
                </a:solidFill>
                <a:latin typeface="Segoe UI"/>
              </a:rPr>
              <a:t>User Security: </a:t>
            </a:r>
            <a:r>
              <a:rPr sz="1100">
                <a:solidFill>
                  <a:srgbClr val="1E293B"/>
                </a:solidFill>
                <a:latin typeface="Segoe UI"/>
              </a:rPr>
              <a:t>All passwords are encrypted with PBKDF2:SHA256. User sessions keep accounts secure when navigating pages.</a:t>
            </a:r>
          </a:p>
          <a:p>
            <a:pPr>
              <a:lnSpc>
                <a:spcPct val="135000"/>
              </a:lnSpc>
              <a:spcAft>
                <a:spcPts val="600"/>
              </a:spcAft>
            </a:pPr>
            <a:r>
              <a:rPr sz="1100" b="1">
                <a:solidFill>
                  <a:srgbClr val="0D9488"/>
                </a:solidFill>
                <a:latin typeface="Segoe UI"/>
              </a:rPr>
              <a:t>▶  </a:t>
            </a:r>
            <a:r>
              <a:rPr sz="1100" b="1">
                <a:solidFill>
                  <a:srgbClr val="0F172A"/>
                </a:solidFill>
                <a:latin typeface="Segoe UI"/>
              </a:rPr>
              <a:t>Automated Status Updates: </a:t>
            </a:r>
            <a:r>
              <a:rPr sz="1100">
                <a:solidFill>
                  <a:srgbClr val="1E293B"/>
                </a:solidFill>
                <a:latin typeface="Segoe UI"/>
              </a:rPr>
              <a:t>When a request is approved, the item status changes from Available to Lent in real-time, preventing double booking.</a:t>
            </a:r>
          </a:p>
          <a:p>
            <a:pPr>
              <a:lnSpc>
                <a:spcPct val="135000"/>
              </a:lnSpc>
              <a:spcAft>
                <a:spcPts val="0"/>
              </a:spcAft>
            </a:pPr>
            <a:r>
              <a:rPr sz="1100" b="1">
                <a:solidFill>
                  <a:srgbClr val="0D9488"/>
                </a:solidFill>
                <a:latin typeface="Segoe UI"/>
              </a:rPr>
              <a:t>▶  </a:t>
            </a:r>
            <a:r>
              <a:rPr sz="1100" b="1">
                <a:solidFill>
                  <a:srgbClr val="0F172A"/>
                </a:solidFill>
                <a:latin typeface="Segoe UI"/>
              </a:rPr>
              <a:t>Simple Dashboard Control: </a:t>
            </a:r>
            <a:r>
              <a:rPr sz="1100">
                <a:solidFill>
                  <a:srgbClr val="1E293B"/>
                </a:solidFill>
                <a:latin typeface="Segoe UI"/>
              </a:rPr>
              <a:t>Users can view all their listed items, incoming requests, and borrowed items on a single clean page.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601200" y="-1371600"/>
            <a:ext cx="4114800" cy="4114800"/>
          </a:xfrm>
          <a:prstGeom prst="ellipse">
            <a:avLst/>
          </a:prstGeom>
          <a:solidFill>
            <a:srgbClr val="DCF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4572000"/>
            <a:ext cx="3657600" cy="3657600"/>
          </a:xfrm>
          <a:prstGeom prst="ellipse">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2926080"/>
            <a:ext cx="365760" cy="365760"/>
          </a:xfrm>
          <a:prstGeom prst="ellipse">
            <a:avLst/>
          </a:prstGeom>
          <a:solidFill>
            <a:srgbClr val="5EE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4114800"/>
            <a:ext cx="228600" cy="2286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0" y="6400800"/>
            <a:ext cx="2103120" cy="365760"/>
          </a:xfrm>
          <a:prstGeom prst="rect">
            <a:avLst/>
          </a:prstGeom>
          <a:noFill/>
        </p:spPr>
        <p:txBody>
          <a:bodyPr wrap="none" lIns="0" rIns="0" tIns="0" bIns="0">
            <a:spAutoFit/>
          </a:bodyPr>
          <a:lstStyle/>
          <a:p>
            <a:pPr algn="r">
              <a:defRPr sz="1100" b="1">
                <a:solidFill>
                  <a:srgbClr val="0D5C75"/>
                </a:solidFill>
                <a:latin typeface="Segoe UI"/>
              </a:defRPr>
            </a:pPr>
            <a:r>
              <a:t>Slide - 12</a:t>
            </a:r>
          </a:p>
        </p:txBody>
      </p:sp>
      <p:sp>
        <p:nvSpPr>
          <p:cNvPr id="7" name="TextBox 6"/>
          <p:cNvSpPr txBox="1"/>
          <p:nvPr/>
        </p:nvSpPr>
        <p:spPr>
          <a:xfrm>
            <a:off x="822960" y="457200"/>
            <a:ext cx="10515600" cy="640080"/>
          </a:xfrm>
          <a:prstGeom prst="rect">
            <a:avLst/>
          </a:prstGeom>
          <a:noFill/>
        </p:spPr>
        <p:txBody>
          <a:bodyPr wrap="square" lIns="0" rIns="0" tIns="0" bIns="0">
            <a:spAutoFit/>
          </a:bodyPr>
          <a:lstStyle/>
          <a:p>
            <a:pPr>
              <a:defRPr sz="2600" b="1">
                <a:solidFill>
                  <a:srgbClr val="0D5C75"/>
                </a:solidFill>
                <a:latin typeface="Segoe UI"/>
              </a:defRPr>
            </a:pPr>
            <a:r>
              <a:t>SAMPLE SOURCE CODE</a:t>
            </a:r>
          </a:p>
        </p:txBody>
      </p:sp>
      <p:sp>
        <p:nvSpPr>
          <p:cNvPr id="8" name="TextBox 7"/>
          <p:cNvSpPr txBox="1"/>
          <p:nvPr/>
        </p:nvSpPr>
        <p:spPr>
          <a:xfrm>
            <a:off x="822960" y="1371600"/>
            <a:ext cx="4114800" cy="4754880"/>
          </a:xfrm>
          <a:prstGeom prst="rect">
            <a:avLst/>
          </a:prstGeom>
          <a:noFill/>
        </p:spPr>
        <p:txBody>
          <a:bodyPr wrap="square">
            <a:spAutoFit/>
          </a:bodyPr>
          <a:lstStyle/>
          <a:p>
            <a:pPr>
              <a:spcAft>
                <a:spcPts val="1200"/>
              </a:spcAft>
              <a:defRPr sz="1600">
                <a:solidFill>
                  <a:srgbClr val="1E293B"/>
                </a:solidFill>
                <a:latin typeface="Segoe UI"/>
              </a:defRPr>
            </a:pPr>
            <a:r>
              <a:t>Source code is found in the following link:</a:t>
            </a:r>
          </a:p>
          <a:p>
            <a:pPr>
              <a:spcAft>
                <a:spcPts val="2000"/>
              </a:spcAft>
              <a:defRPr sz="1400" b="1">
                <a:solidFill>
                  <a:srgbClr val="0D5C75"/>
                </a:solidFill>
                <a:latin typeface="Segoe UI"/>
              </a:defRPr>
            </a:pPr>
            <a:r>
              <a:t>https://github.com/Shahith2004/Community-Item-Lending-System</a:t>
            </a:r>
          </a:p>
          <a:p>
            <a:pPr>
              <a:spcAft>
                <a:spcPts val="800"/>
              </a:spcAft>
              <a:defRPr sz="1200">
                <a:solidFill>
                  <a:srgbClr val="D97706"/>
                </a:solidFill>
                <a:latin typeface="Segoe UI"/>
              </a:defRPr>
            </a:pPr>
            <a:r>
              <a:t>Complete Source code is found in the following GitHub location:</a:t>
            </a:r>
          </a:p>
          <a:p>
            <a:pPr>
              <a:lnSpc>
                <a:spcPct val="135000"/>
              </a:lnSpc>
              <a:spcAft>
                <a:spcPts val="400"/>
              </a:spcAft>
            </a:pPr>
            <a:r>
              <a:rPr sz="1100" b="1">
                <a:solidFill>
                  <a:srgbClr val="0D9488"/>
                </a:solidFill>
                <a:latin typeface="Segoe UI"/>
              </a:rPr>
              <a:t>▶  </a:t>
            </a:r>
            <a:r>
              <a:rPr sz="1100">
                <a:solidFill>
                  <a:srgbClr val="1E293B"/>
                </a:solidFill>
                <a:latin typeface="Segoe UI"/>
              </a:rPr>
              <a:t>Full Flask application backend</a:t>
            </a:r>
          </a:p>
          <a:p>
            <a:pPr>
              <a:lnSpc>
                <a:spcPct val="135000"/>
              </a:lnSpc>
              <a:spcAft>
                <a:spcPts val="400"/>
              </a:spcAft>
            </a:pPr>
            <a:r>
              <a:rPr sz="1100" b="1">
                <a:solidFill>
                  <a:srgbClr val="0D9488"/>
                </a:solidFill>
                <a:latin typeface="Segoe UI"/>
              </a:rPr>
              <a:t>▶  </a:t>
            </a:r>
            <a:r>
              <a:rPr sz="1100">
                <a:solidFill>
                  <a:srgbClr val="1E293B"/>
                </a:solidFill>
                <a:latin typeface="Segoe UI"/>
              </a:rPr>
              <a:t>TiDB Cloud MySQL database setup scripts</a:t>
            </a:r>
          </a:p>
          <a:p>
            <a:pPr>
              <a:lnSpc>
                <a:spcPct val="135000"/>
              </a:lnSpc>
              <a:spcAft>
                <a:spcPts val="400"/>
              </a:spcAft>
            </a:pPr>
            <a:r>
              <a:rPr sz="1100" b="1">
                <a:solidFill>
                  <a:srgbClr val="0D9488"/>
                </a:solidFill>
                <a:latin typeface="Segoe UI"/>
              </a:rPr>
              <a:t>▶  </a:t>
            </a:r>
            <a:r>
              <a:rPr sz="1100">
                <a:solidFill>
                  <a:srgbClr val="1E293B"/>
                </a:solidFill>
                <a:latin typeface="Segoe UI"/>
              </a:rPr>
              <a:t>Complete automated pytest test suite</a:t>
            </a:r>
          </a:p>
          <a:p>
            <a:pPr>
              <a:lnSpc>
                <a:spcPct val="135000"/>
              </a:lnSpc>
              <a:spcAft>
                <a:spcPts val="400"/>
              </a:spcAft>
            </a:pPr>
            <a:r>
              <a:rPr sz="1100" b="1">
                <a:solidFill>
                  <a:srgbClr val="0D9488"/>
                </a:solidFill>
                <a:latin typeface="Segoe UI"/>
              </a:rPr>
              <a:t>▶  </a:t>
            </a:r>
            <a:r>
              <a:rPr sz="1100">
                <a:solidFill>
                  <a:srgbClr val="1E293B"/>
                </a:solidFill>
                <a:latin typeface="Segoe UI"/>
              </a:rPr>
              <a:t>HTML5 / Bootstrap 5 responsive frontend</a:t>
            </a:r>
          </a:p>
        </p:txBody>
      </p:sp>
      <p:sp>
        <p:nvSpPr>
          <p:cNvPr id="9" name="Rounded Rectangle 8"/>
          <p:cNvSpPr/>
          <p:nvPr/>
        </p:nvSpPr>
        <p:spPr>
          <a:xfrm>
            <a:off x="5212080" y="1280160"/>
            <a:ext cx="6126480" cy="4846320"/>
          </a:xfrm>
          <a:prstGeom prst="roundRect">
            <a:avLst/>
          </a:prstGeom>
          <a:solidFill>
            <a:srgbClr val="FFFFFF"/>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4960" y="1417320"/>
            <a:ext cx="5760720" cy="4572000"/>
          </a:xfrm>
          <a:prstGeom prst="rect">
            <a:avLst/>
          </a:prstGeom>
          <a:noFill/>
        </p:spPr>
        <p:txBody>
          <a:bodyPr wrap="square">
            <a:spAutoFit/>
          </a:bodyPr>
          <a:lstStyle/>
          <a:p>
            <a:pPr>
              <a:defRPr sz="950" b="1">
                <a:solidFill>
                  <a:srgbClr val="0F766E"/>
                </a:solidFill>
                <a:latin typeface="Consolas"/>
              </a:defRPr>
            </a:pPr>
            <a:r>
              <a:t># 1. Password Hashing for User Registration Security</a:t>
            </a:r>
          </a:p>
          <a:p>
            <a:pPr>
              <a:lnSpc>
                <a:spcPct val="115000"/>
              </a:lnSpc>
              <a:spcAft>
                <a:spcPts val="1200"/>
              </a:spcAft>
              <a:defRPr sz="900">
                <a:solidFill>
                  <a:srgbClr val="0F172A"/>
                </a:solidFill>
                <a:latin typeface="Consolas"/>
              </a:defRPr>
            </a:pPr>
            <a:r>
              <a:t>from werkzeug.security import generate_password_hash, check_password_hash</a:t>
            </a:r>
            <a:br/>
            <a:br/>
            <a:r>
              <a:t># Encrypt user password with PBKDF2:SHA256</a:t>
            </a:r>
            <a:br/>
            <a:r>
              <a:t>hashed_pw = generate_password_hash(user_password, method='pbkdf2:sha256')</a:t>
            </a:r>
            <a:br/>
            <a:r>
              <a:t>cursor.execute("INSERT INTO users (username, email, password_hash) VALUES (%s, %s, %s)",</a:t>
            </a:r>
            <a:br/>
            <a:r>
              <a:t>               (username, email, hashed_pw))</a:t>
            </a:r>
            <a:br/>
            <a:r>
              <a:t>db.commit()</a:t>
            </a:r>
          </a:p>
          <a:p>
            <a:pPr>
              <a:defRPr sz="950" b="1">
                <a:solidFill>
                  <a:srgbClr val="0F766E"/>
                </a:solidFill>
                <a:latin typeface="Consolas"/>
              </a:defRPr>
            </a:pPr>
            <a:r>
              <a:t># 2. Updating Item Status upon Approval (Lending Workflow)</a:t>
            </a:r>
          </a:p>
          <a:p>
            <a:pPr>
              <a:lnSpc>
                <a:spcPct val="115000"/>
              </a:lnSpc>
              <a:defRPr sz="900">
                <a:solidFill>
                  <a:srgbClr val="0F172A"/>
                </a:solidFill>
                <a:latin typeface="Consolas"/>
              </a:defRPr>
            </a:pPr>
            <a:r>
              <a:t># Approve borrow request and lock item to 'Lent'</a:t>
            </a:r>
            <a:br/>
            <a:r>
              <a:t>cursor.execute("UPDATE borrow_requests SET status = 'Approved' WHERE id = %s", (request_id,))</a:t>
            </a:r>
            <a:br/>
            <a:r>
              <a:t>cursor.execute("UPDATE items SET status = 'Lent' WHERE id = %s", (item_id,))</a:t>
            </a:r>
            <a:br/>
            <a:r>
              <a:t>db.commit()</a:t>
            </a:r>
            <a:br/>
            <a:r>
              <a:t>flash("Borrow request approved successfully!", "success")</a:t>
            </a:r>
            <a:br/>
            <a:r>
              <a:t>return redirect(url_for('dashboard'))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601200" y="-1371600"/>
            <a:ext cx="4114800" cy="4114800"/>
          </a:xfrm>
          <a:prstGeom prst="ellipse">
            <a:avLst/>
          </a:prstGeom>
          <a:solidFill>
            <a:srgbClr val="DCF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4572000"/>
            <a:ext cx="3657600" cy="3657600"/>
          </a:xfrm>
          <a:prstGeom prst="ellipse">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2926080"/>
            <a:ext cx="365760" cy="365760"/>
          </a:xfrm>
          <a:prstGeom prst="ellipse">
            <a:avLst/>
          </a:prstGeom>
          <a:solidFill>
            <a:srgbClr val="5EE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4114800"/>
            <a:ext cx="228600" cy="2286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0" y="6400800"/>
            <a:ext cx="2103120" cy="365760"/>
          </a:xfrm>
          <a:prstGeom prst="rect">
            <a:avLst/>
          </a:prstGeom>
          <a:noFill/>
        </p:spPr>
        <p:txBody>
          <a:bodyPr wrap="none" lIns="0" rIns="0" tIns="0" bIns="0">
            <a:spAutoFit/>
          </a:bodyPr>
          <a:lstStyle/>
          <a:p>
            <a:pPr algn="r">
              <a:defRPr sz="1100" b="1">
                <a:solidFill>
                  <a:srgbClr val="0D5C75"/>
                </a:solidFill>
                <a:latin typeface="Segoe UI"/>
              </a:defRPr>
            </a:pPr>
            <a:r>
              <a:t>Slide - 13</a:t>
            </a:r>
          </a:p>
        </p:txBody>
      </p:sp>
      <p:sp>
        <p:nvSpPr>
          <p:cNvPr id="7" name="TextBox 6"/>
          <p:cNvSpPr txBox="1"/>
          <p:nvPr/>
        </p:nvSpPr>
        <p:spPr>
          <a:xfrm>
            <a:off x="822960" y="457200"/>
            <a:ext cx="10515600" cy="640080"/>
          </a:xfrm>
          <a:prstGeom prst="rect">
            <a:avLst/>
          </a:prstGeom>
          <a:noFill/>
        </p:spPr>
        <p:txBody>
          <a:bodyPr wrap="square" lIns="0" rIns="0" tIns="0" bIns="0">
            <a:spAutoFit/>
          </a:bodyPr>
          <a:lstStyle/>
          <a:p>
            <a:pPr>
              <a:defRPr sz="2600" b="1">
                <a:solidFill>
                  <a:srgbClr val="0D5C75"/>
                </a:solidFill>
                <a:latin typeface="Segoe UI"/>
              </a:defRPr>
            </a:pPr>
            <a:r>
              <a:t>RESULT</a:t>
            </a:r>
          </a:p>
        </p:txBody>
      </p:sp>
      <p:sp>
        <p:nvSpPr>
          <p:cNvPr id="8" name="TextBox 7"/>
          <p:cNvSpPr txBox="1"/>
          <p:nvPr/>
        </p:nvSpPr>
        <p:spPr>
          <a:xfrm>
            <a:off x="822960" y="1051560"/>
            <a:ext cx="10515600" cy="365760"/>
          </a:xfrm>
          <a:prstGeom prst="rect">
            <a:avLst/>
          </a:prstGeom>
          <a:noFill/>
        </p:spPr>
        <p:txBody>
          <a:bodyPr wrap="none">
            <a:spAutoFit/>
          </a:bodyPr>
          <a:lstStyle/>
          <a:p>
            <a:pPr>
              <a:defRPr sz="1300" b="1">
                <a:solidFill>
                  <a:srgbClr val="D97706"/>
                </a:solidFill>
                <a:latin typeface="Segoe UI"/>
              </a:defRPr>
            </a:pPr>
            <a:r>
              <a:t>LIVE APPLICATION USER INTERFACE SCREENS:</a:t>
            </a:r>
          </a:p>
        </p:txBody>
      </p:sp>
      <p:sp>
        <p:nvSpPr>
          <p:cNvPr id="9" name="Rounded Rectangle 8"/>
          <p:cNvSpPr/>
          <p:nvPr/>
        </p:nvSpPr>
        <p:spPr>
          <a:xfrm>
            <a:off x="822960" y="1463040"/>
            <a:ext cx="3332073" cy="4297680"/>
          </a:xfrm>
          <a:prstGeom prst="roundRect">
            <a:avLst/>
          </a:prstGeom>
          <a:solidFill>
            <a:srgbClr val="FFFFFF"/>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600200"/>
            <a:ext cx="3057753" cy="320040"/>
          </a:xfrm>
          <a:prstGeom prst="rect">
            <a:avLst/>
          </a:prstGeom>
          <a:noFill/>
        </p:spPr>
        <p:txBody>
          <a:bodyPr wrap="none">
            <a:spAutoFit/>
          </a:bodyPr>
          <a:lstStyle/>
          <a:p>
            <a:pPr>
              <a:defRPr sz="1150" b="1">
                <a:solidFill>
                  <a:srgbClr val="0F766E"/>
                </a:solidFill>
                <a:latin typeface="Segoe UI"/>
              </a:defRPr>
            </a:pPr>
            <a:r>
              <a:t>BROWSE ITEMS CATALOG</a:t>
            </a:r>
          </a:p>
        </p:txBody>
      </p:sp>
      <p:pic>
        <p:nvPicPr>
          <p:cNvPr id="11" name="Picture 10" descr="app_browse_screen.png"/>
          <p:cNvPicPr>
            <a:picLocks noChangeAspect="1"/>
          </p:cNvPicPr>
          <p:nvPr/>
        </p:nvPicPr>
        <p:blipFill>
          <a:blip r:embed="rId2"/>
          <a:stretch>
            <a:fillRect/>
          </a:stretch>
        </p:blipFill>
        <p:spPr>
          <a:xfrm>
            <a:off x="960120" y="1965960"/>
            <a:ext cx="3057753" cy="3291840"/>
          </a:xfrm>
          <a:prstGeom prst="rect">
            <a:avLst/>
          </a:prstGeom>
        </p:spPr>
      </p:pic>
      <p:sp>
        <p:nvSpPr>
          <p:cNvPr id="12" name="TextBox 11"/>
          <p:cNvSpPr txBox="1"/>
          <p:nvPr/>
        </p:nvSpPr>
        <p:spPr>
          <a:xfrm>
            <a:off x="960120" y="5349240"/>
            <a:ext cx="3057753" cy="320040"/>
          </a:xfrm>
          <a:prstGeom prst="rect">
            <a:avLst/>
          </a:prstGeom>
          <a:noFill/>
        </p:spPr>
        <p:txBody>
          <a:bodyPr wrap="none">
            <a:spAutoFit/>
          </a:bodyPr>
          <a:lstStyle/>
          <a:p>
            <a:pPr>
              <a:defRPr sz="1000">
                <a:solidFill>
                  <a:srgbClr val="475569"/>
                </a:solidFill>
                <a:latin typeface="Segoe UI"/>
              </a:defRPr>
            </a:pPr>
            <a:r>
              <a:t>Search bar and category filters</a:t>
            </a:r>
          </a:p>
        </p:txBody>
      </p:sp>
      <p:sp>
        <p:nvSpPr>
          <p:cNvPr id="13" name="Rounded Rectangle 12"/>
          <p:cNvSpPr/>
          <p:nvPr/>
        </p:nvSpPr>
        <p:spPr>
          <a:xfrm>
            <a:off x="4520793" y="1463040"/>
            <a:ext cx="3332073" cy="4297680"/>
          </a:xfrm>
          <a:prstGeom prst="roundRect">
            <a:avLst/>
          </a:prstGeom>
          <a:solidFill>
            <a:srgbClr val="FFFFFF"/>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57953" y="1600200"/>
            <a:ext cx="3057753" cy="320040"/>
          </a:xfrm>
          <a:prstGeom prst="rect">
            <a:avLst/>
          </a:prstGeom>
          <a:noFill/>
        </p:spPr>
        <p:txBody>
          <a:bodyPr wrap="none">
            <a:spAutoFit/>
          </a:bodyPr>
          <a:lstStyle/>
          <a:p>
            <a:pPr>
              <a:defRPr sz="1150" b="1">
                <a:solidFill>
                  <a:srgbClr val="0F766E"/>
                </a:solidFill>
                <a:latin typeface="Segoe UI"/>
              </a:defRPr>
            </a:pPr>
            <a:r>
              <a:t>ITEM DETAILS PAGE</a:t>
            </a:r>
          </a:p>
        </p:txBody>
      </p:sp>
      <p:pic>
        <p:nvPicPr>
          <p:cNvPr id="15" name="Picture 14" descr="app_item_details_screen.png"/>
          <p:cNvPicPr>
            <a:picLocks noChangeAspect="1"/>
          </p:cNvPicPr>
          <p:nvPr/>
        </p:nvPicPr>
        <p:blipFill>
          <a:blip r:embed="rId3"/>
          <a:stretch>
            <a:fillRect/>
          </a:stretch>
        </p:blipFill>
        <p:spPr>
          <a:xfrm>
            <a:off x="4657953" y="1965960"/>
            <a:ext cx="3057753" cy="3291840"/>
          </a:xfrm>
          <a:prstGeom prst="rect">
            <a:avLst/>
          </a:prstGeom>
        </p:spPr>
      </p:pic>
      <p:sp>
        <p:nvSpPr>
          <p:cNvPr id="16" name="TextBox 15"/>
          <p:cNvSpPr txBox="1"/>
          <p:nvPr/>
        </p:nvSpPr>
        <p:spPr>
          <a:xfrm>
            <a:off x="4657953" y="5349240"/>
            <a:ext cx="3057753" cy="320040"/>
          </a:xfrm>
          <a:prstGeom prst="rect">
            <a:avLst/>
          </a:prstGeom>
          <a:noFill/>
        </p:spPr>
        <p:txBody>
          <a:bodyPr wrap="none">
            <a:spAutoFit/>
          </a:bodyPr>
          <a:lstStyle/>
          <a:p>
            <a:pPr>
              <a:defRPr sz="1000">
                <a:solidFill>
                  <a:srgbClr val="475569"/>
                </a:solidFill>
                <a:latin typeface="Segoe UI"/>
              </a:defRPr>
            </a:pPr>
            <a:r>
              <a:t>Item image and request form</a:t>
            </a:r>
          </a:p>
        </p:txBody>
      </p:sp>
      <p:sp>
        <p:nvSpPr>
          <p:cNvPr id="17" name="Rounded Rectangle 16"/>
          <p:cNvSpPr/>
          <p:nvPr/>
        </p:nvSpPr>
        <p:spPr>
          <a:xfrm>
            <a:off x="8218626" y="1463040"/>
            <a:ext cx="3332073" cy="4297680"/>
          </a:xfrm>
          <a:prstGeom prst="roundRect">
            <a:avLst/>
          </a:prstGeom>
          <a:solidFill>
            <a:srgbClr val="FFFFFF"/>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5786" y="1600200"/>
            <a:ext cx="3057753" cy="320040"/>
          </a:xfrm>
          <a:prstGeom prst="rect">
            <a:avLst/>
          </a:prstGeom>
          <a:noFill/>
        </p:spPr>
        <p:txBody>
          <a:bodyPr wrap="none">
            <a:spAutoFit/>
          </a:bodyPr>
          <a:lstStyle/>
          <a:p>
            <a:pPr>
              <a:defRPr sz="1150" b="1">
                <a:solidFill>
                  <a:srgbClr val="0F766E"/>
                </a:solidFill>
                <a:latin typeface="Segoe UI"/>
              </a:defRPr>
            </a:pPr>
            <a:r>
              <a:t>USER DASHBOARD</a:t>
            </a:r>
          </a:p>
        </p:txBody>
      </p:sp>
      <p:pic>
        <p:nvPicPr>
          <p:cNvPr id="19" name="Picture 18" descr="app_dashboard_screen.png"/>
          <p:cNvPicPr>
            <a:picLocks noChangeAspect="1"/>
          </p:cNvPicPr>
          <p:nvPr/>
        </p:nvPicPr>
        <p:blipFill>
          <a:blip r:embed="rId4"/>
          <a:stretch>
            <a:fillRect/>
          </a:stretch>
        </p:blipFill>
        <p:spPr>
          <a:xfrm>
            <a:off x="8355786" y="1965960"/>
            <a:ext cx="3057753" cy="3291840"/>
          </a:xfrm>
          <a:prstGeom prst="rect">
            <a:avLst/>
          </a:prstGeom>
        </p:spPr>
      </p:pic>
      <p:sp>
        <p:nvSpPr>
          <p:cNvPr id="20" name="TextBox 19"/>
          <p:cNvSpPr txBox="1"/>
          <p:nvPr/>
        </p:nvSpPr>
        <p:spPr>
          <a:xfrm>
            <a:off x="8355786" y="5349240"/>
            <a:ext cx="3057753" cy="320040"/>
          </a:xfrm>
          <a:prstGeom prst="rect">
            <a:avLst/>
          </a:prstGeom>
          <a:noFill/>
        </p:spPr>
        <p:txBody>
          <a:bodyPr wrap="none">
            <a:spAutoFit/>
          </a:bodyPr>
          <a:lstStyle/>
          <a:p>
            <a:pPr>
              <a:defRPr sz="1000">
                <a:solidFill>
                  <a:srgbClr val="475569"/>
                </a:solidFill>
                <a:latin typeface="Segoe UI"/>
              </a:defRPr>
            </a:pPr>
            <a:r>
              <a:t>Lender tabs and active loans</a:t>
            </a:r>
          </a:p>
        </p:txBody>
      </p:sp>
      <p:sp>
        <p:nvSpPr>
          <p:cNvPr id="21" name="TextBox 20"/>
          <p:cNvSpPr txBox="1"/>
          <p:nvPr/>
        </p:nvSpPr>
        <p:spPr>
          <a:xfrm>
            <a:off x="822960" y="5943600"/>
            <a:ext cx="10515600" cy="365760"/>
          </a:xfrm>
          <a:prstGeom prst="rect">
            <a:avLst/>
          </a:prstGeom>
          <a:noFill/>
        </p:spPr>
        <p:txBody>
          <a:bodyPr wrap="none">
            <a:spAutoFit/>
          </a:bodyPr>
          <a:lstStyle/>
          <a:p>
            <a:pPr algn="ctr">
              <a:defRPr sz="1150" b="1">
                <a:solidFill>
                  <a:srgbClr val="0D5C75"/>
                </a:solidFill>
                <a:latin typeface="Segoe UI"/>
              </a:defRPr>
            </a:pPr>
            <a:r>
              <a:t>Output: Clean, modern, and responsive website tested and running smoothly on all browsers.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601200" y="-1371600"/>
            <a:ext cx="4114800" cy="4114800"/>
          </a:xfrm>
          <a:prstGeom prst="ellipse">
            <a:avLst/>
          </a:prstGeom>
          <a:solidFill>
            <a:srgbClr val="DCF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4572000"/>
            <a:ext cx="3657600" cy="3657600"/>
          </a:xfrm>
          <a:prstGeom prst="ellipse">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2926080"/>
            <a:ext cx="365760" cy="365760"/>
          </a:xfrm>
          <a:prstGeom prst="ellipse">
            <a:avLst/>
          </a:prstGeom>
          <a:solidFill>
            <a:srgbClr val="5EE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4114800"/>
            <a:ext cx="228600" cy="2286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0" y="6400800"/>
            <a:ext cx="2103120" cy="365760"/>
          </a:xfrm>
          <a:prstGeom prst="rect">
            <a:avLst/>
          </a:prstGeom>
          <a:noFill/>
        </p:spPr>
        <p:txBody>
          <a:bodyPr wrap="none" lIns="0" rIns="0" tIns="0" bIns="0">
            <a:spAutoFit/>
          </a:bodyPr>
          <a:lstStyle/>
          <a:p>
            <a:pPr algn="r">
              <a:defRPr sz="1100" b="1">
                <a:solidFill>
                  <a:srgbClr val="0D5C75"/>
                </a:solidFill>
                <a:latin typeface="Segoe UI"/>
              </a:defRPr>
            </a:pPr>
            <a:r>
              <a:t>Slide - 14</a:t>
            </a:r>
          </a:p>
        </p:txBody>
      </p:sp>
      <p:sp>
        <p:nvSpPr>
          <p:cNvPr id="7" name="TextBox 6"/>
          <p:cNvSpPr txBox="1"/>
          <p:nvPr/>
        </p:nvSpPr>
        <p:spPr>
          <a:xfrm>
            <a:off x="822960" y="457200"/>
            <a:ext cx="10515600" cy="640080"/>
          </a:xfrm>
          <a:prstGeom prst="rect">
            <a:avLst/>
          </a:prstGeom>
          <a:noFill/>
        </p:spPr>
        <p:txBody>
          <a:bodyPr wrap="square" lIns="0" rIns="0" tIns="0" bIns="0">
            <a:spAutoFit/>
          </a:bodyPr>
          <a:lstStyle/>
          <a:p>
            <a:pPr>
              <a:defRPr sz="2600" b="1">
                <a:solidFill>
                  <a:srgbClr val="0D5C75"/>
                </a:solidFill>
                <a:latin typeface="Segoe UI"/>
              </a:defRPr>
            </a:pPr>
            <a:r>
              <a:t>TESTING &amp; RESULTS</a:t>
            </a:r>
          </a:p>
        </p:txBody>
      </p:sp>
      <p:sp>
        <p:nvSpPr>
          <p:cNvPr id="8" name="TextBox 7"/>
          <p:cNvSpPr txBox="1"/>
          <p:nvPr/>
        </p:nvSpPr>
        <p:spPr>
          <a:xfrm>
            <a:off x="822960" y="1051560"/>
            <a:ext cx="10515600" cy="365760"/>
          </a:xfrm>
          <a:prstGeom prst="rect">
            <a:avLst/>
          </a:prstGeom>
          <a:noFill/>
        </p:spPr>
        <p:txBody>
          <a:bodyPr wrap="none">
            <a:spAutoFit/>
          </a:bodyPr>
          <a:lstStyle/>
          <a:p>
            <a:pPr>
              <a:defRPr sz="1300" b="1">
                <a:solidFill>
                  <a:srgbClr val="D97706"/>
                </a:solidFill>
                <a:latin typeface="Segoe UI"/>
              </a:defRPr>
            </a:pPr>
            <a:r>
              <a:t>AUTOMATED TEST SUITE EXECUTION &amp; VERIFICATION:</a:t>
            </a:r>
          </a:p>
        </p:txBody>
      </p:sp>
      <p:sp>
        <p:nvSpPr>
          <p:cNvPr id="9" name="Rounded Rectangle 8"/>
          <p:cNvSpPr/>
          <p:nvPr/>
        </p:nvSpPr>
        <p:spPr>
          <a:xfrm>
            <a:off x="822960" y="1463040"/>
            <a:ext cx="5669280" cy="4663440"/>
          </a:xfrm>
          <a:prstGeom prst="roundRect">
            <a:avLst/>
          </a:prstGeom>
          <a:solidFill>
            <a:srgbClr val="FFFFFF"/>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9_test_results.png"/>
          <p:cNvPicPr>
            <a:picLocks noChangeAspect="1"/>
          </p:cNvPicPr>
          <p:nvPr/>
        </p:nvPicPr>
        <p:blipFill>
          <a:blip r:embed="rId2"/>
          <a:stretch>
            <a:fillRect/>
          </a:stretch>
        </p:blipFill>
        <p:spPr>
          <a:xfrm>
            <a:off x="914400" y="1600200"/>
            <a:ext cx="5486400" cy="4297680"/>
          </a:xfrm>
          <a:prstGeom prst="rect">
            <a:avLst/>
          </a:prstGeom>
        </p:spPr>
      </p:pic>
      <p:sp>
        <p:nvSpPr>
          <p:cNvPr id="11" name="TextBox 10"/>
          <p:cNvSpPr txBox="1"/>
          <p:nvPr/>
        </p:nvSpPr>
        <p:spPr>
          <a:xfrm>
            <a:off x="6720840" y="1463040"/>
            <a:ext cx="4663440" cy="4663440"/>
          </a:xfrm>
          <a:prstGeom prst="rect">
            <a:avLst/>
          </a:prstGeom>
          <a:noFill/>
        </p:spPr>
        <p:txBody>
          <a:bodyPr wrap="square">
            <a:spAutoFit/>
          </a:bodyPr>
          <a:lstStyle/>
          <a:p>
            <a:pPr>
              <a:spcAft>
                <a:spcPts val="800"/>
              </a:spcAft>
              <a:defRPr sz="1400" b="1">
                <a:solidFill>
                  <a:srgbClr val="0F766E"/>
                </a:solidFill>
                <a:latin typeface="Segoe UI"/>
              </a:defRPr>
            </a:pPr>
            <a:r>
              <a:t>Testing Work Done:</a:t>
            </a:r>
          </a:p>
          <a:p>
            <a:pPr>
              <a:lnSpc>
                <a:spcPct val="135000"/>
              </a:lnSpc>
              <a:spcAft>
                <a:spcPts val="1000"/>
              </a:spcAft>
            </a:pPr>
            <a:r>
              <a:rPr sz="1100" b="1">
                <a:solidFill>
                  <a:srgbClr val="0D9488"/>
                </a:solidFill>
                <a:latin typeface="Segoe UI"/>
              </a:rPr>
              <a:t>▶  </a:t>
            </a:r>
            <a:r>
              <a:rPr sz="1100" b="1">
                <a:solidFill>
                  <a:srgbClr val="0F172A"/>
                </a:solidFill>
                <a:latin typeface="Segoe UI"/>
              </a:rPr>
              <a:t>Testing Strategy: </a:t>
            </a:r>
            <a:r>
              <a:rPr sz="1100">
                <a:solidFill>
                  <a:srgbClr val="1E293B"/>
                </a:solidFill>
                <a:latin typeface="Segoe UI"/>
              </a:rPr>
              <a:t>Followed systematic testing—checking every function from user registration to item borrowing and return.</a:t>
            </a:r>
          </a:p>
          <a:p>
            <a:pPr>
              <a:lnSpc>
                <a:spcPct val="135000"/>
              </a:lnSpc>
              <a:spcAft>
                <a:spcPts val="1000"/>
              </a:spcAft>
            </a:pPr>
            <a:r>
              <a:rPr sz="1100" b="1">
                <a:solidFill>
                  <a:srgbClr val="0D9488"/>
                </a:solidFill>
                <a:latin typeface="Segoe UI"/>
              </a:rPr>
              <a:t>▶  </a:t>
            </a:r>
            <a:r>
              <a:rPr sz="1100" b="1">
                <a:solidFill>
                  <a:srgbClr val="0F172A"/>
                </a:solidFill>
                <a:latin typeface="Segoe UI"/>
              </a:rPr>
              <a:t>Automated Testing: </a:t>
            </a:r>
            <a:r>
              <a:rPr sz="1100">
                <a:solidFill>
                  <a:srgbClr val="1E293B"/>
                </a:solidFill>
                <a:latin typeface="Segoe UI"/>
              </a:rPr>
              <a:t>Wrote 15 automated test cases using Python's pytest framework to automatically test code reliability.</a:t>
            </a:r>
          </a:p>
          <a:p>
            <a:pPr>
              <a:lnSpc>
                <a:spcPct val="135000"/>
              </a:lnSpc>
              <a:spcAft>
                <a:spcPts val="1000"/>
              </a:spcAft>
            </a:pPr>
            <a:r>
              <a:rPr sz="1100" b="1">
                <a:solidFill>
                  <a:srgbClr val="0D9488"/>
                </a:solidFill>
                <a:latin typeface="Segoe UI"/>
              </a:rPr>
              <a:t>▶  </a:t>
            </a:r>
            <a:r>
              <a:rPr sz="1100" b="1">
                <a:solidFill>
                  <a:srgbClr val="0F172A"/>
                </a:solidFill>
                <a:latin typeface="Segoe UI"/>
              </a:rPr>
              <a:t>Key Tests Covered: </a:t>
            </a:r>
            <a:r>
              <a:rPr sz="1100">
                <a:solidFill>
                  <a:srgbClr val="1E293B"/>
                </a:solidFill>
                <a:latin typeface="Segoe UI"/>
              </a:rPr>
              <a:t>Tested user login security, duplicate email rejection, adding items with photos, borrow request approvals, and category filters.</a:t>
            </a:r>
          </a:p>
          <a:p>
            <a:pPr>
              <a:lnSpc>
                <a:spcPct val="135000"/>
              </a:lnSpc>
              <a:spcAft>
                <a:spcPts val="1000"/>
              </a:spcAft>
            </a:pPr>
            <a:r>
              <a:rPr sz="1100" b="1">
                <a:solidFill>
                  <a:srgbClr val="0D9488"/>
                </a:solidFill>
                <a:latin typeface="Segoe UI"/>
              </a:rPr>
              <a:t>▶  </a:t>
            </a:r>
            <a:r>
              <a:rPr sz="1100" b="1">
                <a:solidFill>
                  <a:srgbClr val="0F172A"/>
                </a:solidFill>
                <a:latin typeface="Segoe UI"/>
              </a:rPr>
              <a:t>Test Results: </a:t>
            </a:r>
            <a:r>
              <a:rPr sz="1100">
                <a:solidFill>
                  <a:srgbClr val="1E293B"/>
                </a:solidFill>
                <a:latin typeface="Segoe UI"/>
              </a:rPr>
              <a:t>All 15 automated test cases PASSED successfully with 100% completion and zero errors (0 failures, 0 regressions).</a:t>
            </a:r>
          </a:p>
          <a:p>
            <a:pPr>
              <a:lnSpc>
                <a:spcPct val="135000"/>
              </a:lnSpc>
              <a:spcAft>
                <a:spcPts val="600"/>
              </a:spcAft>
            </a:pPr>
            <a:r>
              <a:rPr sz="1100" b="1">
                <a:solidFill>
                  <a:srgbClr val="0D9488"/>
                </a:solidFill>
                <a:latin typeface="Segoe UI"/>
              </a:rPr>
              <a:t>▶  </a:t>
            </a:r>
            <a:r>
              <a:rPr sz="1100" b="1">
                <a:solidFill>
                  <a:srgbClr val="0F172A"/>
                </a:solidFill>
                <a:latin typeface="Segoe UI"/>
              </a:rPr>
              <a:t>Safety Checks: </a:t>
            </a:r>
            <a:r>
              <a:rPr sz="1100">
                <a:solidFill>
                  <a:srgbClr val="1E293B"/>
                </a:solidFill>
                <a:latin typeface="Segoe UI"/>
              </a:rPr>
              <a:t>Verified that users cannot borrow their own items and cannot upload unsupported file formats.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601200" y="-1371600"/>
            <a:ext cx="4114800" cy="4114800"/>
          </a:xfrm>
          <a:prstGeom prst="ellipse">
            <a:avLst/>
          </a:prstGeom>
          <a:solidFill>
            <a:srgbClr val="DCF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4572000"/>
            <a:ext cx="3657600" cy="3657600"/>
          </a:xfrm>
          <a:prstGeom prst="ellipse">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2926080"/>
            <a:ext cx="365760" cy="365760"/>
          </a:xfrm>
          <a:prstGeom prst="ellipse">
            <a:avLst/>
          </a:prstGeom>
          <a:solidFill>
            <a:srgbClr val="5EE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4114800"/>
            <a:ext cx="228600" cy="2286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0" y="6400800"/>
            <a:ext cx="2103120" cy="365760"/>
          </a:xfrm>
          <a:prstGeom prst="rect">
            <a:avLst/>
          </a:prstGeom>
          <a:noFill/>
        </p:spPr>
        <p:txBody>
          <a:bodyPr wrap="none" lIns="0" rIns="0" tIns="0" bIns="0">
            <a:spAutoFit/>
          </a:bodyPr>
          <a:lstStyle/>
          <a:p>
            <a:pPr algn="r">
              <a:defRPr sz="1100" b="1">
                <a:solidFill>
                  <a:srgbClr val="0D5C75"/>
                </a:solidFill>
                <a:latin typeface="Segoe UI"/>
              </a:defRPr>
            </a:pPr>
            <a:r>
              <a:t>Slide - 15</a:t>
            </a:r>
          </a:p>
        </p:txBody>
      </p:sp>
      <p:sp>
        <p:nvSpPr>
          <p:cNvPr id="7" name="TextBox 6"/>
          <p:cNvSpPr txBox="1"/>
          <p:nvPr/>
        </p:nvSpPr>
        <p:spPr>
          <a:xfrm>
            <a:off x="822960" y="457200"/>
            <a:ext cx="10515600" cy="640080"/>
          </a:xfrm>
          <a:prstGeom prst="rect">
            <a:avLst/>
          </a:prstGeom>
          <a:noFill/>
        </p:spPr>
        <p:txBody>
          <a:bodyPr wrap="square" lIns="0" rIns="0" tIns="0" bIns="0">
            <a:spAutoFit/>
          </a:bodyPr>
          <a:lstStyle/>
          <a:p>
            <a:pPr>
              <a:defRPr sz="2600" b="1">
                <a:solidFill>
                  <a:srgbClr val="0D5C75"/>
                </a:solidFill>
                <a:latin typeface="Segoe UI"/>
              </a:defRPr>
            </a:pPr>
            <a:r>
              <a:t>CONCLUSION &amp; FUTURE SCOPE</a:t>
            </a:r>
          </a:p>
        </p:txBody>
      </p:sp>
      <p:sp>
        <p:nvSpPr>
          <p:cNvPr id="8" name="Rounded Rectangle 7"/>
          <p:cNvSpPr/>
          <p:nvPr/>
        </p:nvSpPr>
        <p:spPr>
          <a:xfrm>
            <a:off x="822960" y="1188720"/>
            <a:ext cx="5120640" cy="2468880"/>
          </a:xfrm>
          <a:prstGeom prst="roundRect">
            <a:avLst/>
          </a:prstGeom>
          <a:solidFill>
            <a:srgbClr val="FFFFFF"/>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325880"/>
            <a:ext cx="4754880" cy="2194560"/>
          </a:xfrm>
          <a:prstGeom prst="rect">
            <a:avLst/>
          </a:prstGeom>
          <a:noFill/>
        </p:spPr>
        <p:txBody>
          <a:bodyPr wrap="square">
            <a:spAutoFit/>
          </a:bodyPr>
          <a:lstStyle/>
          <a:p>
            <a:pPr>
              <a:spcAft>
                <a:spcPts val="600"/>
              </a:spcAft>
              <a:defRPr sz="1300" b="1">
                <a:solidFill>
                  <a:srgbClr val="0F766E"/>
                </a:solidFill>
                <a:latin typeface="Segoe UI"/>
              </a:defRPr>
            </a:pPr>
            <a:r>
              <a:t>CONCLUSION:</a:t>
            </a:r>
          </a:p>
          <a:p>
            <a:pPr>
              <a:lnSpc>
                <a:spcPct val="135000"/>
              </a:lnSpc>
              <a:spcAft>
                <a:spcPts val="600"/>
              </a:spcAft>
            </a:pPr>
            <a:r>
              <a:rPr sz="1050" b="1">
                <a:solidFill>
                  <a:srgbClr val="0D9488"/>
                </a:solidFill>
                <a:latin typeface="Segoe UI"/>
              </a:rPr>
              <a:t>▶  </a:t>
            </a:r>
            <a:r>
              <a:rPr sz="1050">
                <a:solidFill>
                  <a:srgbClr val="1E293B"/>
                </a:solidFill>
                <a:latin typeface="Segoe UI"/>
              </a:rPr>
              <a:t>Successfully built a complete and working web application for sharing household items among residential neighbors.</a:t>
            </a:r>
          </a:p>
          <a:p>
            <a:pPr>
              <a:lnSpc>
                <a:spcPct val="135000"/>
              </a:lnSpc>
              <a:spcAft>
                <a:spcPts val="600"/>
              </a:spcAft>
            </a:pPr>
            <a:r>
              <a:rPr sz="1050" b="1">
                <a:solidFill>
                  <a:srgbClr val="0D9488"/>
                </a:solidFill>
                <a:latin typeface="Segoe UI"/>
              </a:rPr>
              <a:t>▶  </a:t>
            </a:r>
            <a:r>
              <a:rPr sz="1050">
                <a:solidFill>
                  <a:srgbClr val="1E293B"/>
                </a:solidFill>
                <a:latin typeface="Segoe UI"/>
              </a:rPr>
              <a:t>Helps families save money and cuts down clutter by sharing tools instead of purchasing rarely used equipment.</a:t>
            </a:r>
          </a:p>
          <a:p>
            <a:pPr>
              <a:lnSpc>
                <a:spcPct val="135000"/>
              </a:lnSpc>
              <a:spcAft>
                <a:spcPts val="0"/>
              </a:spcAft>
            </a:pPr>
            <a:r>
              <a:rPr sz="1050" b="1">
                <a:solidFill>
                  <a:srgbClr val="0D9488"/>
                </a:solidFill>
                <a:latin typeface="Segoe UI"/>
              </a:rPr>
              <a:t>▶  </a:t>
            </a:r>
            <a:r>
              <a:rPr sz="1050">
                <a:solidFill>
                  <a:srgbClr val="1E293B"/>
                </a:solidFill>
                <a:latin typeface="Segoe UI"/>
              </a:rPr>
              <a:t>The automated state machine ensures clear tracking so items are never double-booked or lost without record.</a:t>
            </a:r>
          </a:p>
        </p:txBody>
      </p:sp>
      <p:sp>
        <p:nvSpPr>
          <p:cNvPr id="10" name="Rounded Rectangle 9"/>
          <p:cNvSpPr/>
          <p:nvPr/>
        </p:nvSpPr>
        <p:spPr>
          <a:xfrm>
            <a:off x="6217920" y="1188720"/>
            <a:ext cx="5120640"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325880"/>
            <a:ext cx="4754880" cy="2194560"/>
          </a:xfrm>
          <a:prstGeom prst="rect">
            <a:avLst/>
          </a:prstGeom>
          <a:noFill/>
        </p:spPr>
        <p:txBody>
          <a:bodyPr wrap="square">
            <a:spAutoFit/>
          </a:bodyPr>
          <a:lstStyle/>
          <a:p>
            <a:pPr>
              <a:spcAft>
                <a:spcPts val="600"/>
              </a:spcAft>
              <a:defRPr sz="1300" b="1">
                <a:solidFill>
                  <a:srgbClr val="D97706"/>
                </a:solidFill>
                <a:latin typeface="Segoe UI"/>
              </a:defRPr>
            </a:pPr>
            <a:r>
              <a:t>FUTURE ENHANCEMENTS:</a:t>
            </a:r>
          </a:p>
          <a:p>
            <a:pPr>
              <a:lnSpc>
                <a:spcPct val="135000"/>
              </a:lnSpc>
              <a:spcAft>
                <a:spcPts val="600"/>
              </a:spcAft>
            </a:pPr>
            <a:r>
              <a:rPr sz="1050" b="1">
                <a:solidFill>
                  <a:srgbClr val="0D9488"/>
                </a:solidFill>
                <a:latin typeface="Segoe UI"/>
              </a:rPr>
              <a:t>▶  </a:t>
            </a:r>
            <a:r>
              <a:rPr sz="1050">
                <a:solidFill>
                  <a:srgbClr val="1E293B"/>
                </a:solidFill>
                <a:latin typeface="Segoe UI"/>
              </a:rPr>
              <a:t>Mobile Application: Develop native Android and iOS mobile apps using Flutter for easy phone access.</a:t>
            </a:r>
          </a:p>
          <a:p>
            <a:pPr>
              <a:lnSpc>
                <a:spcPct val="135000"/>
              </a:lnSpc>
              <a:spcAft>
                <a:spcPts val="600"/>
              </a:spcAft>
            </a:pPr>
            <a:r>
              <a:rPr sz="1050" b="1">
                <a:solidFill>
                  <a:srgbClr val="0D9488"/>
                </a:solidFill>
                <a:latin typeface="Segoe UI"/>
              </a:rPr>
              <a:t>▶  </a:t>
            </a:r>
            <a:r>
              <a:rPr sz="1050">
                <a:solidFill>
                  <a:srgbClr val="1E293B"/>
                </a:solidFill>
                <a:latin typeface="Segoe UI"/>
              </a:rPr>
              <a:t>WhatsApp Alerts: Send instant WhatsApp notifications when an item is requested, approved, or due for return.</a:t>
            </a:r>
          </a:p>
          <a:p>
            <a:pPr>
              <a:lnSpc>
                <a:spcPct val="135000"/>
              </a:lnSpc>
              <a:spcAft>
                <a:spcPts val="0"/>
              </a:spcAft>
            </a:pPr>
            <a:r>
              <a:rPr sz="1050" b="1">
                <a:solidFill>
                  <a:srgbClr val="0D9488"/>
                </a:solidFill>
                <a:latin typeface="Segoe UI"/>
              </a:rPr>
              <a:t>▶  </a:t>
            </a:r>
            <a:r>
              <a:rPr sz="1050">
                <a:solidFill>
                  <a:srgbClr val="1E293B"/>
                </a:solidFill>
                <a:latin typeface="Segoe UI"/>
              </a:rPr>
              <a:t>Community Ratings: Add star ratings and feedback reviews to build greater trust among neighbors.</a:t>
            </a:r>
          </a:p>
        </p:txBody>
      </p:sp>
      <p:sp>
        <p:nvSpPr>
          <p:cNvPr id="12" name="Rounded Rectangle 11"/>
          <p:cNvSpPr/>
          <p:nvPr/>
        </p:nvSpPr>
        <p:spPr>
          <a:xfrm>
            <a:off x="822960" y="3840480"/>
            <a:ext cx="10515600" cy="2560320"/>
          </a:xfrm>
          <a:prstGeom prst="roundRect">
            <a:avLst/>
          </a:prstGeom>
          <a:solidFill>
            <a:srgbClr val="CCFBF1"/>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977639"/>
            <a:ext cx="10058400" cy="2286000"/>
          </a:xfrm>
          <a:prstGeom prst="rect">
            <a:avLst/>
          </a:prstGeom>
          <a:noFill/>
        </p:spPr>
        <p:txBody>
          <a:bodyPr wrap="square">
            <a:spAutoFit/>
          </a:bodyPr>
          <a:lstStyle/>
          <a:p>
            <a:pPr algn="ctr">
              <a:spcAft>
                <a:spcPts val="600"/>
              </a:spcAft>
              <a:defRPr sz="2800" b="1">
                <a:solidFill>
                  <a:srgbClr val="0D5C75"/>
                </a:solidFill>
                <a:latin typeface="Segoe UI"/>
              </a:defRPr>
            </a:pPr>
            <a:r>
              <a:t>THANK YOU</a:t>
            </a:r>
          </a:p>
          <a:p>
            <a:pPr algn="ctr">
              <a:spcAft>
                <a:spcPts val="400"/>
              </a:spcAft>
              <a:defRPr sz="1200" b="1">
                <a:solidFill>
                  <a:srgbClr val="D97706"/>
                </a:solidFill>
                <a:latin typeface="Segoe UI"/>
              </a:defRPr>
            </a:pPr>
            <a:r>
              <a:t>COMMUNITY ITEM LENDING SYSTEM  |  MCA III SEM VIVA VOCE (Nov 2026)</a:t>
            </a:r>
          </a:p>
          <a:p>
            <a:pPr algn="ctr">
              <a:spcAft>
                <a:spcPts val="300"/>
              </a:spcAft>
              <a:defRPr sz="1400" b="1">
                <a:solidFill>
                  <a:srgbClr val="0F172A"/>
                </a:solidFill>
                <a:latin typeface="Segoe UI"/>
              </a:defRPr>
            </a:pPr>
            <a:r>
              <a:t>NAME OF STUDENT:  MOHAMED SHAHITH AKEEL S A</a:t>
            </a:r>
          </a:p>
          <a:p>
            <a:pPr algn="ctr">
              <a:spcAft>
                <a:spcPts val="400"/>
              </a:spcAft>
              <a:defRPr sz="1300" b="1">
                <a:solidFill>
                  <a:srgbClr val="0F766E"/>
                </a:solidFill>
                <a:latin typeface="Segoe UI"/>
              </a:defRPr>
            </a:pPr>
            <a:r>
              <a:t>ENROLMENT NUMBER :  EA2532251010500</a:t>
            </a:r>
          </a:p>
          <a:p>
            <a:pPr algn="ctr">
              <a:defRPr sz="1100" b="1">
                <a:solidFill>
                  <a:srgbClr val="0D9488"/>
                </a:solidFill>
                <a:latin typeface="Segoe UI"/>
              </a:defRPr>
            </a:pPr>
            <a:r>
              <a:t>Project GitHub Repository:  https://github.com/Shahith2004/Community-Item-Lending-System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