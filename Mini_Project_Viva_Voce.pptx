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972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4192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502920"/>
            <a:ext cx="9997135" cy="5806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23360" y="731520"/>
            <a:ext cx="4144975" cy="105156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[ PASTE SRM LOGO HERE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65960"/>
            <a:ext cx="94484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4B5563"/>
                </a:solidFill>
                <a:latin typeface="Segoe UI"/>
              </a:defRPr>
            </a:pPr>
            <a:r>
              <a:t>DIRECTORATE OF ONLINE EDUCATION</a:t>
            </a:r>
          </a:p>
          <a:p>
            <a:pPr algn="ctr">
              <a:spcBef>
                <a:spcPts val="400"/>
              </a:spcBef>
              <a:defRPr sz="2000" b="1">
                <a:solidFill>
                  <a:srgbClr val="044E38"/>
                </a:solidFill>
                <a:latin typeface="Segoe UI"/>
              </a:defRPr>
            </a:pPr>
            <a:r>
              <a:t>SRM INSTITUTE OF SCIENCE AND TECHNOLOGY</a:t>
            </a:r>
          </a:p>
          <a:p>
            <a:pPr algn="ctr">
              <a:spcBef>
                <a:spcPts val="300"/>
              </a:spcBef>
              <a:defRPr sz="1300">
                <a:solidFill>
                  <a:srgbClr val="4B5563"/>
                </a:solidFill>
                <a:latin typeface="Segoe UI"/>
              </a:defRPr>
            </a:pPr>
            <a:r>
              <a:t>KATTANKULATHUR - 603 203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3383280"/>
            <a:ext cx="6339535" cy="1188720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MCA III SEM</a:t>
            </a:r>
          </a:p>
          <a:p>
            <a:pPr algn="ctr">
              <a:spcBef>
                <a:spcPts val="300"/>
              </a:spcBef>
              <a:defRPr sz="1900" b="1">
                <a:solidFill>
                  <a:srgbClr val="044E38"/>
                </a:solidFill>
                <a:latin typeface="Segoe UI"/>
              </a:defRPr>
            </a:pPr>
            <a:r>
              <a:t>MINI PROJECT VIVA VOCE</a:t>
            </a:r>
          </a:p>
          <a:p>
            <a:pPr algn="ctr">
              <a:spcBef>
                <a:spcPts val="200"/>
              </a:spcBef>
              <a:defRPr sz="1300" b="1">
                <a:solidFill>
                  <a:srgbClr val="4B5563"/>
                </a:solidFill>
                <a:latin typeface="Segoe UI"/>
              </a:defRPr>
            </a:pPr>
            <a:r>
              <a:t>NOV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4800600"/>
            <a:ext cx="7619695" cy="10972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ENROLMENT NUMBER : EA2532251010500</a:t>
            </a:r>
          </a:p>
          <a:p>
            <a:pPr algn="ctr">
              <a:spcBef>
                <a:spcPts val="400"/>
              </a:spcBef>
              <a:defRPr sz="1600" b="1">
                <a:solidFill>
                  <a:srgbClr val="065F46"/>
                </a:solidFill>
                <a:latin typeface="Segoe UI"/>
              </a:defRPr>
            </a:pPr>
            <a:r>
              <a:t>NAME OF STUDENT : MOHAMED SHAHITH AKEEL S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00" cy="7315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Segoe UI"/>
              </a:defRPr>
            </a:pPr>
            <a: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44E38"/>
                </a:solidFill>
                <a:latin typeface="Segoe UI"/>
              </a:defRPr>
            </a:pPr>
            <a:r>
              <a:t>TITLE OF MINI PROJECT</a:t>
            </a:r>
          </a:p>
          <a:p>
            <a:pPr>
              <a:spcBef>
                <a:spcPts val="200"/>
              </a:spcBef>
              <a:defRPr sz="1150">
                <a:solidFill>
                  <a:srgbClr val="4B5563"/>
                </a:solidFill>
                <a:latin typeface="Segoe UI"/>
              </a:defRPr>
            </a:pPr>
            <a:r>
              <a:t>MCA III Semester Team / Individual Software Engineering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Segoe UI"/>
              </a:defRPr>
            </a:pPr>
            <a:r>
              <a:t>Community Item Lending System  |  MCA III Sem Mini Project Viva Voce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73952"/>
            <a:ext cx="23161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65F46"/>
                </a:solidFill>
                <a:latin typeface="Segoe UI"/>
              </a:defRPr>
            </a:pPr>
            <a:r>
              <a:t>Slide - 2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10728655" cy="17373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1200" b="1">
                <a:solidFill>
                  <a:srgbClr val="D97706"/>
                </a:solidFill>
                <a:latin typeface="Segoe UI"/>
              </a:defRPr>
            </a:pPr>
            <a:r>
              <a:t>TITLE OF MINI PROJECT / INTERNSHIP</a:t>
            </a:r>
          </a:p>
          <a:p>
            <a:pPr>
              <a:spcBef>
                <a:spcPts val="400"/>
              </a:spcBef>
              <a:defRPr sz="2800" b="1">
                <a:solidFill>
                  <a:srgbClr val="044E38"/>
                </a:solidFill>
                <a:latin typeface="Segoe UI"/>
              </a:defRPr>
            </a:pPr>
            <a:r>
              <a:t>COMMUNITY ITEM LENDING SYSTEM</a:t>
            </a:r>
          </a:p>
          <a:p>
            <a:pPr>
              <a:spcBef>
                <a:spcPts val="400"/>
              </a:spcBef>
              <a:defRPr sz="1300">
                <a:solidFill>
                  <a:srgbClr val="4B5563"/>
                </a:solidFill>
                <a:latin typeface="Segoe UI"/>
              </a:defRPr>
            </a:pPr>
            <a:r>
              <a:t>A Secure Web Platform for Hyperlocal Neighborhood Resource Sharing &amp; Circular Economy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10728655" cy="64008"/>
          </a:xfrm>
          <a:prstGeom prst="round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3383280"/>
            <a:ext cx="3332073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3383280"/>
            <a:ext cx="3332073" cy="64008"/>
          </a:xfrm>
          <a:prstGeom prst="round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66160"/>
            <a:ext cx="2874873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65F46"/>
                </a:solidFill>
                <a:latin typeface="Segoe UI"/>
              </a:defRPr>
            </a:pPr>
            <a:r>
              <a:t>PROBLEM DOMAIN</a:t>
            </a:r>
          </a:p>
          <a:p>
            <a:pPr>
              <a:spcBef>
                <a:spcPts val="300"/>
              </a:spcBef>
              <a:spcAft>
                <a:spcPts val="800"/>
              </a:spcAft>
              <a:defRPr sz="1300" b="1">
                <a:solidFill>
                  <a:srgbClr val="111827"/>
                </a:solidFill>
                <a:latin typeface="Segoe UI"/>
              </a:defRPr>
            </a:pPr>
            <a:r>
              <a:t>Hyperlocal Collaborative Consumption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Household Overspending: </a:t>
            </a:r>
            <a:r>
              <a:rPr sz="1000">
                <a:solidFill>
                  <a:srgbClr val="111827"/>
                </a:solidFill>
                <a:latin typeface="Segoe UI"/>
              </a:rPr>
              <a:t>Prevents duplicate buying of costly tools.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Domestic Clutter: </a:t>
            </a:r>
            <a:r>
              <a:rPr sz="1000">
                <a:solidFill>
                  <a:srgbClr val="111827"/>
                </a:solidFill>
                <a:latin typeface="Segoe UI"/>
              </a:rPr>
              <a:t>Shares items that are needed only rarely.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Community Trust: </a:t>
            </a:r>
            <a:r>
              <a:rPr sz="1000">
                <a:solidFill>
                  <a:srgbClr val="111827"/>
                </a:solidFill>
                <a:latin typeface="Segoe UI"/>
              </a:rPr>
              <a:t>Connects verified residential neighbors safely.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29353" y="3383280"/>
            <a:ext cx="3332073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29353" y="3383280"/>
            <a:ext cx="3332073" cy="640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7953" y="3566160"/>
            <a:ext cx="2874873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Segoe UI"/>
              </a:defRPr>
            </a:pPr>
            <a:r>
              <a:t>TECHNOLOGY STACK</a:t>
            </a:r>
          </a:p>
          <a:p>
            <a:pPr>
              <a:spcBef>
                <a:spcPts val="300"/>
              </a:spcBef>
              <a:spcAft>
                <a:spcPts val="800"/>
              </a:spcAft>
              <a:defRPr sz="1300" b="1">
                <a:solidFill>
                  <a:srgbClr val="111827"/>
                </a:solidFill>
                <a:latin typeface="Segoe UI"/>
              </a:defRPr>
            </a:pPr>
            <a:r>
              <a:t>Full-Stack Web Architecture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Backend Framework: </a:t>
            </a:r>
            <a:r>
              <a:rPr sz="1000">
                <a:solidFill>
                  <a:srgbClr val="111827"/>
                </a:solidFill>
                <a:latin typeface="Segoe UI"/>
              </a:rPr>
              <a:t>Python 3.12 + Flask 3.0 WSGI Engine.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Cloud Database: </a:t>
            </a:r>
            <a:r>
              <a:rPr sz="1000">
                <a:solidFill>
                  <a:srgbClr val="111827"/>
                </a:solidFill>
                <a:latin typeface="Segoe UI"/>
              </a:rPr>
              <a:t>TiDB Cloud Serverless (MySQL 8.0 Protocol).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Frontend Design: </a:t>
            </a:r>
            <a:r>
              <a:rPr sz="1000">
                <a:solidFill>
                  <a:srgbClr val="111827"/>
                </a:solidFill>
                <a:latin typeface="Segoe UI"/>
              </a:rPr>
              <a:t>Responsive HTML5, CSS3, Bootstrap 5.3.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7186" y="3383280"/>
            <a:ext cx="3332073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27186" y="3383280"/>
            <a:ext cx="3332073" cy="640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5786" y="3566160"/>
            <a:ext cx="2874873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EA580C"/>
                </a:solidFill>
                <a:latin typeface="Segoe UI"/>
              </a:defRPr>
            </a:pPr>
            <a:r>
              <a:t>EXPECTED IMPACT</a:t>
            </a:r>
          </a:p>
          <a:p>
            <a:pPr>
              <a:spcBef>
                <a:spcPts val="300"/>
              </a:spcBef>
              <a:spcAft>
                <a:spcPts val="800"/>
              </a:spcAft>
              <a:defRPr sz="1300" b="1">
                <a:solidFill>
                  <a:srgbClr val="111827"/>
                </a:solidFill>
                <a:latin typeface="Segoe UI"/>
              </a:defRPr>
            </a:pPr>
            <a:r>
              <a:t>Economic &amp; Environmental Benefits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Financial Savings: </a:t>
            </a:r>
            <a:r>
              <a:rPr sz="1000">
                <a:solidFill>
                  <a:srgbClr val="111827"/>
                </a:solidFill>
                <a:latin typeface="Segoe UI"/>
              </a:rPr>
              <a:t>Zero rental fees; eliminates deposit barriers.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Carbon Reduction: </a:t>
            </a:r>
            <a:r>
              <a:rPr sz="1000">
                <a:solidFill>
                  <a:srgbClr val="111827"/>
                </a:solidFill>
                <a:latin typeface="Segoe UI"/>
              </a:rPr>
              <a:t>Cuts manufacturing demand for duplicate goods.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Circular Economy: </a:t>
            </a:r>
            <a:r>
              <a:rPr sz="1000">
                <a:solidFill>
                  <a:srgbClr val="111827"/>
                </a:solidFill>
                <a:latin typeface="Segoe UI"/>
              </a:rPr>
              <a:t>Extends lifespan of existing community resources.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00" cy="7315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Segoe UI"/>
              </a:defRPr>
            </a:pPr>
            <a: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44E38"/>
                </a:solidFill>
                <a:latin typeface="Segoe UI"/>
              </a:defRPr>
            </a:pPr>
            <a:r>
              <a:t>ABSTRACT</a:t>
            </a:r>
          </a:p>
          <a:p>
            <a:pPr>
              <a:spcBef>
                <a:spcPts val="200"/>
              </a:spcBef>
              <a:defRPr sz="1150">
                <a:solidFill>
                  <a:srgbClr val="4B5563"/>
                </a:solidFill>
                <a:latin typeface="Segoe UI"/>
              </a:defRPr>
            </a:pPr>
            <a:r>
              <a:t>What the Project Solves and Delivers for Community Residents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Segoe UI"/>
              </a:defRPr>
            </a:pPr>
            <a:r>
              <a:t>Community Item Lending System  |  MCA III Sem Mini Project Viva Voce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73952"/>
            <a:ext cx="23161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65F46"/>
                </a:solidFill>
                <a:latin typeface="Segoe UI"/>
              </a:defRPr>
            </a:pPr>
            <a:r>
              <a:t>Slide - 3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3332073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3332073" cy="640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600200"/>
            <a:ext cx="2874873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Segoe UI"/>
              </a:defRPr>
            </a:pPr>
            <a:r>
              <a:t>THE PROBLEM</a:t>
            </a:r>
          </a:p>
          <a:p>
            <a:pPr>
              <a:spcBef>
                <a:spcPts val="200"/>
              </a:spcBef>
              <a:spcAft>
                <a:spcPts val="1200"/>
              </a:spcAft>
              <a:defRPr sz="1050" b="1">
                <a:solidFill>
                  <a:srgbClr val="4B5563"/>
                </a:solidFill>
                <a:latin typeface="Segoe UI"/>
              </a:defRPr>
            </a:pPr>
            <a:r>
              <a:t>Redundant Domestic Purchases &amp; High Rental Costs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Household Underutilization: </a:t>
            </a:r>
            <a:r>
              <a:rPr sz="1100">
                <a:solidFill>
                  <a:srgbClr val="111827"/>
                </a:solidFill>
                <a:latin typeface="Segoe UI"/>
              </a:rPr>
              <a:t>Common tools like drills and ladders are used for less than 15 minutes a year, then sit idle in storage.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Heavy Financial Outlay: </a:t>
            </a:r>
            <a:r>
              <a:rPr sz="1100">
                <a:solidFill>
                  <a:srgbClr val="111827"/>
                </a:solidFill>
                <a:latin typeface="Segoe UI"/>
              </a:rPr>
              <a:t>Buying infrequently used appliances wastes household budgets and clutters living spaces unnecessarily.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Commercial Rental Burdens: </a:t>
            </a:r>
            <a:r>
              <a:rPr sz="1100">
                <a:solidFill>
                  <a:srgbClr val="111827"/>
                </a:solidFill>
                <a:latin typeface="Segoe UI"/>
              </a:rPr>
              <a:t>Rental shops charge high daily fees, transport costs, and demanding security deposits that deter borrowing.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9353" y="1371600"/>
            <a:ext cx="3332073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29353" y="1371600"/>
            <a:ext cx="3332073" cy="64008"/>
          </a:xfrm>
          <a:prstGeom prst="round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7953" y="1600200"/>
            <a:ext cx="2874873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5F46"/>
                </a:solidFill>
                <a:latin typeface="Segoe UI"/>
              </a:defRPr>
            </a:pPr>
            <a:r>
              <a:t>THE SOLUTION</a:t>
            </a:r>
          </a:p>
          <a:p>
            <a:pPr>
              <a:spcBef>
                <a:spcPts val="200"/>
              </a:spcBef>
              <a:spcAft>
                <a:spcPts val="1200"/>
              </a:spcAft>
              <a:defRPr sz="1050" b="1">
                <a:solidFill>
                  <a:srgbClr val="4B5563"/>
                </a:solidFill>
                <a:latin typeface="Segoe UI"/>
              </a:defRPr>
            </a:pPr>
            <a:r>
              <a:t>Automated Peer-to-Peer Neighborhood Sharing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Centralized Digital Catalog: </a:t>
            </a:r>
            <a:r>
              <a:rPr sz="1100">
                <a:solidFill>
                  <a:srgbClr val="111827"/>
                </a:solidFill>
                <a:latin typeface="Segoe UI"/>
              </a:rPr>
              <a:t>Verified residents easily list spare tools, books, and appliances with photos and condition details.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One-Click Borrowing: </a:t>
            </a:r>
            <a:r>
              <a:rPr sz="1100">
                <a:solidFill>
                  <a:srgbClr val="111827"/>
                </a:solidFill>
                <a:latin typeface="Segoe UI"/>
              </a:rPr>
              <a:t>Borrowers search local items, check live availability, and send instant requests with desired return dates.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State Machine Workflow: </a:t>
            </a:r>
            <a:r>
              <a:rPr sz="1100">
                <a:solidFill>
                  <a:srgbClr val="111827"/>
                </a:solidFill>
                <a:latin typeface="Segoe UI"/>
              </a:rPr>
              <a:t>Automated 4-stage tracking: Available -&gt; Pending -&gt; Lent -&gt; Returned, preventing double-booking.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186" y="1371600"/>
            <a:ext cx="3332073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27186" y="1371600"/>
            <a:ext cx="3332073" cy="640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5786" y="1600200"/>
            <a:ext cx="2874873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EA580C"/>
                </a:solidFill>
                <a:latin typeface="Segoe UI"/>
              </a:defRPr>
            </a:pPr>
            <a:r>
              <a:t>EXPECTED VALUE</a:t>
            </a:r>
          </a:p>
          <a:p>
            <a:pPr>
              <a:spcBef>
                <a:spcPts val="200"/>
              </a:spcBef>
              <a:spcAft>
                <a:spcPts val="1200"/>
              </a:spcAft>
              <a:defRPr sz="1050" b="1">
                <a:solidFill>
                  <a:srgbClr val="4B5563"/>
                </a:solidFill>
                <a:latin typeface="Segoe UI"/>
              </a:defRPr>
            </a:pPr>
            <a:r>
              <a:t>Community Cohesion &amp; Environmental Sustainability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Financial Savings: </a:t>
            </a:r>
            <a:r>
              <a:rPr sz="1100">
                <a:solidFill>
                  <a:srgbClr val="111827"/>
                </a:solidFill>
                <a:latin typeface="Segoe UI"/>
              </a:rPr>
              <a:t>Neighbors save thousands of rupees each year through free community borrowing without rental fees.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Eco-Friendly Circular Economy: </a:t>
            </a:r>
            <a:r>
              <a:rPr sz="1100">
                <a:solidFill>
                  <a:srgbClr val="111827"/>
                </a:solidFill>
                <a:latin typeface="Segoe UI"/>
              </a:rPr>
              <a:t>Cuts duplicate manufacturing demand, reducing plastic, electronic, and metal waste.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Mutual Neighborhood Trust: </a:t>
            </a:r>
            <a:r>
              <a:rPr sz="1100">
                <a:solidFill>
                  <a:srgbClr val="111827"/>
                </a:solidFill>
                <a:latin typeface="Segoe UI"/>
              </a:rPr>
              <a:t>Encourages communication, accountability, and goodwill between residential community members.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00" cy="7315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Segoe UI"/>
              </a:defRPr>
            </a:pPr>
            <a:r>
              <a:t>CORE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44E38"/>
                </a:solidFill>
                <a:latin typeface="Segoe UI"/>
              </a:defRPr>
            </a:pPr>
            <a:r>
              <a:t>KEY FEATURES</a:t>
            </a:r>
          </a:p>
          <a:p>
            <a:pPr>
              <a:spcBef>
                <a:spcPts val="200"/>
              </a:spcBef>
              <a:defRPr sz="1150">
                <a:solidFill>
                  <a:srgbClr val="4B5563"/>
                </a:solidFill>
                <a:latin typeface="Segoe UI"/>
              </a:defRPr>
            </a:pPr>
            <a:r>
              <a:t>Essential Functionality Built for Neighborhood Communities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Segoe UI"/>
              </a:defRPr>
            </a:pPr>
            <a:r>
              <a:t>Community Item Lending System  |  MCA III Sem Mini Project Viva Voce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73952"/>
            <a:ext cx="23161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65F46"/>
                </a:solidFill>
                <a:latin typeface="Segoe UI"/>
              </a:defRPr>
            </a:pPr>
            <a:r>
              <a:t>Slide - 4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518099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5180990" cy="64008"/>
          </a:xfrm>
          <a:prstGeom prst="round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554480"/>
            <a:ext cx="472379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065F46"/>
                </a:solidFill>
                <a:latin typeface="Segoe UI"/>
              </a:rPr>
              <a:t>[01]  </a:t>
            </a:r>
            <a:r>
              <a:rPr sz="1300" b="1">
                <a:solidFill>
                  <a:srgbClr val="111827"/>
                </a:solidFill>
                <a:latin typeface="Segoe UI"/>
              </a:rPr>
              <a:t>Easy Item Cataloging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>
                <a:solidFill>
                  <a:srgbClr val="4B5563"/>
                </a:solidFill>
                <a:latin typeface="Segoe UI"/>
              </a:defRPr>
            </a:pPr>
            <a:r>
              <a:t>List surplus household tools in seconds with clear photos, descriptions, and category tags.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Photo Upload with UUIDs: </a:t>
            </a:r>
            <a:r>
              <a:rPr sz="1000">
                <a:solidFill>
                  <a:srgbClr val="111827"/>
                </a:solidFill>
                <a:latin typeface="Segoe UI"/>
              </a:rPr>
              <a:t>Secure file sanitization ensures unique, uncollided image names.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Structured Categories: </a:t>
            </a:r>
            <a:r>
              <a:rPr sz="1000">
                <a:solidFill>
                  <a:srgbClr val="111827"/>
                </a:solidFill>
                <a:latin typeface="Segoe UI"/>
              </a:rPr>
              <a:t>Tools, Gardening, Kitchen, Books, Electronics, and Sports.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Condition Guidelines: </a:t>
            </a:r>
            <a:r>
              <a:rPr sz="1000">
                <a:solidFill>
                  <a:srgbClr val="111827"/>
                </a:solidFill>
                <a:latin typeface="Segoe UI"/>
              </a:rPr>
              <a:t>Allows owners to describe item condition and usage tips.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270" y="1371600"/>
            <a:ext cx="518099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78270" y="1371600"/>
            <a:ext cx="5180990" cy="640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6870" y="1554480"/>
            <a:ext cx="472379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D97706"/>
                </a:solidFill>
                <a:latin typeface="Segoe UI"/>
              </a:rPr>
              <a:t>[02]  </a:t>
            </a:r>
            <a:r>
              <a:rPr sz="1300" b="1">
                <a:solidFill>
                  <a:srgbClr val="111827"/>
                </a:solidFill>
                <a:latin typeface="Segoe UI"/>
              </a:rPr>
              <a:t>Smart Search &amp; Filtering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>
                <a:solidFill>
                  <a:srgbClr val="4B5563"/>
                </a:solidFill>
                <a:latin typeface="Segoe UI"/>
              </a:defRPr>
            </a:pPr>
            <a:r>
              <a:t>Find needed equipment within the neighborhood immediately without scrolling through chats.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Keyword Query Engine: </a:t>
            </a:r>
            <a:r>
              <a:rPr sz="1000">
                <a:solidFill>
                  <a:srgbClr val="111827"/>
                </a:solidFill>
                <a:latin typeface="Segoe UI"/>
              </a:rPr>
              <a:t>Search by item title or description in real time.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One-Click Category Filters: </a:t>
            </a:r>
            <a:r>
              <a:rPr sz="1000">
                <a:solidFill>
                  <a:srgbClr val="111827"/>
                </a:solidFill>
                <a:latin typeface="Segoe UI"/>
              </a:rPr>
              <a:t>Interactive badge pills to narrow down available listings.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Real-Time Status Badges: </a:t>
            </a:r>
            <a:r>
              <a:rPr sz="1000">
                <a:solidFill>
                  <a:srgbClr val="111827"/>
                </a:solidFill>
                <a:latin typeface="Segoe UI"/>
              </a:rPr>
              <a:t>Instant visual badges for Available, Pending, and Lent items.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86200"/>
            <a:ext cx="518099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3886200"/>
            <a:ext cx="5180990" cy="640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69080"/>
            <a:ext cx="472379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EA580C"/>
                </a:solidFill>
                <a:latin typeface="Segoe UI"/>
              </a:rPr>
              <a:t>[03]  </a:t>
            </a:r>
            <a:r>
              <a:rPr sz="1300" b="1">
                <a:solidFill>
                  <a:srgbClr val="111827"/>
                </a:solidFill>
                <a:latin typeface="Segoe UI"/>
              </a:rPr>
              <a:t>Automated Lending Workflow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>
                <a:solidFill>
                  <a:srgbClr val="4B5563"/>
                </a:solidFill>
                <a:latin typeface="Segoe UI"/>
              </a:defRPr>
            </a:pPr>
            <a:r>
              <a:t>Streamlined 4-stage lifecycle to ensure smooth borrowing without misunderstandings.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Digital Borrow Requests: </a:t>
            </a:r>
            <a:r>
              <a:rPr sz="1000">
                <a:solidFill>
                  <a:srgbClr val="111827"/>
                </a:solidFill>
                <a:latin typeface="Segoe UI"/>
              </a:rPr>
              <a:t>Select return dates and include custom messages to the owner.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Owner Approval Controls: </a:t>
            </a:r>
            <a:r>
              <a:rPr sz="1000">
                <a:solidFill>
                  <a:srgbClr val="111827"/>
                </a:solidFill>
                <a:latin typeface="Segoe UI"/>
              </a:rPr>
              <a:t>One-click approval or rejection right from the user dashboard.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Automatic Concurrency Lock: </a:t>
            </a:r>
            <a:r>
              <a:rPr sz="1000">
                <a:solidFill>
                  <a:srgbClr val="111827"/>
                </a:solidFill>
                <a:latin typeface="Segoe UI"/>
              </a:rPr>
              <a:t>Items automatically lock to prevent double-booking.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270" y="3886200"/>
            <a:ext cx="518099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78270" y="3886200"/>
            <a:ext cx="5180990" cy="64008"/>
          </a:xfrm>
          <a:prstGeom prst="round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6870" y="4069080"/>
            <a:ext cx="472379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065F46"/>
                </a:solidFill>
                <a:latin typeface="Segoe UI"/>
              </a:rPr>
              <a:t>[04]  </a:t>
            </a:r>
            <a:r>
              <a:rPr sz="1300" b="1">
                <a:solidFill>
                  <a:srgbClr val="111827"/>
                </a:solidFill>
                <a:latin typeface="Segoe UI"/>
              </a:rPr>
              <a:t>Audit History &amp; Profile Dashboard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>
                <a:solidFill>
                  <a:srgbClr val="4B5563"/>
                </a:solidFill>
                <a:latin typeface="Segoe UI"/>
              </a:defRPr>
            </a:pPr>
            <a:r>
              <a:t>Complete accountability and transparency for all community transactions.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Unified Dashboard: </a:t>
            </a:r>
            <a:r>
              <a:rPr sz="1000">
                <a:solidFill>
                  <a:srgbClr val="111827"/>
                </a:solidFill>
                <a:latin typeface="Segoe UI"/>
              </a:rPr>
              <a:t>Three tabs for Listed Items, Received Requests, and Active Borrows.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Permanent Audit Trail: </a:t>
            </a:r>
            <a:r>
              <a:rPr sz="1000">
                <a:solidFill>
                  <a:srgbClr val="111827"/>
                </a:solidFill>
                <a:latin typeface="Segoe UI"/>
              </a:rPr>
              <a:t>Records timestamps, borrower names, and return dates.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Cryptographic Security: </a:t>
            </a:r>
            <a:r>
              <a:rPr sz="1000">
                <a:solidFill>
                  <a:srgbClr val="111827"/>
                </a:solidFill>
                <a:latin typeface="Segoe UI"/>
              </a:rPr>
              <a:t>PBKDF2:SHA256 password hashing and secure session control.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00" cy="7315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Segoe UI"/>
              </a:defRPr>
            </a:pPr>
            <a:r>
              <a:t>BACKGROUND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44E38"/>
                </a:solidFill>
                <a:latin typeface="Segoe UI"/>
              </a:defRPr>
            </a:pPr>
            <a:r>
              <a:t>INTRODUCTION &amp; PROBLEM CONTEXT</a:t>
            </a:r>
          </a:p>
          <a:p>
            <a:pPr>
              <a:spcBef>
                <a:spcPts val="200"/>
              </a:spcBef>
              <a:defRPr sz="1150">
                <a:solidFill>
                  <a:srgbClr val="4B5563"/>
                </a:solidFill>
                <a:latin typeface="Segoe UI"/>
              </a:defRPr>
            </a:pPr>
            <a:r>
              <a:t>Why Neighborhood Resource Sharing Matters and How We Solve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Segoe UI"/>
              </a:defRPr>
            </a:pPr>
            <a:r>
              <a:t>Community Item Lending System  |  MCA III Sem Mini Project Viva Voce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73952"/>
            <a:ext cx="23161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65F46"/>
                </a:solidFill>
                <a:latin typeface="Segoe UI"/>
              </a:defRPr>
            </a:pPr>
            <a:r>
              <a:t>Slide - 5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518099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5180990" cy="640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600200"/>
            <a:ext cx="472379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D97706"/>
                </a:solidFill>
                <a:latin typeface="Segoe UI"/>
              </a:defRPr>
            </a:pPr>
            <a:r>
              <a:t>THE DOMESTIC TOOL PARADOX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12-Minute Lifespan: </a:t>
            </a:r>
            <a:r>
              <a:rPr sz="1100">
                <a:solidFill>
                  <a:srgbClr val="111827"/>
                </a:solidFill>
                <a:latin typeface="Segoe UI"/>
              </a:rPr>
              <a:t>Studies show the average power drill is operated for only 12 to 15 minutes during its entire working life.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Redundant Purchases: </a:t>
            </a:r>
            <a:r>
              <a:rPr sz="1100">
                <a:solidFill>
                  <a:srgbClr val="111827"/>
                </a:solidFill>
                <a:latin typeface="Segoe UI"/>
              </a:rPr>
              <a:t>In an apartment complex of 100 families, dozens of identical lawn mowers, ladders, and tools are bought redundantly.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Storage Clutter &amp; Waste: </a:t>
            </a:r>
            <a:r>
              <a:rPr sz="1100">
                <a:solidFill>
                  <a:srgbClr val="111827"/>
                </a:solidFill>
                <a:latin typeface="Segoe UI"/>
              </a:rPr>
              <a:t>Items sit idle in cupboards for years, losing value while creating domestic clutter and electronic waste.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Existing Channels Fall Short: </a:t>
            </a:r>
            <a:r>
              <a:rPr sz="1100">
                <a:solidFill>
                  <a:srgbClr val="111827"/>
                </a:solidFill>
                <a:latin typeface="Segoe UI"/>
              </a:rPr>
              <a:t>Retail sites only push new purchases; classifieds focus on disposal; rental shops charge expensive daily fees.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270" y="1371600"/>
            <a:ext cx="518099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78270" y="1371600"/>
            <a:ext cx="5180990" cy="64008"/>
          </a:xfrm>
          <a:prstGeom prst="round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6870" y="1600200"/>
            <a:ext cx="472379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65F46"/>
                </a:solidFill>
                <a:latin typeface="Segoe UI"/>
              </a:defRPr>
            </a:pPr>
            <a:r>
              <a:t>OUR AIM &amp; AUTOMATED SOLUTION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Centralized Sharing Portal: </a:t>
            </a:r>
            <a:r>
              <a:rPr sz="1100">
                <a:solidFill>
                  <a:srgbClr val="111827"/>
                </a:solidFill>
                <a:latin typeface="Segoe UI"/>
              </a:rPr>
              <a:t>Develop a lightweight, secure web app where community members list and discover idle household items.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Structured Borrowing Workflow: </a:t>
            </a:r>
            <a:r>
              <a:rPr sz="1100">
                <a:solidFill>
                  <a:srgbClr val="111827"/>
                </a:solidFill>
                <a:latin typeface="Segoe UI"/>
              </a:rPr>
              <a:t>Digital borrow requests with dates and messages replace messy WhatsApp messages and verbal requests.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Zero-Rental Barrier: </a:t>
            </a:r>
            <a:r>
              <a:rPr sz="1100">
                <a:solidFill>
                  <a:srgbClr val="111827"/>
                </a:solidFill>
                <a:latin typeface="Segoe UI"/>
              </a:rPr>
              <a:t>Allows free community lending between trusted neighbors, saving money and building neighborhood cohesion.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Automated Tracking &amp; Audit: </a:t>
            </a:r>
            <a:r>
              <a:rPr sz="1100">
                <a:solidFill>
                  <a:srgbClr val="111827"/>
                </a:solidFill>
                <a:latin typeface="Segoe UI"/>
              </a:rPr>
              <a:t>4-stage state machine (Available -&gt; Pending -&gt; Lent -&gt; Returned) ensures complete accountability.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00" cy="7315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44E38"/>
                </a:solidFill>
                <a:latin typeface="Segoe UI"/>
              </a:defRPr>
            </a:pPr>
            <a:r>
              <a:t>SYSTEM REQUIREMENTS</a:t>
            </a:r>
          </a:p>
          <a:p>
            <a:pPr>
              <a:spcBef>
                <a:spcPts val="200"/>
              </a:spcBef>
              <a:defRPr sz="1150">
                <a:solidFill>
                  <a:srgbClr val="4B5563"/>
                </a:solidFill>
                <a:latin typeface="Segoe UI"/>
              </a:defRPr>
            </a:pPr>
            <a:r>
              <a:t>Hardware and Software Environment Specifications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Segoe UI"/>
              </a:defRPr>
            </a:pPr>
            <a:r>
              <a:t>Community Item Lending System  |  MCA III Sem Mini Project Viva Voce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73952"/>
            <a:ext cx="23161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65F46"/>
                </a:solidFill>
                <a:latin typeface="Segoe UI"/>
              </a:defRPr>
            </a:pPr>
            <a:r>
              <a:t>Slide - 6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518099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5180990" cy="64008"/>
          </a:xfrm>
          <a:prstGeom prst="round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600200"/>
            <a:ext cx="472379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65F46"/>
                </a:solidFill>
                <a:latin typeface="Segoe UI"/>
              </a:defRPr>
            </a:pPr>
            <a:r>
              <a:t>HARDWARE REQUIREMENTS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960120" y="2057400"/>
          <a:ext cx="472379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352190"/>
              </a:tblGrid>
              <a:tr h="5486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44E38"/>
                          </a:solidFill>
                          <a:latin typeface="Segoe UI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44E38"/>
                          </a:solidFill>
                          <a:latin typeface="Segoe UI"/>
                        </a:defRPr>
                      </a:pPr>
                      <a:r>
                        <a:t>Requirement Specification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Processor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Segoe UI"/>
                        </a:defRPr>
                      </a:pPr>
                      <a:r>
                        <a:t>Intel Core i3 / i5 or AMD Ryzen 3 / 5 (2.0 GHz+)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Segoe UI"/>
                        </a:defRPr>
                      </a:pPr>
                      <a:r>
                        <a:t>4 GB Minimum (8 GB Recommended for multi-tasking)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Hard Disk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Segoe UI"/>
                        </a:defRPr>
                      </a:pPr>
                      <a:r>
                        <a:t>10 GB Available free storage for code and uploaded media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Display Monitor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Segoe UI"/>
                        </a:defRPr>
                      </a:pPr>
                      <a:r>
                        <a:t>1366 x 768 or Full HD 1920 x 1080 resolution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Input Devices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Segoe UI"/>
                        </a:defRPr>
                      </a:pPr>
                      <a:r>
                        <a:t>Standard Keyboard and Optical Mouse / Trackpad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Segoe UI"/>
                        </a:defRPr>
                      </a:pPr>
                      <a:r>
                        <a:t>Broadband / 4G Internet connectivity for TiDB Cloud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278270" y="1371600"/>
            <a:ext cx="518099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78270" y="1371600"/>
            <a:ext cx="5180990" cy="640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6870" y="1600200"/>
            <a:ext cx="472379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Segoe UI"/>
              </a:defRPr>
            </a:pPr>
            <a:r>
              <a:t>SOFTWARE REQUIREMENTS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506870" y="2057400"/>
          <a:ext cx="472379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60750"/>
              </a:tblGrid>
              <a:tr h="5486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97706"/>
                          </a:solidFill>
                          <a:latin typeface="Segoe UI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FEFC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97706"/>
                          </a:solidFill>
                          <a:latin typeface="Segoe UI"/>
                        </a:defRPr>
                      </a:pPr>
                      <a:r>
                        <a:t>Selected Technology</a:t>
                      </a:r>
                    </a:p>
                  </a:txBody>
                  <a:tcPr>
                    <a:solidFill>
                      <a:srgbClr val="FEFCE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Operating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Segoe UI"/>
                        </a:defRPr>
                      </a:pPr>
                      <a:r>
                        <a:t>Microsoft Windows 10 / 11, Linux, or macOS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Programming 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Segoe UI"/>
                        </a:defRPr>
                      </a:pPr>
                      <a:r>
                        <a:t>Python 3.10 / 3.12 (Standard Runtime)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Web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Segoe UI"/>
                        </a:defRPr>
                      </a:pPr>
                      <a:r>
                        <a:t>Flask 3.0+ (Microframework with Jinja2 Templating)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Database Engine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Segoe UI"/>
                        </a:defRPr>
                      </a:pPr>
                      <a:r>
                        <a:t>TiDB Cloud Serverless (MySQL 8.0 Protocol with TLS)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Frontend Technologies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Segoe UI"/>
                        </a:defRPr>
                      </a:pPr>
                      <a:r>
                        <a:t>HTML5, CSS3, JavaScript (ES6), Bootstrap 5.3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QA &amp;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Segoe UI"/>
                        </a:defRPr>
                      </a:pPr>
                      <a:r>
                        <a:t>Pytest, VS Code, Git, GitHub Version Control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00" cy="7315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Segoe UI"/>
              </a:defRPr>
            </a:pPr>
            <a:r>
              <a:t>COMPARATIVE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44E38"/>
                </a:solidFill>
                <a:latin typeface="Segoe UI"/>
              </a:defRPr>
            </a:pPr>
            <a:r>
              <a:t>EXISTING SYSTEM VS. PROPOSED SYSTEM</a:t>
            </a:r>
          </a:p>
          <a:p>
            <a:pPr>
              <a:spcBef>
                <a:spcPts val="200"/>
              </a:spcBef>
              <a:defRPr sz="1150">
                <a:solidFill>
                  <a:srgbClr val="4B5563"/>
                </a:solidFill>
                <a:latin typeface="Segoe UI"/>
              </a:defRPr>
            </a:pPr>
            <a:r>
              <a:t>Contrasting Traditional Informal Borrowing with Our Automated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Segoe UI"/>
              </a:defRPr>
            </a:pPr>
            <a:r>
              <a:t>Community Item Lending System  |  MCA III Sem Mini Project Viva Voce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73952"/>
            <a:ext cx="23161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65F46"/>
                </a:solidFill>
                <a:latin typeface="Segoe UI"/>
              </a:defRPr>
            </a:pPr>
            <a:r>
              <a:t>Slide - 7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518099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5180990" cy="640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600200"/>
            <a:ext cx="472379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D97706"/>
                </a:solidFill>
                <a:latin typeface="Segoe UI"/>
              </a:defRPr>
            </a:pPr>
            <a:r>
              <a:t>EXISTING INFORMAL METHODS (GAPS)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Zero Catalog Visibility: </a:t>
            </a:r>
            <a:r>
              <a:rPr sz="1100">
                <a:solidFill>
                  <a:srgbClr val="111827"/>
                </a:solidFill>
                <a:latin typeface="Segoe UI"/>
              </a:rPr>
              <a:t>Neighbors have no directory to know what tools others own, leading to awkward or unanswered chat requests.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Lack of Accountability: </a:t>
            </a:r>
            <a:r>
              <a:rPr sz="1100">
                <a:solidFill>
                  <a:srgbClr val="111827"/>
                </a:solidFill>
                <a:latin typeface="Segoe UI"/>
              </a:rPr>
              <a:t>Informal verbal agreements result in forgotten return dates, lost items, and untracked damages.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Double-Booking Conflicts: </a:t>
            </a:r>
            <a:r>
              <a:rPr sz="1100">
                <a:solidFill>
                  <a:srgbClr val="111827"/>
                </a:solidFill>
                <a:latin typeface="Segoe UI"/>
              </a:rPr>
              <a:t>Without a centralized schedule, multiple borrowers can request the same item at the same time.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High Financial Burden: </a:t>
            </a:r>
            <a:r>
              <a:rPr sz="1100">
                <a:solidFill>
                  <a:srgbClr val="111827"/>
                </a:solidFill>
                <a:latin typeface="Segoe UI"/>
              </a:rPr>
              <a:t>Residents spend thousands of rupees buying tools they only need for one quick home repair.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270" y="1371600"/>
            <a:ext cx="518099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78270" y="1371600"/>
            <a:ext cx="5180990" cy="64008"/>
          </a:xfrm>
          <a:prstGeom prst="round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6870" y="1600200"/>
            <a:ext cx="472379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65F46"/>
                </a:solidFill>
                <a:latin typeface="Segoe UI"/>
              </a:defRPr>
            </a:pPr>
            <a:r>
              <a:t>PROPOSED AUTOMATED PLATFORM (SOLUTIONS)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Centralized Online Catalog: </a:t>
            </a:r>
            <a:r>
              <a:rPr sz="1100">
                <a:solidFill>
                  <a:srgbClr val="111827"/>
                </a:solidFill>
                <a:latin typeface="Segoe UI"/>
              </a:rPr>
              <a:t>Searchable digital directory of all available items with photos, condition notes, and categories.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Automated 4-Stage State Machine: </a:t>
            </a:r>
            <a:r>
              <a:rPr sz="1100">
                <a:solidFill>
                  <a:srgbClr val="111827"/>
                </a:solidFill>
                <a:latin typeface="Segoe UI"/>
              </a:rPr>
              <a:t>Lifecycle shifts automatically: Available -&gt; Pending -&gt; Lent -&gt; Returned, preventing scheduling clashes.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Permanent Audit Trail: </a:t>
            </a:r>
            <a:r>
              <a:rPr sz="1100">
                <a:solidFill>
                  <a:srgbClr val="111827"/>
                </a:solidFill>
                <a:latin typeface="Segoe UI"/>
              </a:rPr>
              <a:t>Every transaction is permanently logged with timestamps, borrower details, approvals, and return records.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Zero-Cost Circular Sharing: </a:t>
            </a:r>
            <a:r>
              <a:rPr sz="1100">
                <a:solidFill>
                  <a:srgbClr val="111827"/>
                </a:solidFill>
                <a:latin typeface="Segoe UI"/>
              </a:rPr>
              <a:t>Saves household funds, eliminates rental deposits, and reduces duplicate manufacturing waste.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00" cy="7315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44E38"/>
                </a:solidFill>
                <a:latin typeface="Segoe UI"/>
              </a:defRPr>
            </a:pPr>
            <a:r>
              <a:t>SYSTEM DESIGN - DATA FLOW DIAGRAM</a:t>
            </a:r>
          </a:p>
          <a:p>
            <a:pPr>
              <a:spcBef>
                <a:spcPts val="200"/>
              </a:spcBef>
              <a:defRPr sz="1150">
                <a:solidFill>
                  <a:srgbClr val="4B5563"/>
                </a:solidFill>
                <a:latin typeface="Segoe UI"/>
              </a:defRPr>
            </a:pPr>
            <a:r>
              <a:t>Information Flows Across Users, Application Logic, and Cloud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Segoe UI"/>
              </a:defRPr>
            </a:pPr>
            <a:r>
              <a:t>Community Item Lending System  |  MCA III Sem Mini Project Viva Voce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73952"/>
            <a:ext cx="23161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65F46"/>
                </a:solidFill>
                <a:latin typeface="Segoe UI"/>
              </a:defRPr>
            </a:pPr>
            <a:r>
              <a:t>Slide - 8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5669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1_dfd_leve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5486400" cy="42976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675120" y="1371600"/>
            <a:ext cx="47850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75120" y="1371600"/>
            <a:ext cx="4785055" cy="64008"/>
          </a:xfrm>
          <a:prstGeom prst="round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1600200"/>
            <a:ext cx="432785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65F46"/>
                </a:solidFill>
                <a:latin typeface="Segoe UI"/>
              </a:defRPr>
            </a:pPr>
            <a:r>
              <a:t>CORE DATA FLOW STAGES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1. User Registration &amp; Auth: </a:t>
            </a:r>
            <a:r>
              <a:rPr sz="1100">
                <a:solidFill>
                  <a:srgbClr val="111827"/>
                </a:solidFill>
                <a:latin typeface="Segoe UI"/>
              </a:rPr>
              <a:t>Credentials and room details sent via HTTPS; passwords encrypted with PBKDF2:SHA256 and stored in users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2. Item Upload &amp; Cataloging: </a:t>
            </a:r>
            <a:r>
              <a:rPr sz="1100">
                <a:solidFill>
                  <a:srgbClr val="111827"/>
                </a:solidFill>
                <a:latin typeface="Segoe UI"/>
              </a:rPr>
              <a:t>Lender submits title, category, and photo; backend assigns UUID filename and saves metadata in items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3. Borrow Request Workflow: </a:t>
            </a:r>
            <a:r>
              <a:rPr sz="1100">
                <a:solidFill>
                  <a:srgbClr val="111827"/>
                </a:solidFill>
                <a:latin typeface="Segoe UI"/>
              </a:rPr>
              <a:t>Borrower requests an item; record inserted into borrow_requests; item status transitions to Pending.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4. Handover &amp; Return Confirmation: </a:t>
            </a:r>
            <a:r>
              <a:rPr sz="1100">
                <a:solidFill>
                  <a:srgbClr val="111827"/>
                </a:solidFill>
                <a:latin typeface="Segoe UI"/>
              </a:rPr>
              <a:t>Owner approves request (status -&gt; Lent); upon return, owner confirms handover, resetting item to Available.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00" cy="7315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Segoe UI"/>
              </a:defRPr>
            </a:pPr>
            <a:r>
              <a:t>INTERACTION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44E38"/>
                </a:solidFill>
                <a:latin typeface="Segoe UI"/>
              </a:defRPr>
            </a:pPr>
            <a:r>
              <a:t>SYSTEM DESIGN - USE CASE DIAGRAM</a:t>
            </a:r>
          </a:p>
          <a:p>
            <a:pPr>
              <a:spcBef>
                <a:spcPts val="200"/>
              </a:spcBef>
              <a:defRPr sz="1150">
                <a:solidFill>
                  <a:srgbClr val="4B5563"/>
                </a:solidFill>
                <a:latin typeface="Segoe UI"/>
              </a:defRPr>
            </a:pPr>
            <a:r>
              <a:t>Actor Roles and Functional System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Segoe UI"/>
              </a:defRPr>
            </a:pPr>
            <a:r>
              <a:t>Community Item Lending System  |  MCA III Sem Mini Project Viva Voce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73952"/>
            <a:ext cx="23161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65F46"/>
                </a:solidFill>
                <a:latin typeface="Segoe UI"/>
              </a:defRPr>
            </a:pPr>
            <a:r>
              <a:t>Slide - 9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5669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4_uml_us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5486400" cy="42976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675120" y="1371600"/>
            <a:ext cx="47850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75120" y="1371600"/>
            <a:ext cx="4785055" cy="640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1600200"/>
            <a:ext cx="432785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D97706"/>
                </a:solidFill>
                <a:latin typeface="Segoe UI"/>
              </a:defRPr>
            </a:pPr>
            <a:r>
              <a:t>ACTOR RESPONSIBILITIES</a:t>
            </a:r>
          </a:p>
          <a:p>
            <a:pPr>
              <a:spcBef>
                <a:spcPts val="400"/>
              </a:spcBef>
              <a:defRPr sz="1150" b="1">
                <a:solidFill>
                  <a:srgbClr val="065F46"/>
                </a:solidFill>
                <a:latin typeface="Segoe UI"/>
              </a:defRPr>
            </a:pPr>
            <a:r>
              <a:t>Item Owner (Lender):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50" b="1">
                <a:solidFill>
                  <a:srgbClr val="111827"/>
                </a:solidFill>
                <a:latin typeface="Segoe UI"/>
              </a:rPr>
              <a:t>Add New Item: </a:t>
            </a:r>
            <a:r>
              <a:rPr sz="1050">
                <a:solidFill>
                  <a:srgbClr val="111827"/>
                </a:solidFill>
                <a:latin typeface="Segoe UI"/>
              </a:rPr>
              <a:t>List spare household items with title, category, description, and photo.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50" b="1">
                <a:solidFill>
                  <a:srgbClr val="111827"/>
                </a:solidFill>
                <a:latin typeface="Segoe UI"/>
              </a:rPr>
              <a:t>Manage My Listings: </a:t>
            </a:r>
            <a:r>
              <a:rPr sz="1050">
                <a:solidFill>
                  <a:srgbClr val="111827"/>
                </a:solidFill>
                <a:latin typeface="Segoe UI"/>
              </a:rPr>
              <a:t>View, edit, or remove listed items anytime.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50" b="1">
                <a:solidFill>
                  <a:srgbClr val="111827"/>
                </a:solidFill>
                <a:latin typeface="Segoe UI"/>
              </a:rPr>
              <a:t>Review Incoming Requests: </a:t>
            </a:r>
            <a:r>
              <a:rPr sz="1050">
                <a:solidFill>
                  <a:srgbClr val="111827"/>
                </a:solidFill>
                <a:latin typeface="Segoe UI"/>
              </a:rPr>
              <a:t>Approve or decline borrowing requests from neighbors.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05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50" b="1">
                <a:solidFill>
                  <a:srgbClr val="111827"/>
                </a:solidFill>
                <a:latin typeface="Segoe UI"/>
              </a:rPr>
              <a:t>Confirm Return: </a:t>
            </a:r>
            <a:r>
              <a:rPr sz="1050">
                <a:solidFill>
                  <a:srgbClr val="111827"/>
                </a:solidFill>
                <a:latin typeface="Segoe UI"/>
              </a:rPr>
              <a:t>Verify item receipt and reset status to Available.</a:t>
            </a:r>
          </a:p>
          <a:p>
            <a:pPr>
              <a:spcBef>
                <a:spcPts val="400"/>
              </a:spcBef>
              <a:defRPr sz="1150" b="1">
                <a:solidFill>
                  <a:srgbClr val="EA580C"/>
                </a:solidFill>
                <a:latin typeface="Segoe UI"/>
              </a:defRPr>
            </a:pPr>
            <a:r>
              <a:t>Community Borrower: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50" b="1">
                <a:solidFill>
                  <a:srgbClr val="111827"/>
                </a:solidFill>
                <a:latin typeface="Segoe UI"/>
              </a:rPr>
              <a:t>Search &amp; Browse: </a:t>
            </a:r>
            <a:r>
              <a:rPr sz="1050">
                <a:solidFill>
                  <a:srgbClr val="111827"/>
                </a:solidFill>
                <a:latin typeface="Segoe UI"/>
              </a:rPr>
              <a:t>Explore catalog by keyword search and category filters.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50" b="1">
                <a:solidFill>
                  <a:srgbClr val="111827"/>
                </a:solidFill>
                <a:latin typeface="Segoe UI"/>
              </a:rPr>
              <a:t>Submit Request: </a:t>
            </a:r>
            <a:r>
              <a:rPr sz="1050">
                <a:solidFill>
                  <a:srgbClr val="111827"/>
                </a:solidFill>
                <a:latin typeface="Segoe UI"/>
              </a:rPr>
              <a:t>Request item specifying duration and purpose note.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50" b="1">
                <a:solidFill>
                  <a:srgbClr val="111827"/>
                </a:solidFill>
                <a:latin typeface="Segoe UI"/>
              </a:rPr>
              <a:t>Track Status: </a:t>
            </a:r>
            <a:r>
              <a:rPr sz="1050">
                <a:solidFill>
                  <a:srgbClr val="111827"/>
                </a:solidFill>
                <a:latin typeface="Segoe UI"/>
              </a:rPr>
              <a:t>Monitor approvals and active loans in dashboard.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00" cy="7315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Segoe UI"/>
              </a:defRPr>
            </a:pPr>
            <a:r>
              <a:t>DATA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44E38"/>
                </a:solidFill>
                <a:latin typeface="Segoe UI"/>
              </a:defRPr>
            </a:pPr>
            <a:r>
              <a:t>DATABASE DESIGN - ENTITY-RELATIONSHIP MODEL</a:t>
            </a:r>
          </a:p>
          <a:p>
            <a:pPr>
              <a:spcBef>
                <a:spcPts val="200"/>
              </a:spcBef>
              <a:defRPr sz="1150">
                <a:solidFill>
                  <a:srgbClr val="4B5563"/>
                </a:solidFill>
                <a:latin typeface="Segoe UI"/>
              </a:defRPr>
            </a:pPr>
            <a:r>
              <a:t>Normalized Relational Schema on TiDB Cloud Serverless (MySQL 8.0 Protocol)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Segoe UI"/>
              </a:defRPr>
            </a:pPr>
            <a:r>
              <a:t>Community Item Lending System  |  MCA III Sem Mini Project Viva Voce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73952"/>
            <a:ext cx="23161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65F46"/>
                </a:solidFill>
                <a:latin typeface="Segoe UI"/>
              </a:defRPr>
            </a:pPr>
            <a:r>
              <a:t>Slide - 10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5669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6_database_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5486400" cy="42976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675120" y="1371600"/>
            <a:ext cx="47850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75120" y="1371600"/>
            <a:ext cx="4785055" cy="64008"/>
          </a:xfrm>
          <a:prstGeom prst="round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1600200"/>
            <a:ext cx="432785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65F46"/>
                </a:solidFill>
                <a:latin typeface="Segoe UI"/>
              </a:defRPr>
            </a:pPr>
            <a:r>
              <a:t>RELATIONAL SCHEMA ENTITIES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Table: users: </a:t>
            </a:r>
            <a:r>
              <a:rPr sz="1100">
                <a:solidFill>
                  <a:srgbClr val="111827"/>
                </a:solidFill>
                <a:latin typeface="Segoe UI"/>
              </a:rPr>
              <a:t>id (PK, Auto-inc), username (VARCHAR 50), email (VARCHAR 100, Unique), password_hash (VARCHAR 255), phone, room_number, created_at.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Table: items: </a:t>
            </a:r>
            <a:r>
              <a:rPr sz="1100">
                <a:solidFill>
                  <a:srgbClr val="111827"/>
                </a:solidFill>
                <a:latin typeface="Segoe UI"/>
              </a:rPr>
              <a:t>id (PK, Auto-inc), title (VARCHAR 100), description (TEXT), category (VARCHAR 50), image_url (VARCHAR 255), owner_id (FK -&gt; users.id), status (Available/Pending/Lent), created_at.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Table: borrow_requests: </a:t>
            </a:r>
            <a:r>
              <a:rPr sz="1100">
                <a:solidFill>
                  <a:srgbClr val="111827"/>
                </a:solidFill>
                <a:latin typeface="Segoe UI"/>
              </a:rPr>
              <a:t>id (PK, Auto-inc), item_id (FK -&gt; items.id), borrower_id (FK -&gt; users.id), request_date, return_date, status (Pending/Approved/Rejected/Returned).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Referential Integrity: </a:t>
            </a:r>
            <a:r>
              <a:rPr sz="1100">
                <a:solidFill>
                  <a:srgbClr val="111827"/>
                </a:solidFill>
                <a:latin typeface="Segoe UI"/>
              </a:rPr>
              <a:t>ON DELETE CASCADE on borrow_requests ensures clean database cleanup if items or users are removed.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00" cy="7315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Segoe UI"/>
              </a:defRPr>
            </a:pPr>
            <a:r>
              <a:t>FUNCTIONAL 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44E38"/>
                </a:solidFill>
                <a:latin typeface="Segoe UI"/>
              </a:defRPr>
            </a:pPr>
            <a:r>
              <a:t>MODULE DESCRIPTION - OVERVIEW</a:t>
            </a:r>
          </a:p>
          <a:p>
            <a:pPr>
              <a:spcBef>
                <a:spcPts val="200"/>
              </a:spcBef>
              <a:defRPr sz="1150">
                <a:solidFill>
                  <a:srgbClr val="4B5563"/>
                </a:solidFill>
                <a:latin typeface="Segoe UI"/>
              </a:defRPr>
            </a:pPr>
            <a:r>
              <a:t>Summary of the Six Core Functional Modules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Segoe UI"/>
              </a:defRPr>
            </a:pPr>
            <a:r>
              <a:t>Community Item Lending System  |  MCA III Sem Mini Project Viva Voce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73952"/>
            <a:ext cx="23161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65F46"/>
                </a:solidFill>
                <a:latin typeface="Segoe UI"/>
              </a:defRPr>
            </a:pPr>
            <a:r>
              <a:t>Slide - 11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46304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926080"/>
                <a:gridCol w="4327855"/>
                <a:gridCol w="2286000"/>
              </a:tblGrid>
              <a:tr h="66620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44E38"/>
                          </a:solidFill>
                          <a:latin typeface="Segoe UI"/>
                        </a:defRPr>
                      </a:pPr>
                      <a:r>
                        <a:t>Module ID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44E38"/>
                          </a:solidFill>
                          <a:latin typeface="Segoe UI"/>
                        </a:defRPr>
                      </a:pPr>
                      <a:r>
                        <a:t>Module Name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44E38"/>
                          </a:solidFill>
                          <a:latin typeface="Segoe UI"/>
                        </a:defRPr>
                      </a:pPr>
                      <a:r>
                        <a:t>Primary Functional Responsibility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44E38"/>
                          </a:solidFill>
                          <a:latin typeface="Segoe UI"/>
                        </a:defRPr>
                      </a:pPr>
                      <a:r>
                        <a:t>Underlying Technology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65F46"/>
                          </a:solidFill>
                          <a:latin typeface="Segoe UI"/>
                        </a:defRPr>
                      </a:pPr>
                      <a:r>
                        <a:t>MOD-01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User Authentication &amp;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B5563"/>
                          </a:solidFill>
                          <a:latin typeface="Segoe UI"/>
                        </a:defRPr>
                      </a:pPr>
                      <a:r>
                        <a:t>Registration, Login, PBKDF2 Password Hashing, Session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97706"/>
                          </a:solidFill>
                          <a:latin typeface="Segoe UI"/>
                        </a:defRPr>
                      </a:pPr>
                      <a:r>
                        <a:t>Flask Sessions &amp; Werkzeug</a:t>
                      </a:r>
                    </a:p>
                  </a:txBody>
                  <a:tcPr/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65F46"/>
                          </a:solidFill>
                          <a:latin typeface="Segoe UI"/>
                        </a:defRPr>
                      </a:pPr>
                      <a:r>
                        <a:t>MOD-02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Item Catalog &amp; Photo Upload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B5563"/>
                          </a:solidFill>
                          <a:latin typeface="Segoe UI"/>
                        </a:defRPr>
                      </a:pPr>
                      <a:r>
                        <a:t>Listing surplus items, category tagging, secure UUID image upload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97706"/>
                          </a:solidFill>
                          <a:latin typeface="Segoe UI"/>
                        </a:defRPr>
                      </a:pPr>
                      <a:r>
                        <a:t>UUID4 &amp; Pillow Sanitization</a:t>
                      </a:r>
                    </a:p>
                  </a:txBody>
                  <a:tcPr/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65F46"/>
                          </a:solidFill>
                          <a:latin typeface="Segoe UI"/>
                        </a:defRPr>
                      </a:pPr>
                      <a:r>
                        <a:t>MOD-03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Search &amp; Dynamic Filtering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B5563"/>
                          </a:solidFill>
                          <a:latin typeface="Segoe UI"/>
                        </a:defRPr>
                      </a:pPr>
                      <a:r>
                        <a:t>Real-time search queries, category badge filters, status filters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97706"/>
                          </a:solidFill>
                          <a:latin typeface="Segoe UI"/>
                        </a:defRPr>
                      </a:pPr>
                      <a:r>
                        <a:t>SQL LIKE Queries &amp; Jinja2</a:t>
                      </a:r>
                    </a:p>
                  </a:txBody>
                  <a:tcPr/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65F46"/>
                          </a:solidFill>
                          <a:latin typeface="Segoe UI"/>
                        </a:defRPr>
                      </a:pPr>
                      <a:r>
                        <a:t>MOD-04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Borrowing &amp; Lending Workflow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B5563"/>
                          </a:solidFill>
                          <a:latin typeface="Segoe UI"/>
                        </a:defRPr>
                      </a:pPr>
                      <a:r>
                        <a:t>Request submission, owner approval/rejection, state transitions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97706"/>
                          </a:solidFill>
                          <a:latin typeface="Segoe UI"/>
                        </a:defRPr>
                      </a:pPr>
                      <a:r>
                        <a:t>Atomic State Machine Logic</a:t>
                      </a:r>
                    </a:p>
                  </a:txBody>
                  <a:tcPr/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65F46"/>
                          </a:solidFill>
                          <a:latin typeface="Segoe UI"/>
                        </a:defRPr>
                      </a:pPr>
                      <a:r>
                        <a:t>MOD-05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Return Confirmation &amp; Audit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B5563"/>
                          </a:solidFill>
                          <a:latin typeface="Segoe UI"/>
                        </a:defRPr>
                      </a:pPr>
                      <a:r>
                        <a:t>Handover confirmation, reset to Available, permanent audit 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97706"/>
                          </a:solidFill>
                          <a:latin typeface="Segoe UI"/>
                        </a:defRPr>
                      </a:pPr>
                      <a:r>
                        <a:t>Transaction Logs in TiDB</a:t>
                      </a:r>
                    </a:p>
                  </a:txBody>
                  <a:tcPr/>
                </a:tc>
              </a:tr>
              <a:tr h="66621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65F46"/>
                          </a:solidFill>
                          <a:latin typeface="Segoe UI"/>
                        </a:defRPr>
                      </a:pPr>
                      <a:r>
                        <a:t>MOD-06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User Profile &amp;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B5563"/>
                          </a:solidFill>
                          <a:latin typeface="Segoe UI"/>
                        </a:defRPr>
                      </a:pPr>
                      <a:r>
                        <a:t>Unified dashboard: Listed Items, Incoming Requests, Active Borrows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97706"/>
                          </a:solidFill>
                          <a:latin typeface="Segoe UI"/>
                        </a:defRPr>
                      </a:pPr>
                      <a:r>
                        <a:t>Bootstrap 5.3 Responsive UI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00" cy="7315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Segoe UI"/>
              </a:defRPr>
            </a:pPr>
            <a:r>
              <a:t>IMPLEMENTATION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44E38"/>
                </a:solidFill>
                <a:latin typeface="Segoe UI"/>
              </a:defRPr>
            </a:pPr>
            <a:r>
              <a:t>SAMPLE SOURCE CODE &amp; GITHUB REPOSITORY</a:t>
            </a:r>
          </a:p>
          <a:p>
            <a:pPr>
              <a:spcBef>
                <a:spcPts val="200"/>
              </a:spcBef>
              <a:defRPr sz="1150">
                <a:solidFill>
                  <a:srgbClr val="4B5563"/>
                </a:solidFill>
                <a:latin typeface="Segoe UI"/>
              </a:defRPr>
            </a:pPr>
            <a:r>
              <a:t>Key Backend Logic Snippets and Official Project Repository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Segoe UI"/>
              </a:defRPr>
            </a:pPr>
            <a:r>
              <a:t>Community Item Lending System  |  MCA III Sem Mini Project Viva Voce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73952"/>
            <a:ext cx="23161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65F46"/>
                </a:solidFill>
                <a:latin typeface="Segoe UI"/>
              </a:defRPr>
            </a:pPr>
            <a:r>
              <a:t>Slide - 12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5180990" cy="34747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5180990" cy="64008"/>
          </a:xfrm>
          <a:prstGeom prst="round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554480"/>
            <a:ext cx="472379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65F46"/>
                </a:solidFill>
                <a:latin typeface="Segoe UI"/>
              </a:defRPr>
            </a:pPr>
            <a:r>
              <a:t>DEFENSIVE SECURITY: PBKDF2 PASSWORD HASHING</a:t>
            </a:r>
          </a:p>
          <a:p>
            <a:pPr>
              <a:lnSpc>
                <a:spcPct val="115000"/>
              </a:lnSpc>
              <a:defRPr sz="850">
                <a:solidFill>
                  <a:srgbClr val="111827"/>
                </a:solidFill>
                <a:latin typeface="Consolas"/>
              </a:defRPr>
            </a:pPr>
            <a:r>
              <a:t>from werkzeug.security import generate_password_hash, check_password_hash</a:t>
            </a:r>
            <a:br/>
            <a:br/>
            <a:r>
              <a:t># 1. Hashing password during registration</a:t>
            </a:r>
            <a:br/>
            <a:r>
              <a:t>def register_user(username, email, raw_password):</a:t>
            </a:r>
            <a:br/>
            <a:r>
              <a:t>    hashed_pw = generate_password_hash(</a:t>
            </a:r>
            <a:br/>
            <a:r>
              <a:t>        raw_password, method='pbkdf2:sha256', salt_length=16</a:t>
            </a:r>
            <a:br/>
            <a:r>
              <a:t>    )</a:t>
            </a:r>
            <a:br/>
            <a:r>
              <a:t>    cursor.execute(</a:t>
            </a:r>
            <a:br/>
            <a:r>
              <a:t>        "INSERT INTO users (username, email, password_hash) VALUES (%s, %s, %s)",</a:t>
            </a:r>
            <a:br/>
            <a:r>
              <a:t>        (username, email, hashed_pw)</a:t>
            </a:r>
            <a:br/>
            <a:r>
              <a:t>    )</a:t>
            </a:r>
            <a:br/>
            <a:r>
              <a:t>    db.commit()</a:t>
            </a:r>
            <a:br/>
            <a:br/>
            <a:r>
              <a:t># 2. Verifying password during login</a:t>
            </a:r>
            <a:br/>
            <a:r>
              <a:t>if user and check_password_hash(user['password_hash'], input_password):</a:t>
            </a:r>
            <a:br/>
            <a:r>
              <a:t>    session['user_id'] = user['id']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270" y="1371600"/>
            <a:ext cx="5180990" cy="3474720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78270" y="1371600"/>
            <a:ext cx="5180990" cy="640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6870" y="1554480"/>
            <a:ext cx="472379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D97706"/>
                </a:solidFill>
                <a:latin typeface="Segoe UI"/>
              </a:defRPr>
            </a:pPr>
            <a:r>
              <a:t>LENDING WORKFLOW: ATOMIC STATE TRANSITION</a:t>
            </a:r>
          </a:p>
          <a:p>
            <a:pPr>
              <a:lnSpc>
                <a:spcPct val="115000"/>
              </a:lnSpc>
              <a:defRPr sz="850">
                <a:solidFill>
                  <a:srgbClr val="111827"/>
                </a:solidFill>
                <a:latin typeface="Consolas"/>
              </a:defRPr>
            </a:pPr>
            <a:r>
              <a:t>@app.route('/request/approve/&lt;int:req_id&gt;', methods=['POST'])</a:t>
            </a:r>
            <a:br/>
            <a:r>
              <a:t>@login_required</a:t>
            </a:r>
            <a:br/>
            <a:r>
              <a:t>def approve_request(req_id):</a:t>
            </a:r>
            <a:br/>
            <a:r>
              <a:t>    # 1. Update borrow request status to Approved</a:t>
            </a:r>
            <a:br/>
            <a:r>
              <a:t>    cursor.execute(</a:t>
            </a:r>
            <a:br/>
            <a:r>
              <a:t>        "UPDATE borrow_requests SET status = 'Approved' WHERE id = %s",</a:t>
            </a:r>
            <a:br/>
            <a:r>
              <a:t>        (req_id,)</a:t>
            </a:r>
            <a:br/>
            <a:r>
              <a:t>    )</a:t>
            </a:r>
            <a:br/>
            <a:r>
              <a:t>    # 2. Lock item status to 'Lent' to prevent double-booking</a:t>
            </a:r>
            <a:br/>
            <a:r>
              <a:t>    cursor.execute(</a:t>
            </a:r>
            <a:br/>
            <a:r>
              <a:t>        "UPDATE items SET status = 'Lent' WHERE id = %s",</a:t>
            </a:r>
            <a:br/>
            <a:r>
              <a:t>        (request_item_id,)</a:t>
            </a:r>
            <a:br/>
            <a:r>
              <a:t>    )</a:t>
            </a:r>
            <a:br/>
            <a:r>
              <a:t>    db.commit()</a:t>
            </a:r>
            <a:br/>
            <a:r>
              <a:t>    flash("Borrow request approved successfully!", "success")</a:t>
            </a:r>
            <a:br/>
            <a:r>
              <a:t>    return redirect(url_for('dashboard'))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029200"/>
            <a:ext cx="10728655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5029200"/>
            <a:ext cx="10728655" cy="64008"/>
          </a:xfrm>
          <a:prstGeom prst="round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16636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5F46"/>
                </a:solidFill>
                <a:latin typeface="Segoe UI"/>
              </a:defRPr>
            </a:pPr>
            <a:r>
              <a:t>OFFICIAL PROJECT GITHUB REPOSITORY LOCATION</a:t>
            </a:r>
          </a:p>
          <a:p>
            <a:pPr>
              <a:spcBef>
                <a:spcPts val="300"/>
              </a:spcBef>
              <a:defRPr sz="1400" b="1">
                <a:solidFill>
                  <a:srgbClr val="D97706"/>
                </a:solidFill>
                <a:latin typeface="Segoe UI"/>
              </a:defRPr>
            </a:pPr>
            <a:r>
              <a:t>https://github.com/Shahith2004/Community-Item-Lending-System</a:t>
            </a:r>
          </a:p>
          <a:p>
            <a:pPr>
              <a:spcBef>
                <a:spcPts val="200"/>
              </a:spcBef>
              <a:defRPr sz="1000">
                <a:solidFill>
                  <a:srgbClr val="4B5563"/>
                </a:solidFill>
                <a:latin typeface="Segoe UI"/>
              </a:defRPr>
            </a:pPr>
            <a:r>
              <a:t>Includes full Flask codebase, MySQL schema migrations, automated pytest suites, and documentation.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00" cy="7315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Segoe UI"/>
              </a:defRPr>
            </a:pPr>
            <a:r>
              <a:t>DEMONSTRATION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44E38"/>
                </a:solidFill>
                <a:latin typeface="Segoe UI"/>
              </a:defRPr>
            </a:pPr>
            <a:r>
              <a:t>RESULTS AND APPLICATION INTERFACE</a:t>
            </a:r>
          </a:p>
          <a:p>
            <a:pPr>
              <a:spcBef>
                <a:spcPts val="200"/>
              </a:spcBef>
              <a:defRPr sz="1150">
                <a:solidFill>
                  <a:srgbClr val="4B5563"/>
                </a:solidFill>
                <a:latin typeface="Segoe UI"/>
              </a:defRPr>
            </a:pPr>
            <a:r>
              <a:t>Live Production Screens of the Web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Segoe UI"/>
              </a:defRPr>
            </a:pPr>
            <a:r>
              <a:t>Community Item Lending System  |  MCA III Sem Mini Project Viva Voce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73952"/>
            <a:ext cx="23161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65F46"/>
                </a:solidFill>
                <a:latin typeface="Segoe UI"/>
              </a:defRPr>
            </a:pPr>
            <a:r>
              <a:t>Slide - 13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3332073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3332073" cy="64008"/>
          </a:xfrm>
          <a:prstGeom prst="round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54480"/>
            <a:ext cx="2966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5F46"/>
                </a:solidFill>
                <a:latin typeface="Segoe UI"/>
              </a:defRPr>
            </a:pPr>
            <a:r>
              <a:t>Browse Community Items</a:t>
            </a:r>
          </a:p>
        </p:txBody>
      </p:sp>
      <p:pic>
        <p:nvPicPr>
          <p:cNvPr id="12" name="Picture 11" descr="app_browse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57400"/>
            <a:ext cx="2966313" cy="3291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4400" y="5486400"/>
            <a:ext cx="2966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4B5563"/>
                </a:solidFill>
                <a:latin typeface="Segoe UI"/>
              </a:defRPr>
            </a:pPr>
            <a:r>
              <a:t>Search bar, category filters, and live availability cards.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29353" y="1371600"/>
            <a:ext cx="3332073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29353" y="1371600"/>
            <a:ext cx="3332073" cy="640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2233" y="1554480"/>
            <a:ext cx="2966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  <a:latin typeface="Segoe UI"/>
              </a:defRPr>
            </a:pPr>
            <a:r>
              <a:t>Item Details &amp; Request Modal</a:t>
            </a:r>
          </a:p>
        </p:txBody>
      </p:sp>
      <p:pic>
        <p:nvPicPr>
          <p:cNvPr id="17" name="Picture 16" descr="app_item_details_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2233" y="2057400"/>
            <a:ext cx="2966313" cy="32918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12233" y="5486400"/>
            <a:ext cx="2966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4B5563"/>
                </a:solidFill>
                <a:latin typeface="Segoe UI"/>
              </a:defRPr>
            </a:pPr>
            <a:r>
              <a:t>Item image, owner profile, and borrow submission form.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7186" y="1371600"/>
            <a:ext cx="3332073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27186" y="1371600"/>
            <a:ext cx="3332073" cy="640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0066" y="1554480"/>
            <a:ext cx="2966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  <a:latin typeface="Segoe UI"/>
              </a:defRPr>
            </a:pPr>
            <a:r>
              <a:t>User Dashboard &amp; Management</a:t>
            </a:r>
          </a:p>
        </p:txBody>
      </p:sp>
      <p:pic>
        <p:nvPicPr>
          <p:cNvPr id="22" name="Picture 21" descr="app_dashboard_sc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066" y="2057400"/>
            <a:ext cx="2966313" cy="32918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10066" y="5486400"/>
            <a:ext cx="2966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4B5563"/>
                </a:solidFill>
                <a:latin typeface="Segoe UI"/>
              </a:defRPr>
            </a:pPr>
            <a:r>
              <a:t>Unified view of listed items, requests, and active loans.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00" cy="7315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Segoe UI"/>
              </a:defRPr>
            </a:pPr>
            <a:r>
              <a:t>QUALITY ASSURANCE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44E38"/>
                </a:solidFill>
                <a:latin typeface="Segoe UI"/>
              </a:defRPr>
            </a:pPr>
            <a:r>
              <a:t>TESTING &amp; VALIDATION</a:t>
            </a:r>
          </a:p>
          <a:p>
            <a:pPr>
              <a:spcBef>
                <a:spcPts val="200"/>
              </a:spcBef>
              <a:defRPr sz="1150">
                <a:solidFill>
                  <a:srgbClr val="4B5563"/>
                </a:solidFill>
                <a:latin typeface="Segoe UI"/>
              </a:defRPr>
            </a:pPr>
            <a:r>
              <a:t>V-Model Testing Strategy and Automated Pytest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Segoe UI"/>
              </a:defRPr>
            </a:pPr>
            <a:r>
              <a:t>Community Item Lending System  |  MCA III Sem Mini Project Viva Voce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73952"/>
            <a:ext cx="23161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65F46"/>
                </a:solidFill>
                <a:latin typeface="Segoe UI"/>
              </a:defRPr>
            </a:pPr>
            <a:r>
              <a:t>Slide - 14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5669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9_tes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5486400" cy="42976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675120" y="1371600"/>
            <a:ext cx="47850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75120" y="1371600"/>
            <a:ext cx="4785055" cy="64008"/>
          </a:xfrm>
          <a:prstGeom prst="round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1600200"/>
            <a:ext cx="432785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65F46"/>
                </a:solidFill>
                <a:latin typeface="Segoe UI"/>
              </a:defRPr>
            </a:pPr>
            <a:r>
              <a:t>TESTING METHODOLOGY &amp; OUTCOMES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V-Model Testing Strategy: </a:t>
            </a:r>
            <a:r>
              <a:rPr sz="1100">
                <a:solidFill>
                  <a:srgbClr val="111827"/>
                </a:solidFill>
                <a:latin typeface="Segoe UI"/>
              </a:rPr>
              <a:t>Executed rigorous testing stages: Unit testing, Integration testing, and End-to-End System testing.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Pytest Automation Framework: </a:t>
            </a:r>
            <a:r>
              <a:rPr sz="1100">
                <a:solidFill>
                  <a:srgbClr val="111827"/>
                </a:solidFill>
                <a:latin typeface="Segoe UI"/>
              </a:rPr>
              <a:t>Developed an automated test suite using pytest and pytest-flask to validate endpoints and database queries.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Functional Coverage: </a:t>
            </a:r>
            <a:r>
              <a:rPr sz="1100">
                <a:solidFill>
                  <a:srgbClr val="111827"/>
                </a:solidFill>
                <a:latin typeface="Segoe UI"/>
              </a:rPr>
              <a:t>Tested user authentication, duplicate email prevention, item listing CRUD, UUID file uploads, and state machine transitions.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100% Pass Rate: </a:t>
            </a:r>
            <a:r>
              <a:rPr sz="1100">
                <a:solidFill>
                  <a:srgbClr val="111827"/>
                </a:solidFill>
                <a:latin typeface="Segoe UI"/>
              </a:rPr>
              <a:t>15 comprehensive functional test cases executed; all 15 passed with 0 failures and zero regressions.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100" b="1">
                <a:solidFill>
                  <a:srgbClr val="111827"/>
                </a:solidFill>
                <a:latin typeface="Segoe UI"/>
              </a:rPr>
              <a:t>Defensive Boundary Checks: </a:t>
            </a:r>
            <a:r>
              <a:rPr sz="1100">
                <a:solidFill>
                  <a:srgbClr val="111827"/>
                </a:solidFill>
                <a:latin typeface="Segoe UI"/>
              </a:rPr>
              <a:t>Verified edge cases including unauthorized borrowing of own items and invalid file format rejection.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972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4192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518099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365760"/>
            <a:ext cx="5180990" cy="64008"/>
          </a:xfrm>
          <a:prstGeom prst="round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472379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65F46"/>
                </a:solidFill>
                <a:latin typeface="Segoe UI"/>
              </a:defRPr>
            </a:pPr>
            <a:r>
              <a:t>CONCLUSION &amp; ACHIEVEMENTS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Operational Web Hub: </a:t>
            </a:r>
            <a:r>
              <a:rPr sz="1000">
                <a:solidFill>
                  <a:srgbClr val="111827"/>
                </a:solidFill>
                <a:latin typeface="Segoe UI"/>
              </a:rPr>
              <a:t>Delivered a complete, deployed platform for neighborhood item sharing.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Economic &amp; Eco Impact: </a:t>
            </a:r>
            <a:r>
              <a:rPr sz="1000">
                <a:solidFill>
                  <a:srgbClr val="111827"/>
                </a:solidFill>
                <a:latin typeface="Segoe UI"/>
              </a:rPr>
              <a:t>Eliminated redundant buying and high rental shop charges.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Defensive Engineering: </a:t>
            </a:r>
            <a:r>
              <a:rPr sz="1000">
                <a:solidFill>
                  <a:srgbClr val="111827"/>
                </a:solidFill>
                <a:latin typeface="Segoe UI"/>
              </a:rPr>
              <a:t>PBKDF2 security, 4-stage state machine, and 100% test pass rate.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270" y="365760"/>
            <a:ext cx="518099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78270" y="365760"/>
            <a:ext cx="5180990" cy="640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06870" y="502920"/>
            <a:ext cx="472379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D97706"/>
                </a:solidFill>
                <a:latin typeface="Segoe UI"/>
              </a:defRPr>
            </a:pPr>
            <a:r>
              <a:t>FUTURE SCOPE &amp; ENHANCEMENTS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Cross-Platform Mobile Apps: </a:t>
            </a:r>
            <a:r>
              <a:rPr sz="1000">
                <a:solidFill>
                  <a:srgbClr val="111827"/>
                </a:solidFill>
                <a:latin typeface="Segoe UI"/>
              </a:rPr>
              <a:t>Develop iOS &amp; Android native apps using Flutter or React Native.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Instant WhatsApp Alerts: </a:t>
            </a:r>
            <a:r>
              <a:rPr sz="1000">
                <a:solidFill>
                  <a:srgbClr val="111827"/>
                </a:solidFill>
                <a:latin typeface="Segoe UI"/>
              </a:rPr>
              <a:t>Push instant notifications via WhatsApp API when items are requested.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065F46"/>
                </a:solidFill>
                <a:latin typeface="Segoe UI"/>
              </a:rPr>
              <a:t>•  </a:t>
            </a:r>
            <a:r>
              <a:rPr sz="1000" b="1">
                <a:solidFill>
                  <a:srgbClr val="111827"/>
                </a:solidFill>
                <a:latin typeface="Segoe UI"/>
              </a:rPr>
              <a:t>Reputation &amp; Trust Badges: </a:t>
            </a:r>
            <a:r>
              <a:rPr sz="1000">
                <a:solidFill>
                  <a:srgbClr val="111827"/>
                </a:solidFill>
                <a:latin typeface="Segoe UI"/>
              </a:rPr>
              <a:t>5-star community ratings and badges ('Top Lender', 'Punctual Returner').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46120"/>
            <a:ext cx="10728655" cy="32918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83280"/>
            <a:ext cx="1027145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44E38"/>
                </a:solidFill>
                <a:latin typeface="Segoe UI"/>
              </a:defRPr>
            </a:pPr>
            <a:r>
              <a:t>THANK YOU!</a:t>
            </a:r>
          </a:p>
          <a:p>
            <a:pPr algn="ctr">
              <a:spcBef>
                <a:spcPts val="200"/>
              </a:spcBef>
              <a:defRPr sz="1400" b="1">
                <a:solidFill>
                  <a:srgbClr val="D97706"/>
                </a:solidFill>
                <a:latin typeface="Segoe UI"/>
              </a:defRPr>
            </a:pPr>
            <a:r>
              <a:t>Questions &amp; Discussion</a:t>
            </a:r>
          </a:p>
          <a:p>
            <a:pPr algn="ctr">
              <a:spcBef>
                <a:spcPts val="800"/>
              </a:spcBef>
              <a:defRPr sz="1600" b="1">
                <a:solidFill>
                  <a:srgbClr val="044E38"/>
                </a:solidFill>
                <a:latin typeface="Segoe UI"/>
              </a:defRPr>
            </a:pPr>
            <a:r>
              <a:t>COMMUNITY ITEM LENDING SYSTEM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111827"/>
                </a:solidFill>
                <a:latin typeface="Segoe UI"/>
              </a:defRPr>
            </a:pPr>
            <a:r>
              <a:t>Candidate: MOHAMED SHAHITH AKEEL S A  |  Enrolment Number: EA2532251010500</a:t>
            </a:r>
          </a:p>
          <a:p>
            <a:pPr algn="ctr">
              <a:spcBef>
                <a:spcPts val="200"/>
              </a:spcBef>
              <a:defRPr sz="1150" b="1">
                <a:solidFill>
                  <a:srgbClr val="D97706"/>
                </a:solidFill>
                <a:latin typeface="Segoe UI"/>
              </a:defRPr>
            </a:pPr>
            <a:r>
              <a:t>MCA III SEM  |  MINI PROJECT VIVA VOCE (NOV 2026)</a:t>
            </a:r>
          </a:p>
          <a:p>
            <a:pPr algn="ctr">
              <a:spcBef>
                <a:spcPts val="200"/>
              </a:spcBef>
              <a:defRPr sz="1050">
                <a:solidFill>
                  <a:srgbClr val="4B5563"/>
                </a:solidFill>
                <a:latin typeface="Segoe UI"/>
              </a:defRPr>
            </a:pPr>
            <a:r>
              <a:t>Directorate of Online Education, SRM Institute of Science and Technology, Kattankulathur</a:t>
            </a:r>
          </a:p>
          <a:p>
            <a:pPr algn="ctr">
              <a:spcBef>
                <a:spcPts val="600"/>
              </a:spcBef>
              <a:defRPr sz="1100" b="1">
                <a:solidFill>
                  <a:srgbClr val="065F46"/>
                </a:solidFill>
                <a:latin typeface="Segoe UI"/>
              </a:defRPr>
            </a:pPr>
            <a:r>
              <a:t>Official Project GitHub Repository: https://github.com/Shahith2004/Community-Item-Lending-System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