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01200" y="-1371600"/>
            <a:ext cx="4114800" cy="4114800"/>
          </a:xfrm>
          <a:prstGeom prst="ellipse">
            <a:avLst/>
          </a:prstGeom>
          <a:solidFill>
            <a:srgbClr val="DCF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754880"/>
            <a:ext cx="3657600" cy="36576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47120" y="3017520"/>
            <a:ext cx="347472" cy="347472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4206240"/>
            <a:ext cx="219456" cy="219456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74720" y="548640"/>
            <a:ext cx="5242255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D9488"/>
                </a:solidFill>
                <a:latin typeface="Segoe UI"/>
              </a:defRPr>
            </a:pPr>
            <a:r>
              <a:t>[ SRM ONLINE LOGO CONTAINER ]</a:t>
            </a:r>
          </a:p>
          <a:p>
            <a:pPr algn="ctr">
              <a:spcBef>
                <a:spcPts val="300"/>
              </a:spcBef>
              <a:defRPr sz="1000">
                <a:solidFill>
                  <a:srgbClr val="64748B"/>
                </a:solidFill>
                <a:latin typeface="Segoe UI"/>
              </a:defRPr>
            </a:pPr>
            <a:r>
              <a:t>(Paste your official SRM Online Logo in this container)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14884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D5C75"/>
                </a:solidFill>
                <a:latin typeface="Segoe UI"/>
              </a:defRPr>
            </a:pPr>
            <a:r>
              <a:t>DIRECTORATE OF ONLINE EDUCATION</a:t>
            </a:r>
          </a:p>
          <a:p>
            <a:pPr algn="ctr">
              <a:spcBef>
                <a:spcPts val="400"/>
              </a:spcBef>
              <a:defRPr sz="2100" b="1">
                <a:solidFill>
                  <a:srgbClr val="0F766E"/>
                </a:solidFill>
                <a:latin typeface="Segoe UI"/>
              </a:defRPr>
            </a:pPr>
            <a:r>
              <a:t>SRM INSTITUTE OF SCIENCE AND TECHNOLOGY</a:t>
            </a:r>
          </a:p>
          <a:p>
            <a:pPr algn="ctr">
              <a:spcBef>
                <a:spcPts val="300"/>
              </a:spcBef>
              <a:defRPr sz="1300">
                <a:solidFill>
                  <a:srgbClr val="64748B"/>
                </a:solidFill>
                <a:latin typeface="Segoe UI"/>
              </a:defRPr>
            </a:pPr>
            <a:r>
              <a:t>KATTANKULATHUR - 603 203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3474720"/>
            <a:ext cx="5242255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MCA III SEMESTER</a:t>
            </a:r>
          </a:p>
          <a:p>
            <a:pPr algn="ctr">
              <a:spcBef>
                <a:spcPts val="300"/>
              </a:spcBef>
              <a:defRPr sz="1800" b="1">
                <a:solidFill>
                  <a:srgbClr val="0D5C75"/>
                </a:solidFill>
                <a:latin typeface="Segoe UI"/>
              </a:defRPr>
            </a:pPr>
            <a:r>
              <a:t>MINI PROJECT VIVA VOCE</a:t>
            </a:r>
          </a:p>
          <a:p>
            <a:pPr algn="ctr">
              <a:spcBef>
                <a:spcPts val="300"/>
              </a:spcBef>
              <a:defRPr sz="1300" b="1">
                <a:solidFill>
                  <a:srgbClr val="0F766E"/>
                </a:solidFill>
                <a:latin typeface="Segoe UI"/>
              </a:defRPr>
            </a:pPr>
            <a:r>
              <a:t>NOVEMBER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5166360"/>
            <a:ext cx="7436815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64748B"/>
                </a:solidFill>
                <a:latin typeface="Segoe UI"/>
              </a:rPr>
              <a:t>ENROLMENT NUMBER : </a:t>
            </a:r>
            <a:r>
              <a:rPr sz="1400" b="1">
                <a:solidFill>
                  <a:srgbClr val="0D9488"/>
                </a:solidFill>
                <a:latin typeface="Segoe UI"/>
              </a:rPr>
              <a:t>EA2532251010500</a:t>
            </a:r>
          </a:p>
          <a:p>
            <a:pPr algn="ctr">
              <a:spcBef>
                <a:spcPts val="400"/>
              </a:spcBef>
            </a:pPr>
            <a:r>
              <a:rPr sz="1350" b="1">
                <a:solidFill>
                  <a:srgbClr val="64748B"/>
                </a:solidFill>
                <a:latin typeface="Segoe UI"/>
              </a:rPr>
              <a:t>NAME OF STUDENT : </a:t>
            </a:r>
            <a:r>
              <a:rPr sz="1550" b="1">
                <a:solidFill>
                  <a:srgbClr val="0D5C75"/>
                </a:solidFill>
                <a:latin typeface="Segoe UI"/>
              </a:rPr>
              <a:t>MOHAMED SHAHITH AKEEL S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01200" y="-1371600"/>
            <a:ext cx="4114800" cy="4114800"/>
          </a:xfrm>
          <a:prstGeom prst="ellipse">
            <a:avLst/>
          </a:prstGeom>
          <a:solidFill>
            <a:srgbClr val="DCF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754880"/>
            <a:ext cx="3657600" cy="36576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47120" y="3017520"/>
            <a:ext cx="347472" cy="347472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4206240"/>
            <a:ext cx="219456" cy="219456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Segoe UI"/>
              </a:rPr>
              <a:t>CILS — Community Item Lending System | SRM Online</a:t>
            </a:r>
            <a:r>
              <a:rPr sz="950">
                <a:solidFill>
                  <a:srgbClr val="0D9488"/>
                </a:solidFill>
                <a:latin typeface="Segoe UI"/>
              </a:rPr>
              <a:t>   •   </a:t>
            </a:r>
            <a:r>
              <a:rPr sz="1000" b="1">
                <a:solidFill>
                  <a:srgbClr val="0D9488"/>
                </a:solidFill>
                <a:latin typeface="Segoe UI"/>
              </a:rPr>
              <a:t>Slide - 2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"/>
            <a:ext cx="2377440" cy="310896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0D9488"/>
                </a:solidFill>
                <a:latin typeface="Segoe UI"/>
              </a:defRPr>
            </a:pPr>
            <a:r>
              <a:t>PROJECT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4124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Title of the Mini Project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36192"/>
            <a:ext cx="10728655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700" b="1">
                <a:solidFill>
                  <a:srgbClr val="0D5C75"/>
                </a:solidFill>
                <a:latin typeface="Segoe UI"/>
              </a:defRPr>
            </a:pPr>
            <a:r>
              <a:t>COMMUNITY ITEM LENDING SYSTEM</a:t>
            </a:r>
          </a:p>
          <a:p>
            <a:pPr algn="ctr">
              <a:spcBef>
                <a:spcPts val="400"/>
              </a:spcBef>
              <a:defRPr sz="1900" b="1">
                <a:solidFill>
                  <a:srgbClr val="D97706"/>
                </a:solidFill>
                <a:latin typeface="Segoe UI"/>
              </a:defRPr>
            </a:pPr>
            <a:r>
              <a:t>(CILS)</a:t>
            </a:r>
          </a:p>
          <a:p>
            <a:pPr algn="ctr">
              <a:spcBef>
                <a:spcPts val="1000"/>
              </a:spcBef>
              <a:defRPr sz="1400">
                <a:solidFill>
                  <a:srgbClr val="334155"/>
                </a:solidFill>
                <a:latin typeface="Segoe UI"/>
              </a:defRPr>
            </a:pPr>
            <a:r>
              <a:t>A simple web application to borrow and lend household tools, appliances, and equipment among neighbors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51960"/>
            <a:ext cx="3401568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343400"/>
            <a:ext cx="3072384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0D5C75"/>
                </a:solidFill>
                <a:latin typeface="Segoe UI"/>
              </a:defRPr>
            </a:pPr>
            <a:r>
              <a:t>What is this Project?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Simple Goal: </a:t>
            </a:r>
            <a:r>
              <a:rPr sz="1050">
                <a:solidFill>
                  <a:srgbClr val="334155"/>
                </a:solidFill>
                <a:latin typeface="Segoe UI"/>
              </a:rPr>
              <a:t>Helps neighbors borrow and lend tools and equipment directly within residential communities.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Less Waste: </a:t>
            </a:r>
            <a:r>
              <a:rPr sz="1050">
                <a:solidFill>
                  <a:srgbClr val="334155"/>
                </a:solidFill>
                <a:latin typeface="Segoe UI"/>
              </a:rPr>
              <a:t>Cuts down clutter and saves money instead of buying items used only once or twice a year.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4251960"/>
            <a:ext cx="3401568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4343400"/>
            <a:ext cx="3072384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0D5C75"/>
                </a:solidFill>
                <a:latin typeface="Segoe UI"/>
              </a:defRPr>
            </a:pPr>
            <a:r>
              <a:t>How Does it Work?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Online Website: </a:t>
            </a:r>
            <a:r>
              <a:rPr sz="1050">
                <a:solidFill>
                  <a:srgbClr val="334155"/>
                </a:solidFill>
                <a:latin typeface="Segoe UI"/>
              </a:rPr>
              <a:t>Residents post items with photos; neighbors search, view availability, and click request.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No Duplicate Booking: </a:t>
            </a:r>
            <a:r>
              <a:rPr sz="1050">
                <a:solidFill>
                  <a:srgbClr val="334155"/>
                </a:solidFill>
                <a:latin typeface="Segoe UI"/>
              </a:rPr>
              <a:t>When an owner approves a request, the system locks the item instantly as 'Lent'.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4251960"/>
            <a:ext cx="3401568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4343400"/>
            <a:ext cx="3072384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D97706"/>
                </a:solidFill>
                <a:latin typeface="Segoe UI"/>
              </a:defRPr>
            </a:pPr>
            <a:r>
              <a:t>Who Gets the Benefit?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Community Borrowers: </a:t>
            </a:r>
            <a:r>
              <a:rPr sz="1050">
                <a:solidFill>
                  <a:srgbClr val="334155"/>
                </a:solidFill>
                <a:latin typeface="Segoe UI"/>
              </a:rPr>
              <a:t>Families save money by borrowing power drills, lawnmowers, ladders, and camping gear.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Item Owners: </a:t>
            </a:r>
            <a:r>
              <a:rPr sz="1050">
                <a:solidFill>
                  <a:srgbClr val="334155"/>
                </a:solidFill>
                <a:latin typeface="Segoe UI"/>
              </a:rPr>
              <a:t>Turn idle household items into community goodwill while maintaining full control over lending.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01200" y="-1371600"/>
            <a:ext cx="4114800" cy="4114800"/>
          </a:xfrm>
          <a:prstGeom prst="ellipse">
            <a:avLst/>
          </a:prstGeom>
          <a:solidFill>
            <a:srgbClr val="DCF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754880"/>
            <a:ext cx="3657600" cy="36576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47120" y="3017520"/>
            <a:ext cx="347472" cy="347472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4206240"/>
            <a:ext cx="219456" cy="219456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Segoe UI"/>
              </a:rPr>
              <a:t>CILS — Community Item Lending System | SRM Online</a:t>
            </a:r>
            <a:r>
              <a:rPr sz="950">
                <a:solidFill>
                  <a:srgbClr val="0D9488"/>
                </a:solidFill>
                <a:latin typeface="Segoe UI"/>
              </a:rPr>
              <a:t>   •   </a:t>
            </a:r>
            <a:r>
              <a:rPr sz="1000" b="1">
                <a:solidFill>
                  <a:srgbClr val="0D9488"/>
                </a:solidFill>
                <a:latin typeface="Segoe UI"/>
              </a:rPr>
              <a:t>Slide - 3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"/>
            <a:ext cx="2377440" cy="310896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0D9488"/>
                </a:solidFill>
                <a:latin typeface="Segoe UI"/>
              </a:defRPr>
            </a:pPr>
            <a:r>
              <a:t>ABSTRACT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4124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What the Project Solves and Delivers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36192"/>
            <a:ext cx="3401568" cy="397763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645920"/>
            <a:ext cx="307238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D5C75"/>
                </a:solidFill>
                <a:latin typeface="Segoe UI"/>
              </a:defRPr>
            </a:pPr>
            <a:r>
              <a:t>1. The Problem Today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Idle Household Items: </a:t>
            </a:r>
            <a:r>
              <a:rPr sz="1100">
                <a:solidFill>
                  <a:srgbClr val="334155"/>
                </a:solidFill>
                <a:latin typeface="Segoe UI"/>
              </a:rPr>
              <a:t>Power tools, pressure washers, and ladders sit unused 95% of the year in garages.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Cost Barrier: </a:t>
            </a:r>
            <a:r>
              <a:rPr sz="1100">
                <a:solidFill>
                  <a:srgbClr val="334155"/>
                </a:solidFill>
                <a:latin typeface="Segoe UI"/>
              </a:rPr>
              <a:t>Buying expensive equipment for a one-off DIY repair or home project is wasteful.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Informal Chaos: </a:t>
            </a:r>
            <a:r>
              <a:rPr sz="1100">
                <a:solidFill>
                  <a:srgbClr val="334155"/>
                </a:solidFill>
                <a:latin typeface="Segoe UI"/>
              </a:rPr>
              <a:t>Asking on WhatsApp groups leads to lost messages, forgotten returns, and damaged trust.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536192"/>
            <a:ext cx="3401568" cy="397763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645920"/>
            <a:ext cx="307238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D5C75"/>
                </a:solidFill>
                <a:latin typeface="Segoe UI"/>
              </a:defRPr>
            </a:pPr>
            <a:r>
              <a:t>2. Our Solution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One Single Website: </a:t>
            </a:r>
            <a:r>
              <a:rPr sz="1100">
                <a:solidFill>
                  <a:srgbClr val="334155"/>
                </a:solidFill>
                <a:latin typeface="Segoe UI"/>
              </a:rPr>
              <a:t>Verified residents list surplus items with photos, specs, and category tags.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Easy Requests: </a:t>
            </a:r>
            <a:r>
              <a:rPr sz="1100">
                <a:solidFill>
                  <a:srgbClr val="334155"/>
                </a:solidFill>
                <a:latin typeface="Segoe UI"/>
              </a:rPr>
              <a:t>Borrowers click 'Request Item', pick borrow/return dates, and submit in one step.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Live Tracking: </a:t>
            </a:r>
            <a:r>
              <a:rPr sz="1100">
                <a:solidFill>
                  <a:srgbClr val="334155"/>
                </a:solidFill>
                <a:latin typeface="Segoe UI"/>
              </a:rPr>
              <a:t>Automated state machine updates item status from Available to Lent to Returned.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536192"/>
            <a:ext cx="3401568" cy="397763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1645920"/>
            <a:ext cx="3072384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D5C75"/>
                </a:solidFill>
                <a:latin typeface="Segoe UI"/>
              </a:defRPr>
            </a:pPr>
            <a:r>
              <a:t>3. Results Delivered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Zero Confusion: </a:t>
            </a:r>
            <a:r>
              <a:rPr sz="1100">
                <a:solidFill>
                  <a:srgbClr val="334155"/>
                </a:solidFill>
                <a:latin typeface="Segoe UI"/>
              </a:rPr>
              <a:t>Real-time locking prevents double-booking so two neighbors never get promised the same tool.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Audit History: </a:t>
            </a:r>
            <a:r>
              <a:rPr sz="1100">
                <a:solidFill>
                  <a:srgbClr val="334155"/>
                </a:solidFill>
                <a:latin typeface="Segoe UI"/>
              </a:rPr>
              <a:t>Full permanent log of all borrow requests, approval timestamps, and return dates.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Fast Process: </a:t>
            </a:r>
            <a:r>
              <a:rPr sz="1100">
                <a:solidFill>
                  <a:srgbClr val="334155"/>
                </a:solidFill>
                <a:latin typeface="Segoe UI"/>
              </a:rPr>
              <a:t>Eliminates awkward back-and-forth messaging, enabling instant borrowing coordination.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715000"/>
            <a:ext cx="10728655" cy="59436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D9488"/>
                </a:solidFill>
                <a:latin typeface="Segoe UI"/>
              </a:rPr>
              <a:t>Main Result: </a:t>
            </a:r>
            <a:r>
              <a:rPr sz="1200" b="1">
                <a:solidFill>
                  <a:srgbClr val="0F766E"/>
                </a:solidFill>
                <a:latin typeface="Segoe UI"/>
              </a:rPr>
              <a:t>A complete, working web application built with Python Flask and TiDB MySQL, tested and ready to use.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01200" y="-1371600"/>
            <a:ext cx="4114800" cy="4114800"/>
          </a:xfrm>
          <a:prstGeom prst="ellipse">
            <a:avLst/>
          </a:prstGeom>
          <a:solidFill>
            <a:srgbClr val="DCF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754880"/>
            <a:ext cx="3657600" cy="36576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47120" y="3017520"/>
            <a:ext cx="347472" cy="347472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4206240"/>
            <a:ext cx="219456" cy="219456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Segoe UI"/>
              </a:rPr>
              <a:t>CILS — Community Item Lending System | SRM Online</a:t>
            </a:r>
            <a:r>
              <a:rPr sz="950">
                <a:solidFill>
                  <a:srgbClr val="0D9488"/>
                </a:solidFill>
                <a:latin typeface="Segoe UI"/>
              </a:rPr>
              <a:t>   •   </a:t>
            </a:r>
            <a:r>
              <a:rPr sz="1000" b="1">
                <a:solidFill>
                  <a:srgbClr val="0D9488"/>
                </a:solidFill>
                <a:latin typeface="Segoe UI"/>
              </a:rPr>
              <a:t>Slide - 4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"/>
            <a:ext cx="2377440" cy="310896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0D9488"/>
                </a:solidFill>
                <a:latin typeface="Segoe UI"/>
              </a:defRPr>
            </a:pPr>
            <a:r>
              <a:t>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4124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Why This Problem Matters — Current Situation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36192"/>
            <a:ext cx="5230368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86460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D5C75"/>
                </a:solidFill>
                <a:latin typeface="Segoe UI"/>
              </a:defRPr>
            </a:pPr>
            <a:r>
              <a:t>Background: What Happens in Households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Underutilized Tools: </a:t>
            </a:r>
            <a:r>
              <a:rPr sz="1100">
                <a:solidFill>
                  <a:srgbClr val="334155"/>
                </a:solidFill>
                <a:latin typeface="Segoe UI"/>
              </a:rPr>
              <a:t>Average electric drill is used for only 12 to 15 minutes in its entire lifespan, sitting idle for years.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Unnecessary Expenses: </a:t>
            </a:r>
            <a:r>
              <a:rPr sz="1100">
                <a:solidFill>
                  <a:srgbClr val="334155"/>
                </a:solidFill>
                <a:latin typeface="Segoe UI"/>
              </a:rPr>
              <a:t>Neighbors independently purchase identical lawnmowers, pressure washers, and ladders at high cost.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Garage Clutter: </a:t>
            </a:r>
            <a:r>
              <a:rPr sz="1100">
                <a:solidFill>
                  <a:srgbClr val="334155"/>
                </a:solidFill>
                <a:latin typeface="Segoe UI"/>
              </a:rPr>
              <a:t>Valuable home storage space is crowded with rarely used DIY tools, sports gear, and camping equipment.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Environmental Waste: </a:t>
            </a:r>
            <a:r>
              <a:rPr sz="1100">
                <a:solidFill>
                  <a:srgbClr val="334155"/>
                </a:solidFill>
                <a:latin typeface="Segoe UI"/>
              </a:rPr>
              <a:t>Manufacturing single-owner household appliances creates avoidable carbon emissions, scrap metal, and e-waste.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536192"/>
            <a:ext cx="5230368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691640"/>
            <a:ext cx="486460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D5C75"/>
                </a:solidFill>
                <a:latin typeface="Segoe UI"/>
              </a:defRPr>
            </a:pPr>
            <a:r>
              <a:t>What Communities Need &amp; Our Project Goals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Collaborative Sharing: </a:t>
            </a:r>
            <a:r>
              <a:rPr sz="1100">
                <a:solidFill>
                  <a:srgbClr val="334155"/>
                </a:solidFill>
                <a:latin typeface="Segoe UI"/>
              </a:rPr>
              <a:t>Communities need a safe, hyper-local platform to share household tools freely without financial friction.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No Direct Platform: </a:t>
            </a:r>
            <a:r>
              <a:rPr sz="1100">
                <a:solidFill>
                  <a:srgbClr val="334155"/>
                </a:solidFill>
                <a:latin typeface="Segoe UI"/>
              </a:rPr>
              <a:t>Without a dedicated system, residents hesitate to ask neighbors or fear unreturned/damaged equipment.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Project Goal 1: </a:t>
            </a:r>
            <a:r>
              <a:rPr sz="1100">
                <a:solidFill>
                  <a:srgbClr val="334155"/>
                </a:solidFill>
                <a:latin typeface="Segoe UI"/>
              </a:rPr>
              <a:t>Build an intuitive, friendly website where verified neighbors post items and view community listings.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Project Goal 2: </a:t>
            </a:r>
            <a:r>
              <a:rPr sz="1100">
                <a:solidFill>
                  <a:srgbClr val="334155"/>
                </a:solidFill>
                <a:latin typeface="Segoe UI"/>
              </a:rPr>
              <a:t>Make the lending process automated, fair, and transparent with real-time status and return records.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01200" y="-1371600"/>
            <a:ext cx="4114800" cy="4114800"/>
          </a:xfrm>
          <a:prstGeom prst="ellipse">
            <a:avLst/>
          </a:prstGeom>
          <a:solidFill>
            <a:srgbClr val="DCF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754880"/>
            <a:ext cx="3657600" cy="36576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47120" y="3017520"/>
            <a:ext cx="347472" cy="347472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4206240"/>
            <a:ext cx="219456" cy="219456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Segoe UI"/>
              </a:rPr>
              <a:t>CILS — Community Item Lending System | SRM Online</a:t>
            </a:r>
            <a:r>
              <a:rPr sz="950">
                <a:solidFill>
                  <a:srgbClr val="0D9488"/>
                </a:solidFill>
                <a:latin typeface="Segoe UI"/>
              </a:rPr>
              <a:t>   •   </a:t>
            </a:r>
            <a:r>
              <a:rPr sz="1000" b="1">
                <a:solidFill>
                  <a:srgbClr val="0D9488"/>
                </a:solidFill>
                <a:latin typeface="Segoe UI"/>
              </a:rPr>
              <a:t>Slide - 5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"/>
            <a:ext cx="2377440" cy="310896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0D9488"/>
                </a:solidFill>
                <a:latin typeface="Segoe UI"/>
              </a:defRPr>
            </a:pPr>
            <a:r>
              <a:t>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4124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Key Features of the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36192"/>
            <a:ext cx="5230368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664208"/>
            <a:ext cx="4901184" cy="1984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D5C75"/>
                </a:solidFill>
                <a:latin typeface="Segoe UI"/>
              </a:defRPr>
            </a:pPr>
            <a:r>
              <a:t>1. User Authentication &amp; Safe Profiles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Secure Accounts: </a:t>
            </a:r>
            <a:r>
              <a:rPr sz="1050">
                <a:solidFill>
                  <a:srgbClr val="334155"/>
                </a:solidFill>
                <a:latin typeface="Segoe UI"/>
              </a:rPr>
              <a:t>Role-based access with encrypted passwords (PBKDF2:SHA256) and session protection.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Community Safety: </a:t>
            </a:r>
            <a:r>
              <a:rPr sz="1050">
                <a:solidFill>
                  <a:srgbClr val="334155"/>
                </a:solidFill>
                <a:latin typeface="Segoe UI"/>
              </a:rPr>
              <a:t>Contact information (phone/email) shared only after mutual borrowing approval.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536192"/>
            <a:ext cx="5230368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1656" y="1664208"/>
            <a:ext cx="4901184" cy="1984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D5C75"/>
                </a:solidFill>
                <a:latin typeface="Segoe UI"/>
              </a:defRPr>
            </a:pPr>
            <a:r>
              <a:t>2. Clean Online Catalog with Photos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Easy Search: </a:t>
            </a:r>
            <a:r>
              <a:rPr sz="1050">
                <a:solidFill>
                  <a:srgbClr val="334155"/>
                </a:solidFill>
                <a:latin typeface="Segoe UI"/>
              </a:rPr>
              <a:t>Instant keyword search and dynamic category filter buttons (Tools, Books, Sports, Electronics, Household).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Clear Availability: </a:t>
            </a:r>
            <a:r>
              <a:rPr sz="1050">
                <a:solidFill>
                  <a:srgbClr val="334155"/>
                </a:solidFill>
                <a:latin typeface="Segoe UI"/>
              </a:rPr>
              <a:t>Real-time visual status badges (Available, Lent, Pending) on all item cards.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40"/>
            <a:ext cx="5230368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105656"/>
            <a:ext cx="4901184" cy="1984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D5C75"/>
                </a:solidFill>
                <a:latin typeface="Segoe UI"/>
              </a:defRPr>
            </a:pPr>
            <a:r>
              <a:t>3. Automatic Lending &amp; Booking Engine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No Overbooking: </a:t>
            </a:r>
            <a:r>
              <a:rPr sz="1050">
                <a:solidFill>
                  <a:srgbClr val="334155"/>
                </a:solidFill>
                <a:latin typeface="Segoe UI"/>
              </a:rPr>
              <a:t>Real-time database state locking prevents overlapping borrow requests for the same item.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Safe Database: </a:t>
            </a:r>
            <a:r>
              <a:rPr sz="1050">
                <a:solidFill>
                  <a:srgbClr val="334155"/>
                </a:solidFill>
                <a:latin typeface="Segoe UI"/>
              </a:rPr>
              <a:t>Atomic SQL transactions ensure data consistency across multiple simultaneous requests.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3977640"/>
            <a:ext cx="5230368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6" y="4105656"/>
            <a:ext cx="4901184" cy="1984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D5C75"/>
                </a:solidFill>
                <a:latin typeface="Segoe UI"/>
              </a:defRPr>
            </a:pPr>
            <a:r>
              <a:t>4. Return Tracking &amp; Audit Records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One-Click Returns: </a:t>
            </a:r>
            <a:r>
              <a:rPr sz="1050">
                <a:solidFill>
                  <a:srgbClr val="334155"/>
                </a:solidFill>
                <a:latin typeface="Segoe UI"/>
              </a:rPr>
              <a:t>Owner confirms return with one click, restoring item status to Available immediately.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Permanent History: </a:t>
            </a:r>
            <a:r>
              <a:rPr sz="1050">
                <a:solidFill>
                  <a:srgbClr val="334155"/>
                </a:solidFill>
                <a:latin typeface="Segoe UI"/>
              </a:rPr>
              <a:t>Complete transaction ledger of past lending cycles, return timestamps, and borrower history.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01200" y="-1371600"/>
            <a:ext cx="4114800" cy="4114800"/>
          </a:xfrm>
          <a:prstGeom prst="ellipse">
            <a:avLst/>
          </a:prstGeom>
          <a:solidFill>
            <a:srgbClr val="DCF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754880"/>
            <a:ext cx="3657600" cy="36576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47120" y="3017520"/>
            <a:ext cx="347472" cy="347472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4206240"/>
            <a:ext cx="219456" cy="219456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Segoe UI"/>
              </a:rPr>
              <a:t>CILS — Community Item Lending System | SRM Online</a:t>
            </a:r>
            <a:r>
              <a:rPr sz="950">
                <a:solidFill>
                  <a:srgbClr val="0D9488"/>
                </a:solidFill>
                <a:latin typeface="Segoe UI"/>
              </a:rPr>
              <a:t>   •   </a:t>
            </a:r>
            <a:r>
              <a:rPr sz="1000" b="1">
                <a:solidFill>
                  <a:srgbClr val="0D9488"/>
                </a:solidFill>
                <a:latin typeface="Segoe UI"/>
              </a:rPr>
              <a:t>Slide - 6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"/>
            <a:ext cx="2377440" cy="310896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0D9488"/>
                </a:solidFill>
                <a:latin typeface="Segoe UI"/>
              </a:defRPr>
            </a:pPr>
            <a:r>
              <a:t>SYSTEM 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4124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Hardware and Software Requirements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36192"/>
            <a:ext cx="5230368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86460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0D5C75"/>
                </a:solidFill>
                <a:latin typeface="Segoe UI"/>
              </a:defRPr>
            </a:pPr>
            <a:r>
              <a:t>Hardware Requirements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Processor: </a:t>
            </a:r>
            <a:r>
              <a:rPr sz="1100">
                <a:solidFill>
                  <a:srgbClr val="334155"/>
                </a:solidFill>
                <a:latin typeface="Segoe UI"/>
              </a:rPr>
              <a:t>Intel Core i3 / i5 or AMD Ryzen (any standard PC or laptop)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RAM (Memory): </a:t>
            </a:r>
            <a:r>
              <a:rPr sz="1100">
                <a:solidFill>
                  <a:srgbClr val="334155"/>
                </a:solidFill>
                <a:latin typeface="Segoe UI"/>
              </a:rPr>
              <a:t>4 GB minimum (8 GB recommended for best development speed)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Hard Disk Space: </a:t>
            </a:r>
            <a:r>
              <a:rPr sz="1100">
                <a:solidFill>
                  <a:srgbClr val="334155"/>
                </a:solidFill>
                <a:latin typeface="Segoe UI"/>
              </a:rPr>
              <a:t>10 GB free space for database storage, photos, and project environment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Monitor / Display: </a:t>
            </a:r>
            <a:r>
              <a:rPr sz="1100">
                <a:solidFill>
                  <a:srgbClr val="334155"/>
                </a:solidFill>
                <a:latin typeface="Segoe UI"/>
              </a:rPr>
              <a:t>Standard 15" or 14" laptop/desktop screen (1366x768 / 1080p resolution)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Keyboard &amp; Mouse: </a:t>
            </a:r>
            <a:r>
              <a:rPr sz="1100">
                <a:solidFill>
                  <a:srgbClr val="334155"/>
                </a:solidFill>
                <a:latin typeface="Segoe UI"/>
              </a:rPr>
              <a:t>Any standard computer keyboard and mouse / trackpad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Internet Connection: </a:t>
            </a:r>
            <a:r>
              <a:rPr sz="1100">
                <a:solidFill>
                  <a:srgbClr val="334155"/>
                </a:solidFill>
                <a:latin typeface="Segoe UI"/>
              </a:rPr>
              <a:t>Basic broadband or mobile hotspot connection (2 Mbps+)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Printer: </a:t>
            </a:r>
            <a:r>
              <a:rPr sz="1100">
                <a:solidFill>
                  <a:srgbClr val="334155"/>
                </a:solidFill>
                <a:latin typeface="Segoe UI"/>
              </a:rPr>
              <a:t>Normal office printer (optional for printing borrowing receipts/records)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536192"/>
            <a:ext cx="5230368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691640"/>
            <a:ext cx="486460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0D5C75"/>
                </a:solidFill>
                <a:latin typeface="Segoe UI"/>
              </a:defRPr>
            </a:pPr>
            <a:r>
              <a:t>Software Requirements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Operating System: </a:t>
            </a:r>
            <a:r>
              <a:rPr sz="1100">
                <a:solidFill>
                  <a:srgbClr val="334155"/>
                </a:solidFill>
                <a:latin typeface="Segoe UI"/>
              </a:rPr>
              <a:t>Windows 10 / 11 or Linux (Ubuntu)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Programming Language: </a:t>
            </a:r>
            <a:r>
              <a:rPr sz="1100">
                <a:solidFill>
                  <a:srgbClr val="334155"/>
                </a:solidFill>
                <a:latin typeface="Segoe UI"/>
              </a:rPr>
              <a:t>Python (Version 3.10 or higher)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Web Framework: </a:t>
            </a:r>
            <a:r>
              <a:rPr sz="1100">
                <a:solidFill>
                  <a:srgbClr val="334155"/>
                </a:solidFill>
                <a:latin typeface="Segoe UI"/>
              </a:rPr>
              <a:t>Flask 3.0 (Lightweight and fast web engine)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Database Server: </a:t>
            </a:r>
            <a:r>
              <a:rPr sz="1100">
                <a:solidFill>
                  <a:srgbClr val="334155"/>
                </a:solidFill>
                <a:latin typeface="Segoe UI"/>
              </a:rPr>
              <a:t>TiDB Cloud Serverless (MySQL 8.0 Protocol compliant)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Database Connector: </a:t>
            </a:r>
            <a:r>
              <a:rPr sz="1100">
                <a:solidFill>
                  <a:srgbClr val="334155"/>
                </a:solidFill>
                <a:latin typeface="Segoe UI"/>
              </a:rPr>
              <a:t>PyMySQL (Safe Python connector for MySQL queries)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Security Engine: </a:t>
            </a:r>
            <a:r>
              <a:rPr sz="1100">
                <a:solidFill>
                  <a:srgbClr val="334155"/>
                </a:solidFill>
                <a:latin typeface="Segoe UI"/>
              </a:rPr>
              <a:t>Werkzeug Security (PBKDF2 Password Hashing)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Frontend Stack: </a:t>
            </a:r>
            <a:r>
              <a:rPr sz="1100">
                <a:solidFill>
                  <a:srgbClr val="334155"/>
                </a:solidFill>
                <a:latin typeface="Segoe UI"/>
              </a:rPr>
              <a:t>HTML5, CSS3, JavaScript, Bootstrap 5.3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Web Browser: </a:t>
            </a:r>
            <a:r>
              <a:rPr sz="1100">
                <a:solidFill>
                  <a:srgbClr val="334155"/>
                </a:solidFill>
                <a:latin typeface="Segoe UI"/>
              </a:rPr>
              <a:t>Google Chrome, Microsoft Edge, or Mozilla Firefox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Code Editor: </a:t>
            </a:r>
            <a:r>
              <a:rPr sz="1100">
                <a:solidFill>
                  <a:srgbClr val="334155"/>
                </a:solidFill>
                <a:latin typeface="Segoe UI"/>
              </a:rPr>
              <a:t>Visual Studio Code (VS Code)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01200" y="-1371600"/>
            <a:ext cx="4114800" cy="4114800"/>
          </a:xfrm>
          <a:prstGeom prst="ellipse">
            <a:avLst/>
          </a:prstGeom>
          <a:solidFill>
            <a:srgbClr val="DCF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754880"/>
            <a:ext cx="3657600" cy="36576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47120" y="3017520"/>
            <a:ext cx="347472" cy="347472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4206240"/>
            <a:ext cx="219456" cy="219456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Segoe UI"/>
              </a:rPr>
              <a:t>CILS — Community Item Lending System | SRM Online</a:t>
            </a:r>
            <a:r>
              <a:rPr sz="950">
                <a:solidFill>
                  <a:srgbClr val="0D9488"/>
                </a:solidFill>
                <a:latin typeface="Segoe UI"/>
              </a:rPr>
              <a:t>   •   </a:t>
            </a:r>
            <a:r>
              <a:rPr sz="1000" b="1">
                <a:solidFill>
                  <a:srgbClr val="0D9488"/>
                </a:solidFill>
                <a:latin typeface="Segoe UI"/>
              </a:rPr>
              <a:t>Slide - 7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"/>
            <a:ext cx="2377440" cy="310896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0D9488"/>
                </a:solidFill>
                <a:latin typeface="Segoe UI"/>
              </a:defRPr>
            </a:pPr>
            <a:r>
              <a:t>CURRENT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4124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Existing System and Its Problems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36192"/>
            <a:ext cx="3401568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645920"/>
            <a:ext cx="30723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E11D48"/>
                </a:solidFill>
                <a:latin typeface="Segoe UI"/>
              </a:defRPr>
            </a:pPr>
            <a:r>
              <a:t>Step 1: Manual Requests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How it is done: </a:t>
            </a:r>
            <a:r>
              <a:rPr sz="1050">
                <a:solidFill>
                  <a:srgbClr val="334155"/>
                </a:solidFill>
                <a:latin typeface="Segoe UI"/>
              </a:rPr>
              <a:t>Residents post requests in crowded WhatsApp groups, make phone calls, or knock on neighbor doors.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Problem: </a:t>
            </a:r>
            <a:r>
              <a:rPr sz="1050">
                <a:solidFill>
                  <a:srgbClr val="334155"/>
                </a:solidFill>
                <a:latin typeface="Segoe UI"/>
              </a:rPr>
              <a:t>Messages get buried quickly, forgotten on busy days, or missed by neighbors who have the item.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536192"/>
            <a:ext cx="3401568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645920"/>
            <a:ext cx="30723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D97706"/>
                </a:solidFill>
                <a:latin typeface="Segoe UI"/>
              </a:defRPr>
            </a:pPr>
            <a:r>
              <a:t>Step 2: Excel / Memory Tracking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How it is done: </a:t>
            </a:r>
            <a:r>
              <a:rPr sz="1050">
                <a:solidFill>
                  <a:srgbClr val="334155"/>
                </a:solidFill>
                <a:latin typeface="Segoe UI"/>
              </a:rPr>
              <a:t>Lenders try to remember who borrowed their tools or note them down on scraps of paper / Excel.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Problem: </a:t>
            </a:r>
            <a:r>
              <a:rPr sz="1050">
                <a:solidFill>
                  <a:srgbClr val="334155"/>
                </a:solidFill>
                <a:latin typeface="Segoe UI"/>
              </a:rPr>
              <a:t>Return dates are forgotten; items remain unreturned for months or are lost permanently.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536192"/>
            <a:ext cx="3401568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1645920"/>
            <a:ext cx="30723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D5C75"/>
                </a:solidFill>
                <a:latin typeface="Segoe UI"/>
              </a:defRPr>
            </a:pPr>
            <a:r>
              <a:t>Step 3: Handover Confusion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How it is done: </a:t>
            </a:r>
            <a:r>
              <a:rPr sz="1050">
                <a:solidFill>
                  <a:srgbClr val="334155"/>
                </a:solidFill>
                <a:latin typeface="Segoe UI"/>
              </a:rPr>
              <a:t>Items change hands without verifying current condition or recording borrow details.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Problem: </a:t>
            </a:r>
            <a:r>
              <a:rPr sz="1050">
                <a:solidFill>
                  <a:srgbClr val="334155"/>
                </a:solidFill>
                <a:latin typeface="Segoe UI"/>
              </a:rPr>
              <a:t>No permanent record or audit proof exists for item return dates, damage accountability, or disputes.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160520"/>
            <a:ext cx="10728655" cy="2084831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297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E11D48"/>
                </a:solidFill>
                <a:latin typeface="Segoe UI"/>
              </a:defRPr>
            </a:pPr>
            <a:r>
              <a:t>Main Gaps in the Existing System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Double Booking: </a:t>
            </a:r>
            <a:r>
              <a:rPr sz="1100">
                <a:solidFill>
                  <a:srgbClr val="334155"/>
                </a:solidFill>
                <a:latin typeface="Segoe UI"/>
              </a:rPr>
              <a:t>Because chats and spreadsheets are not synchronized, two neighbors ask for and are promised the same item simultaneously.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Too Slow: </a:t>
            </a:r>
            <a:r>
              <a:rPr sz="1100">
                <a:solidFill>
                  <a:srgbClr val="334155"/>
                </a:solidFill>
                <a:latin typeface="Segoe UI"/>
              </a:rPr>
              <a:t>It takes days of back-and-forth messaging and awkward reminders just to coordinate borrowing a simple tool.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No Audit Proof: </a:t>
            </a:r>
            <a:r>
              <a:rPr sz="1100">
                <a:solidFill>
                  <a:srgbClr val="334155"/>
                </a:solidFill>
                <a:latin typeface="Segoe UI"/>
              </a:rPr>
              <a:t>Without central logs, lenders cannot verify past borrower history, leading to mistrust and reluctance to share.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01200" y="-1371600"/>
            <a:ext cx="4114800" cy="4114800"/>
          </a:xfrm>
          <a:prstGeom prst="ellipse">
            <a:avLst/>
          </a:prstGeom>
          <a:solidFill>
            <a:srgbClr val="DCF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754880"/>
            <a:ext cx="3657600" cy="36576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47120" y="3017520"/>
            <a:ext cx="347472" cy="347472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4206240"/>
            <a:ext cx="219456" cy="219456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Segoe UI"/>
              </a:rPr>
              <a:t>CILS — Community Item Lending System | SRM Online</a:t>
            </a:r>
            <a:r>
              <a:rPr sz="950">
                <a:solidFill>
                  <a:srgbClr val="0D9488"/>
                </a:solidFill>
                <a:latin typeface="Segoe UI"/>
              </a:rPr>
              <a:t>   •   </a:t>
            </a:r>
            <a:r>
              <a:rPr sz="1000" b="1">
                <a:solidFill>
                  <a:srgbClr val="0D9488"/>
                </a:solidFill>
                <a:latin typeface="Segoe UI"/>
              </a:rPr>
              <a:t>Slide - 8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"/>
            <a:ext cx="2377440" cy="310896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0D9488"/>
                </a:solidFill>
                <a:latin typeface="Segoe UI"/>
              </a:defRPr>
            </a:pPr>
            <a:r>
              <a:t>PROPOSED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4124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How the Proposed System Improves the Process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36192"/>
            <a:ext cx="3401568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691640"/>
            <a:ext cx="307238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D5C75"/>
                </a:solidFill>
                <a:latin typeface="Segoe UI"/>
              </a:defRPr>
            </a:pPr>
            <a:r>
              <a:t>1. Easy Web Frontend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Simple Interface: </a:t>
            </a:r>
            <a:r>
              <a:rPr sz="1050">
                <a:solidFill>
                  <a:srgbClr val="334155"/>
                </a:solidFill>
                <a:latin typeface="Segoe UI"/>
              </a:rPr>
              <a:t>Built using HTML5 and Bootstrap 5.3 so the website looks clean, modern, and uncluttered.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Works Anywhere: </a:t>
            </a:r>
            <a:r>
              <a:rPr sz="1050">
                <a:solidFill>
                  <a:srgbClr val="334155"/>
                </a:solidFill>
                <a:latin typeface="Segoe UI"/>
              </a:rPr>
              <a:t>Runs smoothly on laptops, tablets, and smartphone web browsers.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Clear Alerts: </a:t>
            </a:r>
            <a:r>
              <a:rPr sz="1050">
                <a:solidFill>
                  <a:srgbClr val="334155"/>
                </a:solidFill>
                <a:latin typeface="Segoe UI"/>
              </a:rPr>
              <a:t>Shows green pop-up banners when requests succeed and red warnings if an item is already reserved.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No Training Needed: </a:t>
            </a:r>
            <a:r>
              <a:rPr sz="1050">
                <a:solidFill>
                  <a:srgbClr val="334155"/>
                </a:solidFill>
                <a:latin typeface="Segoe UI"/>
              </a:rPr>
              <a:t>Simple buttons like 'Browse Items' and 'Request Borrow' that any resident can use immediately.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536192"/>
            <a:ext cx="3401568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691640"/>
            <a:ext cx="307238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D5C75"/>
                </a:solidFill>
                <a:latin typeface="Segoe UI"/>
              </a:defRPr>
            </a:pPr>
            <a:r>
              <a:t>2. Python Backend Logic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Fast Python Engine: </a:t>
            </a:r>
            <a:r>
              <a:rPr sz="1050">
                <a:solidFill>
                  <a:srgbClr val="334155"/>
                </a:solidFill>
                <a:latin typeface="Segoe UI"/>
              </a:rPr>
              <a:t>Uses Python 3.10+ and Flask 3.0 to process requests and routes in milliseconds.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Safe Passwords: </a:t>
            </a:r>
            <a:r>
              <a:rPr sz="1050">
                <a:solidFill>
                  <a:srgbClr val="334155"/>
                </a:solidFill>
                <a:latin typeface="Segoe UI"/>
              </a:rPr>
              <a:t>Passwords are encrypted with PBKDF2:SHA256 so accounts stay completely secure.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Photo Resizer: </a:t>
            </a:r>
            <a:r>
              <a:rPr sz="1050">
                <a:solidFill>
                  <a:srgbClr val="334155"/>
                </a:solidFill>
                <a:latin typeface="Segoe UI"/>
              </a:rPr>
              <a:t>Automatically resizes and validates item photos into clean pictures for the catalog.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Auto Status Engine: </a:t>
            </a:r>
            <a:r>
              <a:rPr sz="1050">
                <a:solidFill>
                  <a:srgbClr val="334155"/>
                </a:solidFill>
                <a:latin typeface="Segoe UI"/>
              </a:rPr>
              <a:t>Manages item states (Available -&gt; Pending -&gt; Lent -&gt; Returned) automatically.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536192"/>
            <a:ext cx="3401568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1691640"/>
            <a:ext cx="307238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D5C75"/>
                </a:solidFill>
                <a:latin typeface="Segoe UI"/>
              </a:defRPr>
            </a:pPr>
            <a:r>
              <a:t>3. Secure TiDB Cloud MySQL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Organized Tables: </a:t>
            </a:r>
            <a:r>
              <a:rPr sz="1050">
                <a:solidFill>
                  <a:srgbClr val="334155"/>
                </a:solidFill>
                <a:latin typeface="Segoe UI"/>
              </a:rPr>
              <a:t>Stores users, categories, items, and borrow requests cleanly with relational foreign keys.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Instant Stock Lock: </a:t>
            </a:r>
            <a:r>
              <a:rPr sz="1050">
                <a:solidFill>
                  <a:srgbClr val="334155"/>
                </a:solidFill>
                <a:latin typeface="Segoe UI"/>
              </a:rPr>
              <a:t>Automatically locks item status upon approval, making duplicate booking impossible.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Reliable Storage: </a:t>
            </a:r>
            <a:r>
              <a:rPr sz="1050">
                <a:solidFill>
                  <a:srgbClr val="334155"/>
                </a:solidFill>
                <a:latin typeface="Segoe UI"/>
              </a:rPr>
              <a:t>Data is securely hosted in serverless cloud MySQL, safe from server restarts or power loss.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Permanent History: </a:t>
            </a:r>
            <a:r>
              <a:rPr sz="1050">
                <a:solidFill>
                  <a:srgbClr val="334155"/>
                </a:solidFill>
                <a:latin typeface="Segoe UI"/>
              </a:rPr>
              <a:t>Keeps a full audit log of every single borrowing transaction for transparent accountability.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01200" y="-1371600"/>
            <a:ext cx="4114800" cy="4114800"/>
          </a:xfrm>
          <a:prstGeom prst="ellipse">
            <a:avLst/>
          </a:prstGeom>
          <a:solidFill>
            <a:srgbClr val="DCF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754880"/>
            <a:ext cx="3657600" cy="36576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47120" y="3017520"/>
            <a:ext cx="347472" cy="347472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4206240"/>
            <a:ext cx="219456" cy="219456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Segoe UI"/>
              </a:rPr>
              <a:t>CILS — Community Item Lending System | SRM Online</a:t>
            </a:r>
            <a:r>
              <a:rPr sz="950">
                <a:solidFill>
                  <a:srgbClr val="0D9488"/>
                </a:solidFill>
                <a:latin typeface="Segoe UI"/>
              </a:rPr>
              <a:t>   •   </a:t>
            </a:r>
            <a:r>
              <a:rPr sz="1000" b="1">
                <a:solidFill>
                  <a:srgbClr val="0D9488"/>
                </a:solidFill>
                <a:latin typeface="Segoe UI"/>
              </a:rPr>
              <a:t>Slide - 9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"/>
            <a:ext cx="2377440" cy="310896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0D9488"/>
                </a:solidFill>
                <a:latin typeface="Segoe UI"/>
              </a:defRPr>
            </a:pPr>
            <a:r>
              <a:t>SYSTEM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4124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System Design — Data Flow Diagram (DFD)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36192"/>
            <a:ext cx="594360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45920"/>
            <a:ext cx="5669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D5C75"/>
                </a:solidFill>
                <a:latin typeface="Segoe UI"/>
              </a:defRPr>
            </a:pPr>
            <a:r>
              <a:t>Figure 1: DFD Level 0 — Context Diagram</a:t>
            </a:r>
          </a:p>
        </p:txBody>
      </p:sp>
      <p:pic>
        <p:nvPicPr>
          <p:cNvPr id="11" name="Picture 10" descr="fig1_dfd_leve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11680"/>
            <a:ext cx="5577840" cy="3657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5806440"/>
            <a:ext cx="5669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D9488"/>
                </a:solidFill>
                <a:latin typeface="Segoe UI"/>
              </a:defRPr>
            </a:pPr>
            <a:r>
              <a:t>Figure: Data Flow Diagram (DFD) — How Data Moves in the System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3720" y="1536192"/>
            <a:ext cx="4553712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169164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D5C75"/>
                </a:solidFill>
                <a:latin typeface="Segoe UI"/>
              </a:defRPr>
            </a:pPr>
            <a:r>
              <a:t>How Data Moves in 4 Simple Steps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1. Item Owner: </a:t>
            </a:r>
            <a:r>
              <a:rPr sz="1100">
                <a:solidFill>
                  <a:srgbClr val="334155"/>
                </a:solidFill>
                <a:latin typeface="Segoe UI"/>
              </a:rPr>
              <a:t>Enters household item details (tools, ladder, category) and uploads photo into the system.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2. System Database: </a:t>
            </a:r>
            <a:r>
              <a:rPr sz="1100">
                <a:solidFill>
                  <a:srgbClr val="334155"/>
                </a:solidFill>
                <a:latin typeface="Segoe UI"/>
              </a:rPr>
              <a:t>Saves item records in TiDB MySQL and displays them on the live community catalog.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3. Community Borrower: </a:t>
            </a:r>
            <a:r>
              <a:rPr sz="1100">
                <a:solidFill>
                  <a:srgbClr val="334155"/>
                </a:solidFill>
                <a:latin typeface="Segoe UI"/>
              </a:rPr>
              <a:t>Browses catalog, chooses needed item, and submits borrowing request with return date.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4. Review &amp; Handover: </a:t>
            </a:r>
            <a:r>
              <a:rPr sz="1100">
                <a:solidFill>
                  <a:srgbClr val="334155"/>
                </a:solidFill>
                <a:latin typeface="Segoe UI"/>
              </a:rPr>
              <a:t>Owner reviews request, clicks approve, system locks item as 'Lent', and shares contact details.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01200" y="-1371600"/>
            <a:ext cx="4114800" cy="4114800"/>
          </a:xfrm>
          <a:prstGeom prst="ellipse">
            <a:avLst/>
          </a:prstGeom>
          <a:solidFill>
            <a:srgbClr val="DCF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754880"/>
            <a:ext cx="3657600" cy="36576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47120" y="3017520"/>
            <a:ext cx="347472" cy="347472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4206240"/>
            <a:ext cx="219456" cy="219456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Segoe UI"/>
              </a:rPr>
              <a:t>CILS — Community Item Lending System | SRM Online</a:t>
            </a:r>
            <a:r>
              <a:rPr sz="950">
                <a:solidFill>
                  <a:srgbClr val="0D9488"/>
                </a:solidFill>
                <a:latin typeface="Segoe UI"/>
              </a:rPr>
              <a:t>   •   </a:t>
            </a:r>
            <a:r>
              <a:rPr sz="1000" b="1">
                <a:solidFill>
                  <a:srgbClr val="0D9488"/>
                </a:solidFill>
                <a:latin typeface="Segoe UI"/>
              </a:rPr>
              <a:t>Slide - 10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"/>
            <a:ext cx="2377440" cy="310896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0D9488"/>
                </a:solidFill>
                <a:latin typeface="Segoe UI"/>
              </a:defRPr>
            </a:pPr>
            <a:r>
              <a:t>SYSTEM INTERACTIONS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4124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Use Case Diagram — What Each User Can 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36192"/>
            <a:ext cx="594360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45920"/>
            <a:ext cx="5669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D5C75"/>
                </a:solidFill>
                <a:latin typeface="Segoe UI"/>
              </a:defRPr>
            </a:pPr>
            <a:r>
              <a:t>Figure 4: UML Use Case Diagram</a:t>
            </a:r>
          </a:p>
        </p:txBody>
      </p:sp>
      <p:pic>
        <p:nvPicPr>
          <p:cNvPr id="11" name="Picture 10" descr="fig4_uml_use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11680"/>
            <a:ext cx="5577840" cy="3657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5806440"/>
            <a:ext cx="5669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D9488"/>
                </a:solidFill>
                <a:latin typeface="Segoe UI"/>
              </a:defRPr>
            </a:pPr>
            <a:r>
              <a:t>Figure: Use Case Diagram — Users and Their Actions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3720" y="1536192"/>
            <a:ext cx="4553712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169164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D5C75"/>
                </a:solidFill>
                <a:latin typeface="Segoe UI"/>
              </a:defRPr>
            </a:pPr>
            <a:r>
              <a:t>User Roles and Their Actions</a:t>
            </a:r>
          </a:p>
          <a:p>
            <a:pPr>
              <a:spcAft>
                <a:spcPts val="400"/>
              </a:spcAft>
              <a:defRPr sz="1200" b="1">
                <a:solidFill>
                  <a:srgbClr val="0D9488"/>
                </a:solidFill>
                <a:latin typeface="Segoe UI"/>
              </a:defRPr>
            </a:pPr>
            <a:r>
              <a:t>Community Borrower: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050">
                <a:solidFill>
                  <a:srgbClr val="334155"/>
                </a:solidFill>
                <a:latin typeface="Segoe UI"/>
              </a:rPr>
              <a:t>• Register resident account and log in securely.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050">
                <a:solidFill>
                  <a:srgbClr val="334155"/>
                </a:solidFill>
                <a:latin typeface="Segoe UI"/>
              </a:rPr>
              <a:t>• Search and filter available items by category or keyword.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050">
                <a:solidFill>
                  <a:srgbClr val="334155"/>
                </a:solidFill>
                <a:latin typeface="Segoe UI"/>
              </a:rPr>
              <a:t>• Submit borrowing request with return date and track approval.</a:t>
            </a:r>
          </a:p>
          <a:p>
            <a:pPr>
              <a:spcAft>
                <a:spcPts val="400"/>
              </a:spcAft>
              <a:defRPr sz="1200" b="1">
                <a:solidFill>
                  <a:srgbClr val="D97706"/>
                </a:solidFill>
                <a:latin typeface="Segoe UI"/>
              </a:defRPr>
            </a:pPr>
            <a:r>
              <a:t>Item Owner: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050">
                <a:solidFill>
                  <a:srgbClr val="334155"/>
                </a:solidFill>
                <a:latin typeface="Segoe UI"/>
              </a:rPr>
              <a:t>• Log in to personal dashboard and inventory management.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050">
                <a:solidFill>
                  <a:srgbClr val="334155"/>
                </a:solidFill>
                <a:latin typeface="Segoe UI"/>
              </a:rPr>
              <a:t>• Add household items with photo, condition, and category.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050">
                <a:solidFill>
                  <a:srgbClr val="334155"/>
                </a:solidFill>
                <a:latin typeface="Segoe UI"/>
              </a:rPr>
              <a:t>• Approve or reject borrow requests and confirm returns.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01200" y="-1371600"/>
            <a:ext cx="4114800" cy="4114800"/>
          </a:xfrm>
          <a:prstGeom prst="ellipse">
            <a:avLst/>
          </a:prstGeom>
          <a:solidFill>
            <a:srgbClr val="DCF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754880"/>
            <a:ext cx="3657600" cy="36576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47120" y="3017520"/>
            <a:ext cx="347472" cy="347472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4206240"/>
            <a:ext cx="219456" cy="219456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Segoe UI"/>
              </a:rPr>
              <a:t>CILS — Community Item Lending System | SRM Online</a:t>
            </a:r>
            <a:r>
              <a:rPr sz="950">
                <a:solidFill>
                  <a:srgbClr val="0D9488"/>
                </a:solidFill>
                <a:latin typeface="Segoe UI"/>
              </a:rPr>
              <a:t>   •   </a:t>
            </a:r>
            <a:r>
              <a:rPr sz="1000" b="1">
                <a:solidFill>
                  <a:srgbClr val="0D9488"/>
                </a:solidFill>
                <a:latin typeface="Segoe UI"/>
              </a:rPr>
              <a:t>Slide - 11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"/>
            <a:ext cx="2377440" cy="310896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0D9488"/>
                </a:solidFill>
                <a:latin typeface="Segoe UI"/>
              </a:defRPr>
            </a:pPr>
            <a:r>
              <a:t>MODULE DESCRIPTION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4124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Modules at a Glance and Work Done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36192"/>
            <a:ext cx="5230368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645920"/>
            <a:ext cx="4901184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D5C75"/>
                </a:solidFill>
                <a:latin typeface="Segoe UI"/>
              </a:defRPr>
            </a:pPr>
            <a:r>
              <a:t>1. User Login &amp; Registration</a:t>
            </a:r>
          </a:p>
          <a:p>
            <a:pPr>
              <a:lnSpc>
                <a:spcPct val="125000"/>
              </a:lnSpc>
              <a:defRPr sz="1050">
                <a:solidFill>
                  <a:srgbClr val="334155"/>
                </a:solidFill>
                <a:latin typeface="Segoe UI"/>
              </a:defRPr>
            </a:pPr>
            <a:r>
              <a:t>Handles account signup and secure login for residents using PBKDF2:SHA256 password hashing.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536192"/>
            <a:ext cx="5230368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1656" y="1645920"/>
            <a:ext cx="4901184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D5C75"/>
                </a:solidFill>
                <a:latin typeface="Segoe UI"/>
              </a:defRPr>
            </a:pPr>
            <a:r>
              <a:t>2. Public Item Catalog</a:t>
            </a:r>
          </a:p>
          <a:p>
            <a:pPr>
              <a:lnSpc>
                <a:spcPct val="125000"/>
              </a:lnSpc>
              <a:defRPr sz="1050">
                <a:solidFill>
                  <a:srgbClr val="334155"/>
                </a:solidFill>
                <a:latin typeface="Segoe UI"/>
              </a:defRPr>
            </a:pPr>
            <a:r>
              <a:t>Shows all available household items online with clear photos, categories, and availability badges.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145536"/>
            <a:ext cx="5230368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255264"/>
            <a:ext cx="4901184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D5C75"/>
                </a:solidFill>
                <a:latin typeface="Segoe UI"/>
              </a:defRPr>
            </a:pPr>
            <a:r>
              <a:t>3. Add Item Listing &amp; Photo</a:t>
            </a:r>
          </a:p>
          <a:p>
            <a:pPr>
              <a:lnSpc>
                <a:spcPct val="125000"/>
              </a:lnSpc>
              <a:defRPr sz="1050">
                <a:solidFill>
                  <a:srgbClr val="334155"/>
                </a:solidFill>
                <a:latin typeface="Segoe UI"/>
              </a:defRPr>
            </a:pPr>
            <a:r>
              <a:t>Allows residents to list extra household items, choose category, write description, and upload photos.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3145536"/>
            <a:ext cx="5230368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6" y="3255264"/>
            <a:ext cx="4901184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D5C75"/>
                </a:solidFill>
                <a:latin typeface="Segoe UI"/>
              </a:defRPr>
            </a:pPr>
            <a:r>
              <a:t>4. Borrow Request Module</a:t>
            </a:r>
          </a:p>
          <a:p>
            <a:pPr>
              <a:lnSpc>
                <a:spcPct val="125000"/>
              </a:lnSpc>
              <a:defRPr sz="1050">
                <a:solidFill>
                  <a:srgbClr val="334155"/>
                </a:solidFill>
                <a:latin typeface="Segoe UI"/>
              </a:defRPr>
            </a:pPr>
            <a:r>
              <a:t>Lets neighbors submit borrowing requests with preferred borrow/return dates and purpose.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754880"/>
            <a:ext cx="5230368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864608"/>
            <a:ext cx="4901184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D5C75"/>
                </a:solidFill>
                <a:latin typeface="Segoe UI"/>
              </a:defRPr>
            </a:pPr>
            <a:r>
              <a:t>5. Stock Reservation Engine</a:t>
            </a:r>
          </a:p>
          <a:p>
            <a:pPr>
              <a:lnSpc>
                <a:spcPct val="125000"/>
              </a:lnSpc>
              <a:defRPr sz="1050">
                <a:solidFill>
                  <a:srgbClr val="334155"/>
                </a:solidFill>
                <a:latin typeface="Segoe UI"/>
              </a:defRPr>
            </a:pPr>
            <a:r>
              <a:t>Automatically locks approved items so they change status to Lent and cannot be double-booked.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7064" y="4754880"/>
            <a:ext cx="5230368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6" y="4864608"/>
            <a:ext cx="4901184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0D5C75"/>
                </a:solidFill>
                <a:latin typeface="Segoe UI"/>
              </a:defRPr>
            </a:pPr>
            <a:r>
              <a:t>6. Return Tracking &amp; Audit Log</a:t>
            </a:r>
          </a:p>
          <a:p>
            <a:pPr>
              <a:lnSpc>
                <a:spcPct val="125000"/>
              </a:lnSpc>
              <a:defRPr sz="1050">
                <a:solidFill>
                  <a:srgbClr val="334155"/>
                </a:solidFill>
                <a:latin typeface="Segoe UI"/>
              </a:defRPr>
            </a:pPr>
            <a:r>
              <a:t>Enables owners to mark items as returned, restoring availability and logging transaction history.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01200" y="-1371600"/>
            <a:ext cx="4114800" cy="4114800"/>
          </a:xfrm>
          <a:prstGeom prst="ellipse">
            <a:avLst/>
          </a:prstGeom>
          <a:solidFill>
            <a:srgbClr val="DCF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754880"/>
            <a:ext cx="3657600" cy="36576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47120" y="3017520"/>
            <a:ext cx="347472" cy="347472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4206240"/>
            <a:ext cx="219456" cy="219456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Segoe UI"/>
              </a:rPr>
              <a:t>CILS — Community Item Lending System | SRM Online</a:t>
            </a:r>
            <a:r>
              <a:rPr sz="950">
                <a:solidFill>
                  <a:srgbClr val="0D9488"/>
                </a:solidFill>
                <a:latin typeface="Segoe UI"/>
              </a:rPr>
              <a:t>   •   </a:t>
            </a:r>
            <a:r>
              <a:rPr sz="1000" b="1">
                <a:solidFill>
                  <a:srgbClr val="0D9488"/>
                </a:solidFill>
                <a:latin typeface="Segoe UI"/>
              </a:rPr>
              <a:t>Slide - 12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"/>
            <a:ext cx="2377440" cy="310896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0D9488"/>
                </a:solidFill>
                <a:latin typeface="Segoe UI"/>
              </a:defRPr>
            </a:pPr>
            <a:r>
              <a:t>SAMPLE SOURCE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4124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Sample Source Code — Approving a Request &amp; Locking Stock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36192"/>
            <a:ext cx="594360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4592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50" b="1">
                <a:solidFill>
                  <a:srgbClr val="0D9488"/>
                </a:solidFill>
                <a:latin typeface="Consolas"/>
              </a:defRPr>
            </a:pPr>
            <a:r>
              <a:t>File: app/routes/requests.py (Python / Flask)</a:t>
            </a:r>
          </a:p>
          <a:p>
            <a:pPr>
              <a:spcAft>
                <a:spcPts val="100"/>
              </a:spcAft>
              <a:defRPr sz="950" b="1">
                <a:solidFill>
                  <a:srgbClr val="0F766E"/>
                </a:solidFill>
                <a:latin typeface="Consolas"/>
              </a:defRPr>
            </a:pPr>
            <a:r>
              <a:t>@req_bp.route('/request/&lt;int:id&gt;/approve', methods=['POST'])</a:t>
            </a:r>
          </a:p>
          <a:p>
            <a:pPr>
              <a:spcAft>
                <a:spcPts val="100"/>
              </a:spcAft>
              <a:defRPr sz="950" b="1">
                <a:solidFill>
                  <a:srgbClr val="0F766E"/>
                </a:solidFill>
                <a:latin typeface="Consolas"/>
              </a:defRPr>
            </a:pPr>
            <a:r>
              <a:t>@login_required</a:t>
            </a:r>
          </a:p>
          <a:p>
            <a:pPr>
              <a:spcAft>
                <a:spcPts val="100"/>
              </a:spcAft>
              <a:defRPr sz="950" b="1">
                <a:solidFill>
                  <a:srgbClr val="0F766E"/>
                </a:solidFill>
                <a:latin typeface="Consolas"/>
              </a:defRPr>
            </a:pPr>
            <a:r>
              <a:t>def approve_request(id):</a:t>
            </a:r>
          </a:p>
          <a:p>
            <a:pPr>
              <a:spcAft>
                <a:spcPts val="100"/>
              </a:spcAft>
              <a:defRPr sz="950">
                <a:solidFill>
                  <a:srgbClr val="64748B"/>
                </a:solidFill>
                <a:latin typeface="Consolas"/>
              </a:defRPr>
            </a:pPr>
            <a:r>
              <a:t>    # 1. Find the borrowing request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  <a:latin typeface="Consolas"/>
              </a:defRPr>
            </a:pPr>
            <a:r>
              <a:t>    req = BorrowRequest.query.get(id)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  <a:latin typeface="Consolas"/>
              </a:defRPr>
            </a:pPr>
            <a:r>
              <a:t>    item = Item.query.get(req.item_id)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  <a:latin typeface="Consolas"/>
              </a:defRPr>
            </a:pPr>
            <a:r>
              <a:t>    </a:t>
            </a:r>
          </a:p>
          <a:p>
            <a:pPr>
              <a:spcAft>
                <a:spcPts val="100"/>
              </a:spcAft>
              <a:defRPr sz="950">
                <a:solidFill>
                  <a:srgbClr val="64748B"/>
                </a:solidFill>
                <a:latin typeface="Consolas"/>
              </a:defRPr>
            </a:pPr>
            <a:r>
              <a:t>    # 2. Check if item is available</a:t>
            </a:r>
          </a:p>
          <a:p>
            <a:pPr>
              <a:spcAft>
                <a:spcPts val="100"/>
              </a:spcAft>
              <a:defRPr sz="950" b="1">
                <a:solidFill>
                  <a:srgbClr val="0F766E"/>
                </a:solidFill>
                <a:latin typeface="Consolas"/>
              </a:defRPr>
            </a:pPr>
            <a:r>
              <a:t>    if item.status == 'Available':</a:t>
            </a:r>
          </a:p>
          <a:p>
            <a:pPr>
              <a:spcAft>
                <a:spcPts val="100"/>
              </a:spcAft>
              <a:defRPr sz="950">
                <a:solidFill>
                  <a:srgbClr val="64748B"/>
                </a:solidFill>
                <a:latin typeface="Consolas"/>
              </a:defRPr>
            </a:pPr>
            <a:r>
              <a:t>        # 3. Lock item status safely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  <a:latin typeface="Consolas"/>
              </a:defRPr>
            </a:pPr>
            <a:r>
              <a:t>        item.status = 'Lent'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  <a:latin typeface="Consolas"/>
              </a:defRPr>
            </a:pPr>
            <a:r>
              <a:t>        req.status = 'Approved'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  <a:latin typeface="Consolas"/>
              </a:defRPr>
            </a:pPr>
            <a:r>
              <a:t>        </a:t>
            </a:r>
          </a:p>
          <a:p>
            <a:pPr>
              <a:spcAft>
                <a:spcPts val="100"/>
              </a:spcAft>
              <a:defRPr sz="950">
                <a:solidFill>
                  <a:srgbClr val="64748B"/>
                </a:solidFill>
                <a:latin typeface="Consolas"/>
              </a:defRPr>
            </a:pPr>
            <a:r>
              <a:t>        # 4. Save changes to database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  <a:latin typeface="Consolas"/>
              </a:defRPr>
            </a:pPr>
            <a:r>
              <a:t>        db.session.commit()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  <a:latin typeface="Consolas"/>
              </a:defRPr>
            </a:pPr>
            <a:r>
              <a:t>        flash('Request approved! Item locked.', 'success')</a:t>
            </a:r>
          </a:p>
          <a:p>
            <a:pPr>
              <a:spcAft>
                <a:spcPts val="100"/>
              </a:spcAft>
              <a:defRPr sz="950" b="1">
                <a:solidFill>
                  <a:srgbClr val="0F766E"/>
                </a:solidFill>
                <a:latin typeface="Consolas"/>
              </a:defRPr>
            </a:pPr>
            <a:r>
              <a:t>    else: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  <a:latin typeface="Consolas"/>
              </a:defRPr>
            </a:pPr>
            <a:r>
              <a:t>        flash('Item is already lent out.', 'danger')</a:t>
            </a:r>
          </a:p>
          <a:p>
            <a:pPr>
              <a:spcAft>
                <a:spcPts val="100"/>
              </a:spcAft>
              <a:defRPr sz="950">
                <a:solidFill>
                  <a:srgbClr val="0F172A"/>
                </a:solidFill>
                <a:latin typeface="Consolas"/>
              </a:defRPr>
            </a:pPr>
            <a:r>
              <a:t>        </a:t>
            </a:r>
          </a:p>
          <a:p>
            <a:pPr>
              <a:spcAft>
                <a:spcPts val="100"/>
              </a:spcAft>
              <a:defRPr sz="950" b="1">
                <a:solidFill>
                  <a:srgbClr val="0F766E"/>
                </a:solidFill>
                <a:latin typeface="Consolas"/>
              </a:defRPr>
            </a:pPr>
            <a:r>
              <a:t>    return redirect('/dashboard')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1536192"/>
            <a:ext cx="4553712" cy="3383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86600" y="1691640"/>
            <a:ext cx="4187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D5C75"/>
                </a:solidFill>
                <a:latin typeface="Segoe UI"/>
              </a:defRPr>
            </a:pPr>
            <a:r>
              <a:t>What this code does: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Step 1: </a:t>
            </a:r>
            <a:r>
              <a:rPr sz="1100">
                <a:solidFill>
                  <a:srgbClr val="334155"/>
                </a:solidFill>
                <a:latin typeface="Segoe UI"/>
              </a:rPr>
              <a:t>Finds the neighbor's borrow request and the requested household item.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Step 2: </a:t>
            </a:r>
            <a:r>
              <a:rPr sz="1100">
                <a:solidFill>
                  <a:srgbClr val="334155"/>
                </a:solidFill>
                <a:latin typeface="Segoe UI"/>
              </a:rPr>
              <a:t>Checks if the item is currently available in the community database.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Step 3: </a:t>
            </a:r>
            <a:r>
              <a:rPr sz="1100">
                <a:solidFill>
                  <a:srgbClr val="334155"/>
                </a:solidFill>
                <a:latin typeface="Segoe UI"/>
              </a:rPr>
              <a:t>Locks the item status to 'Lent' so nobody else can reserve it.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Step 4: </a:t>
            </a:r>
            <a:r>
              <a:rPr sz="1100">
                <a:solidFill>
                  <a:srgbClr val="334155"/>
                </a:solidFill>
                <a:latin typeface="Segoe UI"/>
              </a:rPr>
              <a:t>Saves the new status as 'Approved' and informs the user.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3720" y="5074920"/>
            <a:ext cx="4553712" cy="11704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D5C75"/>
                </a:solidFill>
                <a:latin typeface="Segoe UI"/>
              </a:defRPr>
            </a:pPr>
            <a:r>
              <a:t>Complete Project Source Code:</a:t>
            </a:r>
          </a:p>
          <a:p>
            <a:pPr algn="ctr">
              <a:spcBef>
                <a:spcPts val="300"/>
              </a:spcBef>
              <a:defRPr sz="1000" b="1">
                <a:solidFill>
                  <a:srgbClr val="0D9488"/>
                </a:solidFill>
                <a:latin typeface="Segoe UI"/>
              </a:defRPr>
            </a:pPr>
            <a:r>
              <a:t>https://github.com/Shahith2004/Community-Item-Lending-System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01200" y="-1371600"/>
            <a:ext cx="4114800" cy="4114800"/>
          </a:xfrm>
          <a:prstGeom prst="ellipse">
            <a:avLst/>
          </a:prstGeom>
          <a:solidFill>
            <a:srgbClr val="DCF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754880"/>
            <a:ext cx="3657600" cy="36576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47120" y="3017520"/>
            <a:ext cx="347472" cy="347472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4206240"/>
            <a:ext cx="219456" cy="219456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Segoe UI"/>
              </a:rPr>
              <a:t>CILS — Community Item Lending System | SRM Online</a:t>
            </a:r>
            <a:r>
              <a:rPr sz="950">
                <a:solidFill>
                  <a:srgbClr val="0D9488"/>
                </a:solidFill>
                <a:latin typeface="Segoe UI"/>
              </a:rPr>
              <a:t>   •   </a:t>
            </a:r>
            <a:r>
              <a:rPr sz="1000" b="1">
                <a:solidFill>
                  <a:srgbClr val="0D9488"/>
                </a:solidFill>
                <a:latin typeface="Segoe UI"/>
              </a:rPr>
              <a:t>Slide - 13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"/>
            <a:ext cx="2377440" cy="310896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0D9488"/>
                </a:solidFill>
                <a:latin typeface="Segoe UI"/>
              </a:defRPr>
            </a:pPr>
            <a:r>
              <a:t>RESULT AND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4124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Actual Screenshots of the Running Website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36192"/>
            <a:ext cx="3401568" cy="4343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pp_browse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645920"/>
            <a:ext cx="3182112" cy="37490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486400"/>
            <a:ext cx="321868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F766E"/>
                </a:solidFill>
                <a:latin typeface="Segoe UI"/>
              </a:defRPr>
            </a:pPr>
            <a:r>
              <a:t>1. Public Resource Catalog (Items &amp; Photos)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536192"/>
            <a:ext cx="3401568" cy="4343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pp_item_details_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8" y="1645920"/>
            <a:ext cx="3182112" cy="37490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80560" y="5486400"/>
            <a:ext cx="321868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F766E"/>
                </a:solidFill>
                <a:latin typeface="Segoe UI"/>
              </a:defRPr>
            </a:pPr>
            <a:r>
              <a:t>2. Item Details (Specs &amp; Request Form)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536192"/>
            <a:ext cx="3401568" cy="4343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pp_dashboard_sc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1645920"/>
            <a:ext cx="3182112" cy="37490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38160" y="5486400"/>
            <a:ext cx="321868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0F766E"/>
                </a:solidFill>
                <a:latin typeface="Segoe UI"/>
              </a:defRPr>
            </a:pPr>
            <a:r>
              <a:t>3. User Dashboard (Stock &amp; Requests Summary)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D5C75"/>
                </a:solidFill>
                <a:latin typeface="Segoe UI"/>
              </a:defRPr>
            </a:pPr>
            <a:r>
              <a:t>Output: Clean, modern, and responsive website tested and running smoothly across all browsers.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01200" y="-1371600"/>
            <a:ext cx="4114800" cy="4114800"/>
          </a:xfrm>
          <a:prstGeom prst="ellipse">
            <a:avLst/>
          </a:prstGeom>
          <a:solidFill>
            <a:srgbClr val="DCF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754880"/>
            <a:ext cx="3657600" cy="36576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47120" y="3017520"/>
            <a:ext cx="347472" cy="347472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4206240"/>
            <a:ext cx="219456" cy="219456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Segoe UI"/>
              </a:rPr>
              <a:t>CILS — Community Item Lending System | SRM Online</a:t>
            </a:r>
            <a:r>
              <a:rPr sz="950">
                <a:solidFill>
                  <a:srgbClr val="0D9488"/>
                </a:solidFill>
                <a:latin typeface="Segoe UI"/>
              </a:rPr>
              <a:t>   •   </a:t>
            </a:r>
            <a:r>
              <a:rPr sz="1000" b="1">
                <a:solidFill>
                  <a:srgbClr val="0D9488"/>
                </a:solidFill>
                <a:latin typeface="Segoe UI"/>
              </a:rPr>
              <a:t>Slide - 14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"/>
            <a:ext cx="2377440" cy="310896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0D9488"/>
                </a:solidFill>
                <a:latin typeface="Segoe UI"/>
              </a:defRPr>
            </a:pPr>
            <a:r>
              <a:t>CONCLUSION &amp; FUTURE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41248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Summary of What Was Achieved &amp; Next Steps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36192"/>
            <a:ext cx="5230368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86460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0D5C75"/>
                </a:solidFill>
                <a:latin typeface="Segoe UI"/>
              </a:defRPr>
            </a:pPr>
            <a:r>
              <a:t>Conclusion — What Was Achieved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Working System: </a:t>
            </a:r>
            <a:r>
              <a:rPr sz="1100">
                <a:solidFill>
                  <a:srgbClr val="334155"/>
                </a:solidFill>
                <a:latin typeface="Segoe UI"/>
              </a:rPr>
              <a:t>Successfully built a complete, easy-to-use website for community household item lending.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No Double Booking: </a:t>
            </a:r>
            <a:r>
              <a:rPr sz="1100">
                <a:solidFill>
                  <a:srgbClr val="334155"/>
                </a:solidFill>
                <a:latin typeface="Segoe UI"/>
              </a:rPr>
              <a:t>Solved manual Excel and chat errors by locking item inventory automatically upon approval.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Paperless Tracking: </a:t>
            </a:r>
            <a:r>
              <a:rPr sz="1100">
                <a:solidFill>
                  <a:srgbClr val="334155"/>
                </a:solidFill>
                <a:latin typeface="Segoe UI"/>
              </a:rPr>
              <a:t>Replaced slow group chats with automated online borrowing records and instant tracking.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Clutter &amp; Cost Reduction: </a:t>
            </a:r>
            <a:r>
              <a:rPr sz="1100">
                <a:solidFill>
                  <a:srgbClr val="334155"/>
                </a:solidFill>
                <a:latin typeface="Segoe UI"/>
              </a:rPr>
              <a:t>Connects power tools, lawnmowers, and ladders directly to neighbors, cutting household waste.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Secure &amp; Cloud-Ready: </a:t>
            </a:r>
            <a:r>
              <a:rPr sz="1100">
                <a:solidFill>
                  <a:srgbClr val="334155"/>
                </a:solidFill>
                <a:latin typeface="Segoe UI"/>
              </a:rPr>
              <a:t>Built on Python Flask and TiDB Cloud Serverless MySQL, ensuring robust data safety and 24/7 uptime.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536192"/>
            <a:ext cx="5230368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691640"/>
            <a:ext cx="486460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0D5C75"/>
                </a:solidFill>
                <a:latin typeface="Segoe UI"/>
              </a:defRPr>
            </a:pPr>
            <a:r>
              <a:t>Future Scope — Planned Enhancements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1. Mobile Application: </a:t>
            </a:r>
            <a:r>
              <a:rPr sz="1100">
                <a:solidFill>
                  <a:srgbClr val="334155"/>
                </a:solidFill>
                <a:latin typeface="Segoe UI"/>
              </a:rPr>
              <a:t>Develop native Android and iOS mobile apps using Flutter so residents can easily snap photos and manage requests from their phones.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2. SMS &amp; WhatsApp Alerts: </a:t>
            </a:r>
            <a:r>
              <a:rPr sz="1100">
                <a:solidFill>
                  <a:srgbClr val="334155"/>
                </a:solidFill>
                <a:latin typeface="Segoe UI"/>
              </a:rPr>
              <a:t>Send quick text messages to resident phones when their borrow request gets approved, with automated return reminders.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3. Geolocation &amp; Radius Search: </a:t>
            </a:r>
            <a:r>
              <a:rPr sz="1100">
                <a:solidFill>
                  <a:srgbClr val="334155"/>
                </a:solidFill>
                <a:latin typeface="Segoe UI"/>
              </a:rPr>
              <a:t>Integrate interactive Google Maps or OpenStreetMap to filter items within a walkable neighborhood radius (e.g., within 2 km).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00" b="1">
                <a:solidFill>
                  <a:srgbClr val="0F172A"/>
                </a:solidFill>
                <a:latin typeface="Segoe UI"/>
              </a:rPr>
              <a:t>4. Community Trust Ratings: </a:t>
            </a:r>
            <a:r>
              <a:rPr sz="1100">
                <a:solidFill>
                  <a:srgbClr val="334155"/>
                </a:solidFill>
                <a:latin typeface="Segoe UI"/>
              </a:rPr>
              <a:t>Introduce 5-star ratings and mutual feedback reviews to build greater confidence and reputation among neighborhood residents.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01200" y="-1371600"/>
            <a:ext cx="4114800" cy="4114800"/>
          </a:xfrm>
          <a:prstGeom prst="ellipse">
            <a:avLst/>
          </a:prstGeom>
          <a:solidFill>
            <a:srgbClr val="DCF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4754880"/>
            <a:ext cx="3657600" cy="36576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47120" y="3017520"/>
            <a:ext cx="347472" cy="347472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4206240"/>
            <a:ext cx="219456" cy="219456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Segoe UI"/>
              </a:rPr>
              <a:t>CILS — Community Item Lending System | SRM Online</a:t>
            </a:r>
            <a:r>
              <a:rPr sz="950">
                <a:solidFill>
                  <a:srgbClr val="0D9488"/>
                </a:solidFill>
                <a:latin typeface="Segoe UI"/>
              </a:rPr>
              <a:t>   •   </a:t>
            </a:r>
            <a:r>
              <a:rPr sz="1000" b="1">
                <a:solidFill>
                  <a:srgbClr val="0D9488"/>
                </a:solidFill>
                <a:latin typeface="Segoe UI"/>
              </a:rPr>
              <a:t>Slide - 15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94360"/>
            <a:ext cx="5230368" cy="5715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777240"/>
            <a:ext cx="4864608" cy="5349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D5C75"/>
                </a:solidFill>
                <a:latin typeface="Segoe UI"/>
              </a:defRPr>
            </a:pPr>
            <a:r>
              <a:t>References — Books &amp; Websites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050" b="1">
                <a:solidFill>
                  <a:srgbClr val="0F766E"/>
                </a:solidFill>
                <a:latin typeface="Segoe UI"/>
              </a:rPr>
              <a:t>[1] </a:t>
            </a:r>
            <a:r>
              <a:rPr sz="1050">
                <a:solidFill>
                  <a:srgbClr val="334155"/>
                </a:solidFill>
                <a:latin typeface="Segoe UI"/>
              </a:rPr>
              <a:t>Ian Sommerville, Software Engineering (10th Edition), Pearson Education, 2015.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050" b="1">
                <a:solidFill>
                  <a:srgbClr val="0F766E"/>
                </a:solidFill>
                <a:latin typeface="Segoe UI"/>
              </a:rPr>
              <a:t>[2] </a:t>
            </a:r>
            <a:r>
              <a:rPr sz="1050">
                <a:solidFill>
                  <a:srgbClr val="334155"/>
                </a:solidFill>
                <a:latin typeface="Segoe UI"/>
              </a:rPr>
              <a:t>Roger S. Pressman, Software Engineering: A Practitioner's Approach, McGraw-Hill, 2020.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050" b="1">
                <a:solidFill>
                  <a:srgbClr val="0F766E"/>
                </a:solidFill>
                <a:latin typeface="Segoe UI"/>
              </a:rPr>
              <a:t>[3] </a:t>
            </a:r>
            <a:r>
              <a:rPr sz="1050">
                <a:solidFill>
                  <a:srgbClr val="334155"/>
                </a:solidFill>
                <a:latin typeface="Segoe UI"/>
              </a:rPr>
              <a:t>Ramez Elmasri, Fundamentals of Database Systems (7th Edition), Pearson, 2016.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050" b="1">
                <a:solidFill>
                  <a:srgbClr val="0F766E"/>
                </a:solidFill>
                <a:latin typeface="Segoe UI"/>
              </a:rPr>
              <a:t>[4] Python Documentation </a:t>
            </a:r>
            <a:r>
              <a:rPr sz="1050">
                <a:solidFill>
                  <a:srgbClr val="334155"/>
                </a:solidFill>
                <a:latin typeface="Segoe UI"/>
              </a:rPr>
              <a:t>https://docs.python.org/3/ (Python 3.10+ Reference Manual)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050" b="1">
                <a:solidFill>
                  <a:srgbClr val="0F766E"/>
                </a:solidFill>
                <a:latin typeface="Segoe UI"/>
              </a:rPr>
              <a:t>[5] Flask Web Framework </a:t>
            </a:r>
            <a:r>
              <a:rPr sz="1050">
                <a:solidFill>
                  <a:srgbClr val="334155"/>
                </a:solidFill>
                <a:latin typeface="Segoe UI"/>
              </a:rPr>
              <a:t>https://flask.palletsprojects.com/ (Official Flask 3.0 Guide)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050" b="1">
                <a:solidFill>
                  <a:srgbClr val="0F766E"/>
                </a:solidFill>
                <a:latin typeface="Segoe UI"/>
              </a:rPr>
              <a:t>[6] MySQL Reference Manual </a:t>
            </a:r>
            <a:r>
              <a:rPr sz="1050">
                <a:solidFill>
                  <a:srgbClr val="334155"/>
                </a:solidFill>
                <a:latin typeface="Segoe UI"/>
              </a:rPr>
              <a:t>https://dev.mysql.com/doc/ (MySQL 8.0 Protocol / TiDB Serverless)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050" b="1">
                <a:solidFill>
                  <a:srgbClr val="0F766E"/>
                </a:solidFill>
                <a:latin typeface="Segoe UI"/>
              </a:rPr>
              <a:t>[7] Bootstrap Documentation </a:t>
            </a:r>
            <a:r>
              <a:rPr sz="1050">
                <a:solidFill>
                  <a:srgbClr val="334155"/>
                </a:solidFill>
                <a:latin typeface="Segoe UI"/>
              </a:rPr>
              <a:t>https://getbootstrap.com/ (Responsive UI Components Framework)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594360"/>
            <a:ext cx="5230368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000" b="1">
                <a:solidFill>
                  <a:srgbClr val="0F172A"/>
                </a:solidFill>
                <a:latin typeface="Segoe UI"/>
              </a:defRPr>
            </a:pPr>
            <a:r>
              <a:t>THANK YOU</a:t>
            </a:r>
          </a:p>
          <a:p>
            <a:pPr algn="ctr">
              <a:spcBef>
                <a:spcPts val="400"/>
              </a:spcBef>
              <a:defRPr sz="1400" b="1">
                <a:solidFill>
                  <a:srgbClr val="0D9488"/>
                </a:solidFill>
                <a:latin typeface="Segoe UI"/>
              </a:defRPr>
            </a:pPr>
            <a:r>
              <a:t>Any Questions or Discussion?</a:t>
            </a:r>
          </a:p>
          <a:p>
            <a:pPr algn="ctr">
              <a:spcBef>
                <a:spcPts val="400"/>
              </a:spcBef>
              <a:defRPr sz="1100">
                <a:solidFill>
                  <a:srgbClr val="64748B"/>
                </a:solidFill>
                <a:latin typeface="Segoe UI"/>
              </a:defRPr>
            </a:pPr>
            <a:r>
              <a:t>Community Item Lending System (CILS)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3291840"/>
            <a:ext cx="5230368" cy="3017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4748B"/>
                </a:solidFill>
                <a:latin typeface="Segoe UI"/>
              </a:rPr>
              <a:t>ENROLMENT NUMBER : </a:t>
            </a:r>
            <a:r>
              <a:rPr sz="1300" b="1">
                <a:solidFill>
                  <a:srgbClr val="0D9488"/>
                </a:solidFill>
                <a:latin typeface="Segoe UI"/>
              </a:rPr>
              <a:t>EA2532251010500</a:t>
            </a:r>
          </a:p>
          <a:p>
            <a:pPr algn="ctr">
              <a:spcBef>
                <a:spcPts val="600"/>
              </a:spcBef>
              <a:defRPr sz="950">
                <a:solidFill>
                  <a:srgbClr val="64748B"/>
                </a:solidFill>
                <a:latin typeface="Segoe UI"/>
              </a:defRPr>
            </a:pPr>
            <a:r>
              <a:t>NAME OF STUDENT</a:t>
            </a:r>
          </a:p>
          <a:p>
            <a:pPr algn="ctr">
              <a:spcBef>
                <a:spcPts val="200"/>
              </a:spcBef>
              <a:defRPr sz="1500" b="1">
                <a:solidFill>
                  <a:srgbClr val="0D5C75"/>
                </a:solidFill>
                <a:latin typeface="Segoe UI"/>
              </a:defRPr>
            </a:pPr>
            <a:r>
              <a:t>MOHAMED SHAHITH AKEEL S A</a:t>
            </a:r>
          </a:p>
          <a:p>
            <a:pPr algn="ctr">
              <a:spcBef>
                <a:spcPts val="400"/>
              </a:spcBef>
              <a:defRPr sz="1150" b="1">
                <a:solidFill>
                  <a:srgbClr val="D97706"/>
                </a:solidFill>
                <a:latin typeface="Segoe UI"/>
              </a:defRPr>
            </a:pPr>
            <a:r>
              <a:t>MCA III SEMESTER | MINI PROJECT VIVA VOCE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0F766E"/>
                </a:solidFill>
                <a:latin typeface="Segoe UI"/>
              </a:defRPr>
            </a:pPr>
            <a:r>
              <a:t>DIRECTORATE OF ONLINE EDUCATION</a:t>
            </a:r>
          </a:p>
          <a:p>
            <a:pPr algn="ctr">
              <a:spcBef>
                <a:spcPts val="200"/>
              </a:spcBef>
              <a:defRPr sz="950">
                <a:solidFill>
                  <a:srgbClr val="64748B"/>
                </a:solidFill>
                <a:latin typeface="Segoe UI"/>
              </a:defRPr>
            </a:pPr>
            <a:r>
              <a:t>SRM INSTITUTE OF SCIENCE AND TECHNOLOGY, KATTANKULATHUR</a:t>
            </a:r>
          </a:p>
          <a:p>
            <a:pPr algn="ctr">
              <a:spcBef>
                <a:spcPts val="500"/>
              </a:spcBef>
              <a:defRPr sz="950" b="1">
                <a:solidFill>
                  <a:srgbClr val="0D9488"/>
                </a:solidFill>
                <a:latin typeface="Segoe UI"/>
              </a:defRPr>
            </a:pPr>
            <a:r>
              <a:t>Project Repository: https://github.com/Shahith2004/Community-Item-Lending-System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